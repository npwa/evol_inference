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884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Size (GB)</c:v>
                </c:pt>
              </c:strCache>
            </c:strRef>
          </c:tx>
          <c:spPr>
            <a:solidFill>
              <a:srgbClr val="3E6B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E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89-48EF-BD72-33A14077783A}"/>
              </c:ext>
            </c:extLst>
          </c:dPt>
          <c:dPt>
            <c:idx val="1"/>
            <c:invertIfNegative val="0"/>
            <c:bubble3D val="0"/>
            <c:spPr>
              <a:solidFill>
                <a:srgbClr val="3E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89-48EF-BD72-33A14077783A}"/>
              </c:ext>
            </c:extLst>
          </c:dPt>
          <c:dPt>
            <c:idx val="2"/>
            <c:invertIfNegative val="0"/>
            <c:bubble3D val="0"/>
            <c:spPr>
              <a:solidFill>
                <a:srgbClr val="1FB6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89-48EF-BD72-33A14077783A}"/>
              </c:ext>
            </c:extLst>
          </c:dPt>
          <c:dLbls>
            <c:numFmt formatCode="0.00&quot; G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FP16</c:v>
                </c:pt>
                <c:pt idx="1">
                  <c:v>Uniform INT8</c:v>
                </c:pt>
                <c:pt idx="2">
                  <c:v>Uniform INT4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6.75</c:v>
                </c:pt>
                <c:pt idx="1">
                  <c:v>3.375</c:v>
                </c:pt>
                <c:pt idx="2">
                  <c:v>1.6879999999999999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89-48EF-BD72-33A1407778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3E6B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E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27-4636-8FB6-2F94040EAF40}"/>
              </c:ext>
            </c:extLst>
          </c:dPt>
          <c:dPt>
            <c:idx val="1"/>
            <c:invertIfNegative val="0"/>
            <c:bubble3D val="0"/>
            <c:spPr>
              <a:solidFill>
                <a:srgbClr val="1FB6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27-4636-8FB6-2F94040EAF40}"/>
              </c:ext>
            </c:extLst>
          </c:dPt>
          <c:dPt>
            <c:idx val="2"/>
            <c:invertIfNegative val="0"/>
            <c:bubble3D val="0"/>
            <c:spPr>
              <a:solidFill>
                <a:srgbClr val="E89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27-4636-8FB6-2F94040EAF40}"/>
              </c:ext>
            </c:extLst>
          </c:dPt>
          <c:dLbls>
            <c:numFmt formatCode="0&quot; 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FP16</c:v>
                </c:pt>
                <c:pt idx="1">
                  <c:v>Uniform INT8</c:v>
                </c:pt>
                <c:pt idx="2">
                  <c:v>Uniform INT4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383.9</c:v>
                </c:pt>
                <c:pt idx="1">
                  <c:v>309.10000000000002</c:v>
                </c:pt>
                <c:pt idx="2">
                  <c:v>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27-4636-8FB6-2F94040EAF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28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EVOL_INFERENCE  ·  APPLIED RESEARCH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Evolving Smaller, Faster AI Models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genetic algorithm learned where a large language model can—and can’t—be compressed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36192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49424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62656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75888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02352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15584" y="489204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configuration — one gene per block of the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29900" y="617220"/>
            <a:ext cx="868680" cy="868680"/>
          </a:xfrm>
          <a:prstGeom prst="ellipse">
            <a:avLst/>
          </a:prstGeom>
          <a:solidFill>
            <a:srgbClr val="1C3A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tmp/claude-1001/-home-npalmass-work-Evol-inference/pptx_build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353" y="812673"/>
            <a:ext cx="477774" cy="477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 Behind Every Compressed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01368"/>
            <a:ext cx="365760" cy="36576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claude-1001/-home-npalmass-work-Evol-inference/pptx_build/icons/seedling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92808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28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model’s "knowledge" lives in billions of numbers, called weights.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tmp/claude-1001/-home-npalmass-work-Evol-inference/pptx_build/icons/seedling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71800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9077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Normally, each weight is stored with 16 bits of precision — a very fine ruler.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31520" y="3959352"/>
            <a:ext cx="365760" cy="36576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/tmp/claude-1001/-home-npalmass-work-Evol-inference/pptx_build/icons/seedling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5079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8678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"Quantizing" swaps in a coarser ruler: 8 bits, or even 4 — shrinking the model.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31520" y="5038344"/>
            <a:ext cx="365760" cy="36576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/tmp/claude-1001/-home-npalmass-work-Evol-inference/pptx_build/icons/seedling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2978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506577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coarser ruler saves memory and can run faster — but risks losing accuracy, the way a low-resolution photo loses detail.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675120" y="1783080"/>
            <a:ext cx="4663440" cy="38404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1622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699516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knowledge, coarser rulers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9951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FP16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909560" y="2752344"/>
            <a:ext cx="2834640" cy="274320"/>
          </a:xfrm>
          <a:prstGeom prst="roundRect">
            <a:avLst>
              <a:gd name="adj" fmla="val 1666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7909560" y="3081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· full precision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909560" y="3712464"/>
            <a:ext cx="1757477" cy="274320"/>
          </a:xfrm>
          <a:prstGeom prst="roundRect">
            <a:avLst>
              <a:gd name="adj" fmla="val 1666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7909560" y="4041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· half the ruler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99516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INT4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909560" y="4672584"/>
            <a:ext cx="963778" cy="274320"/>
          </a:xfrm>
          <a:prstGeom prst="roundRect">
            <a:avLst>
              <a:gd name="adj" fmla="val 1666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7909560" y="5001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· quarter the ruler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995160" y="5623560"/>
            <a:ext cx="4023360" cy="0"/>
          </a:xfrm>
          <a:prstGeom prst="line">
            <a:avLst/>
          </a:prstGeom>
          <a:noFill/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6995160" y="5760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B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6.75 GB → 1.69 GB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6995160" y="6217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precision vs. maximum compression — same model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Neural Network into a Genome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built from 32 stacked, identical-shaped layers — like floors of a building, each processing information and passing it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8298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734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2082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1800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1518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1236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5584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302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5020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4738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88052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85232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82412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25896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23076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0256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17436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5810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5528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52460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9594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9312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9030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87484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03096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32814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62532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922508" y="2148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858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individual layers, grouped into 8 super-blocks of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0" y="2870200"/>
            <a:ext cx="365760" cy="384048"/>
          </a:xfrm>
          <a:prstGeom prst="downArrow">
            <a:avLst/>
          </a:prstGeom>
          <a:solidFill>
            <a:srgbClr val="C7D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090776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1FB6B0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2090776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24048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3124048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57320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E8912E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157320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90592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190592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23864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223864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57136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E8912E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7257136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290408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8290408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323680" y="396748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1FB6B0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9323680" y="4799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 per super-block — each gene is FP16, INT8, or INT4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495648" y="34645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4788256" y="341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547208" y="34645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5839816" y="341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598768" y="34645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E891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6891376" y="341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992728" y="57048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3992728" y="5704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6,561  </a:t>
            </a:r>
            <a:r>
              <a:rPr lang="en-US" sz="1300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genomes (3⁸)</a:t>
            </a:r>
            <a:endParaRPr lang="en-US" sz="2000" dirty="0"/>
          </a:p>
        </p:txBody>
      </p:sp>
      <p:sp>
        <p:nvSpPr>
          <p:cNvPr id="64" name="Text 62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PROCESS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Breeding Better Configurations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testing all 6,561 options, a small population of 40 candidates keeps improving itself, one step at a time: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88820"/>
            <a:ext cx="960120" cy="96012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claude-1001/-home-npalmass-work-Evol-inference/pptx_build/icons/magnifyingGlass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228850"/>
            <a:ext cx="480060" cy="4800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88820"/>
            <a:ext cx="960120" cy="960120"/>
          </a:xfrm>
          <a:prstGeom prst="ellipse">
            <a:avLst/>
          </a:prstGeom>
          <a:ln w="25400">
            <a:solidFill>
              <a:srgbClr val="1F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197864" y="1860804"/>
            <a:ext cx="292608" cy="292608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197864" y="1851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" y="31135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6586" y="3451860"/>
            <a:ext cx="182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strong parents. Better scores make a candidate more likely to be picked — not guaranteed.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97574" y="2368296"/>
            <a:ext cx="1195825" cy="201168"/>
          </a:xfrm>
          <a:prstGeom prst="rightArrow">
            <a:avLst/>
          </a:prstGeom>
          <a:solidFill>
            <a:srgbClr val="C7D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82214" y="1988820"/>
            <a:ext cx="960120" cy="96012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claude-1001/-home-npalmass-work-Evol-inference/pptx_build/icons/shuffle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244" y="2228850"/>
            <a:ext cx="480060" cy="4800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082214" y="1988820"/>
            <a:ext cx="960120" cy="960120"/>
          </a:xfrm>
          <a:prstGeom prst="ellipse">
            <a:avLst/>
          </a:prstGeom>
          <a:ln w="25400">
            <a:solidFill>
              <a:srgbClr val="1F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731438" y="1860804"/>
            <a:ext cx="292608" cy="292608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3731438" y="1851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602154" y="31135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650160" y="3451860"/>
            <a:ext cx="182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two parents’ genes into one new candidate genome.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31148" y="2368296"/>
            <a:ext cx="1195825" cy="201168"/>
          </a:xfrm>
          <a:prstGeom prst="rightArrow">
            <a:avLst/>
          </a:prstGeom>
          <a:solidFill>
            <a:srgbClr val="C7D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615788" y="1988820"/>
            <a:ext cx="960120" cy="96012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/tmp/claude-1001/-home-npalmass-work-Evol-inference/pptx_build/icons/dna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818" y="2228850"/>
            <a:ext cx="480060" cy="4800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15788" y="1988820"/>
            <a:ext cx="960120" cy="960120"/>
          </a:xfrm>
          <a:prstGeom prst="ellipse">
            <a:avLst/>
          </a:prstGeom>
          <a:ln w="25400">
            <a:solidFill>
              <a:srgbClr val="1F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265012" y="1860804"/>
            <a:ext cx="292608" cy="292608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6265012" y="1851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135728" y="31135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183734" y="3451860"/>
            <a:ext cx="182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flip a small number of genes to a different precision — exploring new ideas.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764722" y="2368296"/>
            <a:ext cx="1195825" cy="201168"/>
          </a:xfrm>
          <a:prstGeom prst="rightArrow">
            <a:avLst/>
          </a:prstGeom>
          <a:solidFill>
            <a:srgbClr val="C7D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8149361" y="1988820"/>
            <a:ext cx="960120" cy="96012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/tmp/claude-1001/-home-npalmass-work-Evol-inference/pptx_build/icons/stopwatch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1" y="2228850"/>
            <a:ext cx="480060" cy="4800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149361" y="1988820"/>
            <a:ext cx="960120" cy="960120"/>
          </a:xfrm>
          <a:prstGeom prst="ellipse">
            <a:avLst/>
          </a:prstGeom>
          <a:ln w="25400">
            <a:solidFill>
              <a:srgbClr val="1F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798585" y="1860804"/>
            <a:ext cx="292608" cy="292608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8798585" y="1851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669301" y="31135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717307" y="3451860"/>
            <a:ext cx="182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new candidate on the model and measure its actual score.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9298296" y="2368296"/>
            <a:ext cx="1195825" cy="201168"/>
          </a:xfrm>
          <a:prstGeom prst="rightArrow">
            <a:avLst/>
          </a:prstGeom>
          <a:solidFill>
            <a:srgbClr val="C7D1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10682935" y="1988820"/>
            <a:ext cx="960120" cy="960120"/>
          </a:xfrm>
          <a:prstGeom prst="ellipse">
            <a:avLst/>
          </a:prstGeom>
          <a:solidFill>
            <a:srgbClr val="E9EE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/tmp/claude-1001/-home-npalmass-work-Evol-inference/pptx_build/icons/trophy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2965" y="2228850"/>
            <a:ext cx="480060" cy="48006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682935" y="1988820"/>
            <a:ext cx="960120" cy="960120"/>
          </a:xfrm>
          <a:prstGeom prst="ellipse">
            <a:avLst/>
          </a:prstGeom>
          <a:ln w="25400">
            <a:solidFill>
              <a:srgbClr val="1F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11332159" y="1860804"/>
            <a:ext cx="292608" cy="292608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1332159" y="1851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10202875" y="31135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discard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250881" y="3451860"/>
            <a:ext cx="18242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beats the weakest candidate in the population, it takes that spot. The best-ever candidate is never removed.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548640" y="561170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822960" y="56117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continuously — hundreds of times — until the population stops improving.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 CANDIDATE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Dial, Two Competing Goals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gets a single score, built from two ingredients pulling in opposite directions.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claude-1001/-home-npalmass-work-Evol-inference/pptx_build/icons/stopwatch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258318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2286000"/>
            <a:ext cx="1188720" cy="1188720"/>
          </a:xfrm>
          <a:prstGeom prst="ellipse">
            <a:avLst/>
          </a:prstGeom>
          <a:ln w="31750">
            <a:solidFill>
              <a:srgbClr val="1FB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/ faster than full precision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829800" y="228600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claude-1001/-home-npalmass-work-Evol-inference/pptx_build/icons/bullseye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583180"/>
            <a:ext cx="594360" cy="594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829800" y="2286000"/>
            <a:ext cx="1188720" cy="1188720"/>
          </a:xfrm>
          <a:prstGeom prst="ellipse">
            <a:avLst/>
          </a:prstGeom>
          <a:ln w="31750">
            <a:solidFill>
              <a:srgbClr val="E89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93268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Penalty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worse the model performs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880360" y="2825496"/>
            <a:ext cx="6400800" cy="109728"/>
          </a:xfrm>
          <a:prstGeom prst="roundRect">
            <a:avLst>
              <a:gd name="adj" fmla="val 50000"/>
            </a:avLst>
          </a:prstGeom>
          <a:solidFill>
            <a:srgbClr val="D7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880360" y="2825496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934456" y="2734056"/>
            <a:ext cx="292608" cy="292608"/>
          </a:xfrm>
          <a:prstGeom prst="ellipse">
            <a:avLst/>
          </a:prstGeom>
          <a:solidFill>
            <a:srgbClr val="132A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80760" y="2990088"/>
            <a:ext cx="0" cy="164592"/>
          </a:xfrm>
          <a:prstGeom prst="line">
            <a:avLst/>
          </a:prstGeom>
          <a:noFill/>
          <a:ln w="12700">
            <a:solidFill>
              <a:srgbClr val="5B71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539496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0.5 / 0.5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001000" y="2990088"/>
            <a:ext cx="0" cy="164592"/>
          </a:xfrm>
          <a:prstGeom prst="line">
            <a:avLst/>
          </a:prstGeom>
          <a:noFill/>
          <a:ln w="12700">
            <a:solidFill>
              <a:srgbClr val="5B71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31520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0.2 / 0.8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961120" y="2990088"/>
            <a:ext cx="0" cy="164592"/>
          </a:xfrm>
          <a:prstGeom prst="line">
            <a:avLst/>
          </a:prstGeom>
          <a:noFill/>
          <a:ln w="12700">
            <a:solidFill>
              <a:srgbClr val="5B71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8275320" y="3172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0.05 / 0.95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288036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 we control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965960" y="448056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132A3A"/>
          </a:solidFill>
          <a:ln/>
          <a:effectLst>
            <a:outerShdw blurRad="101600" dist="25400" dir="5400000" algn="bl" rotWithShape="0">
              <a:srgbClr val="0B1622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2240280" y="4709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=  (Efficiency Gain × weight)  −  (Accuracy Penalty × weight)</a:t>
            </a:r>
            <a:endParaRPr lang="en-US" sz="1900" dirty="0"/>
          </a:p>
        </p:txBody>
      </p:sp>
      <p:sp>
        <p:nvSpPr>
          <p:cNvPr id="27" name="Text 23"/>
          <p:cNvSpPr txBox="1"/>
          <p:nvPr/>
        </p:nvSpPr>
        <p:spPr>
          <a:xfrm>
            <a:off x="2240280" y="5349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choose the weights. Move the dial toward accuracy, and the search finds a different answer — shown next.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Answer — and a Twist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balanced dial, the search reliably picks the smallest model by file size: uniform INT4, everywhere.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13461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file size (smaller = better)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1521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i="1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→ looks best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52324071"/>
              </p:ext>
            </p:extLst>
          </p:nvPr>
        </p:nvGraphicFramePr>
        <p:xfrm>
          <a:off x="548640" y="2580973"/>
          <a:ext cx="5212080" cy="3264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1913461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real measured speed (lower ms = better)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21521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i="1" dirty="0">
                <a:solidFill>
                  <a:srgbClr val="E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 → actually SLOWEST</a:t>
            </a:r>
            <a:endParaRPr lang="en-US" sz="1050" dirty="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3097648311"/>
              </p:ext>
            </p:extLst>
          </p:nvPr>
        </p:nvGraphicFramePr>
        <p:xfrm>
          <a:off x="6309360" y="2580973"/>
          <a:ext cx="5394960" cy="3264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6028261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/tmp/claude-1001/-home-npalmass-work-Evol-inference/pptx_build/icons/triangleExclamation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137989"/>
            <a:ext cx="365760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6028261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file-size metric pointed the wrong way for real-world speed on this hardware.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Search Actually Discovered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dial toward accuracy, and a genuinely mixed strategy appears — one the search found on its 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84936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1FB6B0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84936" y="25466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18208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51480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84752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8024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51296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84568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3E6B8A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17840" y="2286000"/>
            <a:ext cx="777240" cy="777240"/>
          </a:xfrm>
          <a:prstGeom prst="roundRect">
            <a:avLst>
              <a:gd name="adj" fmla="val 16000"/>
            </a:avLst>
          </a:prstGeom>
          <a:solidFill>
            <a:srgbClr val="1FB6B0"/>
          </a:solidFill>
          <a:ln/>
          <a:effectLst>
            <a:outerShdw blurRad="76200" dist="25400" dir="5400000" algn="bl" rotWithShape="0">
              <a:srgbClr val="0B1622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17840" y="25466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84936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closest to the input and output stay at full precision — the six interior blocks compress to INT8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84936" y="187452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1FB6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377544" y="1828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(protected)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88056" y="187452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3E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480664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(compressed)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79607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B1622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3862487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published rule of thumb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228247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"Quantize the middle layers more aggressively — the beginning and end matter more."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51207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every simple baseline tested here.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679607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A3A"/>
          </a:solidFill>
          <a:ln/>
          <a:effectLst>
            <a:outerShdw blurRad="101600" dist="25400" dir="5400000" algn="bl" rotWithShape="0">
              <a:srgbClr val="0B1622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46520" y="3862487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search found instead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228247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edges — not the middle — are the sensitive part. Protect those two blocks and compress everything else.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051207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every hand-picked baseline tested.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74167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77087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uniform INT8’s accuracy cost traces back to a single block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2308" y="1559561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C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2056" y="1765301"/>
            <a:ext cx="594360" cy="594360"/>
          </a:xfrm>
          <a:prstGeom prst="ellipse">
            <a:avLst/>
          </a:prstGeom>
          <a:solidFill>
            <a:srgbClr val="2544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claude-1001/-home-npalmass-work-Evol-inference/pptx_build/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46" y="1913891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38148" y="181559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other models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06628" y="2428241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architectures and sizes — does "protect the edges" hold generally, or is it specific to this model?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1348" y="1559561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C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51096" y="1765301"/>
            <a:ext cx="594360" cy="594360"/>
          </a:xfrm>
          <a:prstGeom prst="ellipse">
            <a:avLst/>
          </a:prstGeom>
          <a:solidFill>
            <a:srgbClr val="2544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claude-1001/-home-npalmass-work-Evol-inference/pptx_build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686" y="1913891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7188" y="181559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test cases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55668" y="2428241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and reasoning tasks are more likely to expose real accuracy loss than simple text prediction, which can be too forgiving.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0388" y="1559561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C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00136" y="1765301"/>
            <a:ext cx="594360" cy="594360"/>
          </a:xfrm>
          <a:prstGeom prst="ellipse">
            <a:avLst/>
          </a:prstGeom>
          <a:solidFill>
            <a:srgbClr val="2544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tmp/claude-1001/-home-npalmass-work-Evol-inference/pptx_build/icons/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726" y="1913891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36228" y="181559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Finer-grained genome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04708" y="2428241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of the 32 layers choose independently, instead of groups of 4 — a much larger search.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2308" y="4257041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C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02056" y="4462781"/>
            <a:ext cx="594360" cy="594360"/>
          </a:xfrm>
          <a:prstGeom prst="ellipse">
            <a:avLst/>
          </a:prstGeom>
          <a:solidFill>
            <a:srgbClr val="2544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tmp/claude-1001/-home-npalmass-work-Evol-inference/pptx_build/icons/stop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6" y="4611371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38148" y="451307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workloads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06628" y="5125721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"one word at a time" generation, not just a single bulk read — it may rank precisions differently.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1348" y="4257041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C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51096" y="4462781"/>
            <a:ext cx="594360" cy="594360"/>
          </a:xfrm>
          <a:prstGeom prst="ellipse">
            <a:avLst/>
          </a:prstGeom>
          <a:solidFill>
            <a:srgbClr val="2544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tmp/claude-1001/-home-npalmass-work-Evol-inference/pptx_build/icons/arrowsRot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9686" y="4611371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87188" y="4513073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more seeds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55668" y="5125721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key result with new random starting points to rule out a fluke of one search.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6040121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F8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evol_inference  ·  full write-up, code, and reproducible results in the project README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830</Words>
  <Application>Microsoft Office PowerPoint</Application>
  <PresentationFormat>Widescreen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Evol_inference</dc:title>
  <dc:subject>PptxGenJS Presentation</dc:subject>
  <dc:creator>Nikolaus Almassy</dc:creator>
  <cp:lastModifiedBy>Nikolaus Almassy</cp:lastModifiedBy>
  <cp:revision>3</cp:revision>
  <dcterms:created xsi:type="dcterms:W3CDTF">2026-09-22T04:00:21Z</dcterms:created>
  <dcterms:modified xsi:type="dcterms:W3CDTF">2026-09-28T22:13:34Z</dcterms:modified>
</cp:coreProperties>
</file>