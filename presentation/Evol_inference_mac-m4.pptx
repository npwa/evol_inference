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f71a51bf-778a-ec10-c4ab-0f112a588009}">
          <p14:sldIdLst>
            <p14:sldId id="256"/>
            <p14:sldId id="257"/>
            <p14:sldId id="258"/>
          </p14:sldIdLst>
        </p14:section>
        <p14:section name="Method" id="{6cba26fb-a3ca-3b55-1d1a-062a7181758e}">
          <p14:sldIdLst>
            <p14:sldId id="259"/>
            <p14:sldId id="260"/>
          </p14:sldIdLst>
        </p14:section>
        <p14:section name="Results" id="{cad99c3f-944d-86fc-aa4d-6a597b70ee21}">
          <p14:sldIdLst>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Relative error of the effect estimate (%), Q8_0 on 1023 tokens</a:t>
            </a:r>
          </a:p>
        </c:rich>
      </c:tx>
      <c:layout/>
      <c:overlay val="0"/>
    </c:title>
    <c:autoTitleDeleted val="0"/>
    <c:plotArea>
      <c:layout/>
      <c:barChart>
        <c:barDir val="col"/>
        <c:grouping val="clustered"/>
        <c:varyColors val="0"/>
        <c:ser>
          <c:idx val="0"/>
          <c:order val="0"/>
          <c:tx>
            <c:strRef>
              <c:f>Sheet1!$B$1</c:f>
              <c:strCache>
                <c:ptCount val="1"/>
                <c:pt idx="0">
                  <c:v>Relative standard error of the measured effect</c:v>
                </c:pt>
              </c:strCache>
            </c:strRef>
          </c:tx>
          <c:spPr>
            <a:solidFill>
              <a:srgbClr val="D1495B"/>
            </a:solidFill>
            <a:effectLst/>
          </c:spPr>
          <c:invertIfNegative val="0"/>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2E9E8A"/>
              </a:solidFill>
              <a:effectLst/>
            </c:spPr>
          </c:dPt>
          <c:cat>
            <c:multiLvlStrRef>
              <c:f>Sheet1!$A$2:$A$3</c:f>
              <c:multiLvlStrCache>
                <c:ptCount val="2"/>
                <c:lvl>
                  <c:pt idx="0">
                    <c:v>Perplexity ratio</c:v>
                  </c:pt>
                  <c:pt idx="1">
                    <c:v>KL divergence</c:v>
                  </c:pt>
                </c:lvl>
              </c:multiLvlStrCache>
            </c:multiLvlStrRef>
          </c:cat>
          <c:val>
            <c:numRef>
              <c:f>Sheet1!$B$2:$B$3</c:f>
              <c:numCache>
                <c:formatCode>General</c:formatCode>
                <c:ptCount val="2"/>
                <c:pt idx="0">
                  <c:v>61</c:v>
                </c:pt>
                <c:pt idx="1">
                  <c:v>5.3</c:v>
                </c:pt>
              </c:numCache>
            </c:numRef>
          </c:val>
        </c:ser>
        <c:dLbls>
          <c:numFmt formatCode="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5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Phi-3-mini: accuracy cost of quantizing one block to 4 bits (%)</a:t>
            </a:r>
          </a:p>
        </c:rich>
      </c:tx>
      <c:layout/>
      <c:overlay val="0"/>
    </c:title>
    <c:autoTitleDeleted val="0"/>
    <c:plotArea>
      <c:layout/>
      <c:barChart>
        <c:barDir val="col"/>
        <c:grouping val="clustered"/>
        <c:varyColors val="0"/>
        <c:ser>
          <c:idx val="0"/>
          <c:order val="0"/>
          <c:tx>
            <c:strRef>
              <c:f>Sheet1!$B$1</c:f>
              <c:strCache>
                <c:ptCount val="1"/>
                <c:pt idx="0">
                  <c:v>Q4_0 (llama.cpp)</c:v>
                </c:pt>
              </c:strCache>
            </c:strRef>
          </c:tx>
          <c:spPr>
            <a:solidFill>
              <a:srgbClr val="0A7EA4"/>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Sheet1!$A$2:$A$9</c:f>
              <c:multiLvlStrCache>
                <c:ptCount val="8"/>
                <c:lvl>
                  <c:pt idx="0">
                    <c:v>0</c:v>
                  </c:pt>
                  <c:pt idx="1">
                    <c:v>1</c:v>
                  </c:pt>
                  <c:pt idx="2">
                    <c:v>2</c:v>
                  </c:pt>
                  <c:pt idx="3">
                    <c:v>3</c:v>
                  </c:pt>
                  <c:pt idx="4">
                    <c:v>4</c:v>
                  </c:pt>
                  <c:pt idx="5">
                    <c:v>5</c:v>
                  </c:pt>
                  <c:pt idx="6">
                    <c:v>6</c:v>
                  </c:pt>
                  <c:pt idx="7">
                    <c:v>7</c:v>
                  </c:pt>
                </c:lvl>
              </c:multiLvlStrCache>
            </c:multiLvlStrRef>
          </c:cat>
          <c:val>
            <c:numRef>
              <c:f>Sheet1!$B$2:$B$9</c:f>
              <c:numCache>
                <c:formatCode>General</c:formatCode>
                <c:ptCount val="8"/>
                <c:pt idx="0">
                  <c:v>0.566</c:v>
                </c:pt>
                <c:pt idx="1">
                  <c:v>0.656</c:v>
                </c:pt>
                <c:pt idx="2">
                  <c:v>0.739</c:v>
                </c:pt>
                <c:pt idx="3">
                  <c:v>0.96</c:v>
                </c:pt>
                <c:pt idx="4">
                  <c:v>0.654</c:v>
                </c:pt>
                <c:pt idx="5">
                  <c:v>0.502</c:v>
                </c:pt>
                <c:pt idx="6">
                  <c:v>0.42</c:v>
                </c:pt>
                <c:pt idx="7">
                  <c:v>1.431</c:v>
                </c:pt>
              </c:numCache>
            </c:numRef>
          </c:val>
        </c:ser>
        <c:ser>
          <c:idx val="1"/>
          <c:order val="1"/>
          <c:tx>
            <c:strRef>
              <c:f>Sheet1!$C$1</c:f>
              <c:strCache>
                <c:ptCount val="1"/>
                <c:pt idx="0">
                  <c:v>NF4 (bitsandbytes)</c:v>
                </c:pt>
              </c:strCache>
            </c:strRef>
          </c:tx>
          <c:spPr>
            <a:solidFill>
              <a:srgbClr val="F2A541"/>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Sheet1!$A$2:$A$9</c:f>
              <c:multiLvlStrCache>
                <c:ptCount val="8"/>
                <c:lvl>
                  <c:pt idx="0">
                    <c:v>0</c:v>
                  </c:pt>
                  <c:pt idx="1">
                    <c:v>1</c:v>
                  </c:pt>
                  <c:pt idx="2">
                    <c:v>2</c:v>
                  </c:pt>
                  <c:pt idx="3">
                    <c:v>3</c:v>
                  </c:pt>
                  <c:pt idx="4">
                    <c:v>4</c:v>
                  </c:pt>
                  <c:pt idx="5">
                    <c:v>5</c:v>
                  </c:pt>
                  <c:pt idx="6">
                    <c:v>6</c:v>
                  </c:pt>
                  <c:pt idx="7">
                    <c:v>7</c:v>
                  </c:pt>
                </c:lvl>
              </c:multiLvlStrCache>
            </c:multiLvlStrRef>
          </c:cat>
          <c:val>
            <c:numRef>
              <c:f>Sheet1!$C$2:$C$9</c:f>
              <c:numCache>
                <c:formatCode>General</c:formatCode>
                <c:ptCount val="8"/>
                <c:pt idx="0">
                  <c:v>0.544</c:v>
                </c:pt>
                <c:pt idx="1">
                  <c:v>0.612</c:v>
                </c:pt>
                <c:pt idx="2">
                  <c:v>0.763</c:v>
                </c:pt>
                <c:pt idx="3">
                  <c:v>0.808</c:v>
                </c:pt>
                <c:pt idx="4">
                  <c:v>0.525</c:v>
                </c:pt>
                <c:pt idx="5">
                  <c:v>0.523</c:v>
                </c:pt>
                <c:pt idx="6">
                  <c:v>0.422</c:v>
                </c:pt>
                <c:pt idx="7">
                  <c:v>1.284</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6C7A89"/>
                    </a:solidFill>
                    <a:latin typeface="+mn-lt"/>
                  </a:defRPr>
                </a:pPr>
                <a:r>
                  <a:rPr sz="1200" b="0" i="0" u="none" strike="noStrike">
                    <a:solidFill>
                      <a:srgbClr val="6C7A89"/>
                    </a:solidFill>
                    <a:latin typeface="+mn-lt"/>
                  </a:rPr>
                  <a:t>super-block (0 = nearest the input)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5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Q4_0 cost share per block (% of the summed single-block cost)</a:t>
            </a:r>
          </a:p>
        </c:rich>
      </c:tx>
      <c:layout/>
      <c:overlay val="0"/>
    </c:title>
    <c:autoTitleDeleted val="0"/>
    <c:plotArea>
      <c:layout/>
      <c:lineChart>
        <c:varyColors val="0"/>
        <c:ser>
          <c:idx val="0"/>
          <c:order val="0"/>
          <c:tx>
            <c:strRef>
              <c:f>Sheet1!$B$1</c:f>
              <c:strCache>
                <c:ptCount val="1"/>
                <c:pt idx="0">
                  <c:v>Phi-3-mini 3.8B (vs F16)</c:v>
                </c:pt>
              </c:strCache>
            </c:strRef>
          </c:tx>
          <c:spPr>
            <a:solidFill>
              <a:srgbClr val="0A7EA4"/>
            </a:solidFill>
            <a:ln w="38100" cap="flat">
              <a:solidFill>
                <a:srgbClr val="0A7EA4"/>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0A7EA4"/>
              </a:solidFill>
              <a:ln w="9525" cap="flat">
                <a:solidFill>
                  <a:srgbClr val="0A7EA4"/>
                </a:solidFill>
                <a:prstDash val="solid"/>
                <a:round/>
              </a:ln>
              <a:effectLst/>
            </c:spPr>
          </c:marker>
          <c:cat>
            <c:multiLvlStrRef>
              <c:f>Sheet1!$A$2:$A$9</c:f>
              <c:multiLvlStrCache>
                <c:ptCount val="8"/>
                <c:lvl>
                  <c:pt idx="0">
                    <c:v>0</c:v>
                  </c:pt>
                  <c:pt idx="1">
                    <c:v>1</c:v>
                  </c:pt>
                  <c:pt idx="2">
                    <c:v>2</c:v>
                  </c:pt>
                  <c:pt idx="3">
                    <c:v>3</c:v>
                  </c:pt>
                  <c:pt idx="4">
                    <c:v>4</c:v>
                  </c:pt>
                  <c:pt idx="5">
                    <c:v>5</c:v>
                  </c:pt>
                  <c:pt idx="6">
                    <c:v>6</c:v>
                  </c:pt>
                  <c:pt idx="7">
                    <c:v>7</c:v>
                  </c:pt>
                </c:lvl>
              </c:multiLvlStrCache>
            </c:multiLvlStrRef>
          </c:cat>
          <c:val>
            <c:numRef>
              <c:f>Sheet1!$B$2:$B$9</c:f>
              <c:numCache>
                <c:formatCode>General</c:formatCode>
                <c:ptCount val="8"/>
                <c:pt idx="0">
                  <c:v>9.5</c:v>
                </c:pt>
                <c:pt idx="1">
                  <c:v>11.1</c:v>
                </c:pt>
                <c:pt idx="2">
                  <c:v>12.5</c:v>
                </c:pt>
                <c:pt idx="3">
                  <c:v>16.2</c:v>
                </c:pt>
                <c:pt idx="4">
                  <c:v>11</c:v>
                </c:pt>
                <c:pt idx="5">
                  <c:v>8.5</c:v>
                </c:pt>
                <c:pt idx="6">
                  <c:v>7.1</c:v>
                </c:pt>
                <c:pt idx="7">
                  <c:v>24.1</c:v>
                </c:pt>
              </c:numCache>
            </c:numRef>
          </c:val>
          <c:smooth val="0"/>
        </c:ser>
        <c:ser>
          <c:idx val="1"/>
          <c:order val="1"/>
          <c:tx>
            <c:strRef>
              <c:f>Sheet1!$C$1</c:f>
              <c:strCache>
                <c:ptCount val="1"/>
                <c:pt idx="0">
                  <c:v>Llama-3.1-8B (vs Q8_0)</c:v>
                </c:pt>
              </c:strCache>
            </c:strRef>
          </c:tx>
          <c:spPr>
            <a:solidFill>
              <a:srgbClr val="D1495B"/>
            </a:solidFill>
            <a:ln w="38100" cap="flat">
              <a:solidFill>
                <a:srgbClr val="D1495B"/>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D1495B"/>
              </a:solidFill>
              <a:ln w="9525" cap="flat">
                <a:solidFill>
                  <a:srgbClr val="D1495B"/>
                </a:solidFill>
                <a:prstDash val="solid"/>
                <a:round/>
              </a:ln>
              <a:effectLst/>
            </c:spPr>
          </c:marker>
          <c:cat>
            <c:multiLvlStrRef>
              <c:f>Sheet1!$A$2:$A$9</c:f>
              <c:multiLvlStrCache>
                <c:ptCount val="8"/>
                <c:lvl>
                  <c:pt idx="0">
                    <c:v>0</c:v>
                  </c:pt>
                  <c:pt idx="1">
                    <c:v>1</c:v>
                  </c:pt>
                  <c:pt idx="2">
                    <c:v>2</c:v>
                  </c:pt>
                  <c:pt idx="3">
                    <c:v>3</c:v>
                  </c:pt>
                  <c:pt idx="4">
                    <c:v>4</c:v>
                  </c:pt>
                  <c:pt idx="5">
                    <c:v>5</c:v>
                  </c:pt>
                  <c:pt idx="6">
                    <c:v>6</c:v>
                  </c:pt>
                  <c:pt idx="7">
                    <c:v>7</c:v>
                  </c:pt>
                </c:lvl>
              </c:multiLvlStrCache>
            </c:multiLvlStrRef>
          </c:cat>
          <c:val>
            <c:numRef>
              <c:f>Sheet1!$C$2:$C$9</c:f>
              <c:numCache>
                <c:formatCode>General</c:formatCode>
                <c:ptCount val="8"/>
                <c:pt idx="0">
                  <c:v>26.2</c:v>
                </c:pt>
                <c:pt idx="1">
                  <c:v>9.2</c:v>
                </c:pt>
                <c:pt idx="2">
                  <c:v>9.9</c:v>
                </c:pt>
                <c:pt idx="3">
                  <c:v>11.3</c:v>
                </c:pt>
                <c:pt idx="4">
                  <c:v>10</c:v>
                </c:pt>
                <c:pt idx="5">
                  <c:v>7.4</c:v>
                </c:pt>
                <c:pt idx="6">
                  <c:v>7.6</c:v>
                </c:pt>
                <c:pt idx="7">
                  <c:v>18.4</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5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Llama-3.1-8B: exhaustive Pareto front</a:t>
            </a:r>
          </a:p>
        </c:rich>
      </c:tx>
      <c:layout/>
      <c:overlay val="0"/>
    </c:title>
    <c:autoTitleDeleted val="0"/>
    <c:plotArea>
      <c:layout/>
      <c:scatterChart>
        <c:scatterStyle val="lineMarker"/>
        <c:varyColors val="0"/>
        <c:ser>
          <c:idx val="0"/>
          <c:order val="0"/>
          <c:tx>
            <c:strRef>
              <c:f>Sheet1!$B$1</c:f>
              <c:strCache>
                <c:ptCount val="1"/>
                <c:pt idx="0">
                  <c:v>True Pareto front (all 256 genomes)</c:v>
                </c:pt>
              </c:strCache>
            </c:strRef>
          </c:tx>
          <c:spPr>
            <a:solidFill>
              <a:srgbClr val="0A7EA4"/>
            </a:solidFill>
            <a:ln w="25400" cap="flat">
              <a:solidFill>
                <a:srgbClr val="0A7EA4"/>
              </a:solidFill>
              <a:prstDash val="solid"/>
              <a:round/>
            </a:ln>
            <a:effectLst/>
          </c:spPr>
          <c:marker>
            <c:symbol val="circle"/>
            <c:size val="10"/>
            <c:spPr>
              <a:solidFill>
                <a:srgbClr val="0A7EA4"/>
              </a:solidFill>
              <a:ln w="9525" cap="flat">
                <a:solidFill>
                  <a:srgbClr val="0A7EA4"/>
                </a:solidFill>
                <a:prstDash val="solid"/>
                <a:round/>
              </a:ln>
              <a:effectLst/>
            </c:spPr>
          </c:marker>
          <c:xVal>
            <c:numRef>
              <c:f>Sheet1!$A$2:$A$10</c:f>
              <c:numCache>
                <c:formatCode>General</c:formatCode>
                <c:ptCount val="9"/>
                <c:pt idx="0">
                  <c:v>0</c:v>
                </c:pt>
                <c:pt idx="1">
                  <c:v>0.346</c:v>
                </c:pt>
                <c:pt idx="2">
                  <c:v>0.698</c:v>
                </c:pt>
                <c:pt idx="3">
                  <c:v>1.116</c:v>
                </c:pt>
                <c:pt idx="4">
                  <c:v>1.565</c:v>
                </c:pt>
                <c:pt idx="5">
                  <c:v>2.038</c:v>
                </c:pt>
                <c:pt idx="6">
                  <c:v>2.581</c:v>
                </c:pt>
                <c:pt idx="7">
                  <c:v>3.38</c:v>
                </c:pt>
                <c:pt idx="8">
                  <c:v>4.371</c:v>
                </c:pt>
              </c:numCache>
            </c:numRef>
          </c:xVal>
          <c:yVal>
            <c:numRef>
              <c:f>Sheet1!$B$2:$B$10</c:f>
              <c:numCache>
                <c:formatCode>General</c:formatCode>
                <c:ptCount val="9"/>
                <c:pt idx="0">
                  <c:v>0</c:v>
                </c:pt>
                <c:pt idx="1">
                  <c:v>3.6</c:v>
                </c:pt>
                <c:pt idx="2">
                  <c:v>7.6</c:v>
                </c:pt>
                <c:pt idx="3">
                  <c:v>11.8</c:v>
                </c:pt>
                <c:pt idx="4">
                  <c:v>16.4</c:v>
                </c:pt>
                <c:pt idx="5">
                  <c:v>21.3</c:v>
                </c:pt>
                <c:pt idx="6">
                  <c:v>26.7</c:v>
                </c:pt>
                <c:pt idx="7">
                  <c:v>32.7</c:v>
                </c:pt>
                <c:pt idx="8">
                  <c:v>39.2</c:v>
                </c:pt>
              </c:numCache>
            </c:numRef>
          </c:yVal>
          <c:smooth val="0"/>
        </c:ser>
        <c:dLbls>
          <c:numFmt formatCode="General"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200" b="0" i="0" u="none" strike="noStrike">
                    <a:solidFill>
                      <a:srgbClr val="6C7A89"/>
                    </a:solidFill>
                    <a:latin typeface="+mn-lt"/>
                  </a:defRPr>
                </a:pPr>
                <a:r>
                  <a:rPr sz="1200" b="0" i="0" u="none" strike="noStrike">
                    <a:solidFill>
                      <a:srgbClr val="6C7A89"/>
                    </a:solidFill>
                    <a:latin typeface="+mn-lt"/>
                  </a:rPr>
                  <a:t>accuracy cost (% perplexity increase, measured)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valAx>
      <c:valAx>
        <c:axId val="2094734552"/>
        <c:scaling>
          <c:orientation val="minMax"/>
        </c:scaling>
        <c:delete val="0"/>
        <c:axPos val="l"/>
        <c:majorGridlines>
          <c:spPr>
            <a:ln w="9525" cap="flat">
              <a:solidFill>
                <a:srgbClr val="D5DEE4"/>
              </a:solidFill>
              <a:prstDash val="solid"/>
              <a:round/>
            </a:ln>
          </c:spPr>
        </c:majorGridlines>
        <c:title>
          <c:tx>
            <c:rich>
              <a:bodyPr/>
              <a:lstStyle/>
              <a:p>
                <a:pPr>
                  <a:defRPr sz="1200" b="0" i="0" u="none" strike="noStrike">
                    <a:solidFill>
                      <a:srgbClr val="6C7A89"/>
                    </a:solidFill>
                    <a:latin typeface="+mn-lt"/>
                  </a:defRPr>
                </a:pPr>
                <a:r>
                  <a:rPr sz="1200" b="0" i="0" u="none" strike="noStrike">
                    <a:solidFill>
                      <a:srgbClr val="6C7A89"/>
                    </a:solidFill>
                    <a:latin typeface="+mn-lt"/>
                  </a:rPr>
                  <a:t>simulated decode gain vs Q8_0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Phi-3-mini on c7g.2xlarge: accuracy cost (% perplexity increase)</a:t>
            </a:r>
          </a:p>
        </c:rich>
      </c:tx>
      <c:layout/>
      <c:overlay val="0"/>
    </c:title>
    <c:autoTitleDeleted val="0"/>
    <c:plotArea>
      <c:layout/>
      <c:barChart>
        <c:barDir val="col"/>
        <c:grouping val="clustered"/>
        <c:varyColors val="0"/>
        <c:ser>
          <c:idx val="0"/>
          <c:order val="0"/>
          <c:tx>
            <c:strRef>
              <c:f>Sheet1!$B$1</c:f>
              <c:strCache>
                <c:ptCount val="1"/>
                <c:pt idx="0">
                  <c:v>Perplexity increase vs F16 (%)</c:v>
                </c:pt>
              </c:strCache>
            </c:strRef>
          </c:tx>
          <c:spPr>
            <a:solidFill>
              <a:srgbClr val="6C7A89"/>
            </a:solidFill>
            <a:effectLst/>
          </c:spPr>
          <c:invertIfNegative val="0"/>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6C7A89"/>
              </a:solidFill>
              <a:effectLst/>
            </c:spPr>
          </c:dPt>
          <c:dPt>
            <c:idx val="1"/>
            <c:invertIfNegative val="0"/>
            <c:bubble3D val="0"/>
            <c:spPr>
              <a:solidFill>
                <a:srgbClr val="D1495B"/>
              </a:solidFill>
              <a:effectLst/>
            </c:spPr>
          </c:dPt>
          <c:dPt>
            <c:idx val="2"/>
            <c:invertIfNegative val="0"/>
            <c:bubble3D val="0"/>
            <c:spPr>
              <a:solidFill>
                <a:srgbClr val="6C7A89"/>
              </a:solidFill>
              <a:effectLst/>
            </c:spPr>
          </c:dPt>
          <c:dPt>
            <c:idx val="3"/>
            <c:invertIfNegative val="0"/>
            <c:bubble3D val="0"/>
            <c:spPr>
              <a:solidFill>
                <a:srgbClr val="6C7A89"/>
              </a:solidFill>
              <a:effectLst/>
            </c:spPr>
          </c:dPt>
          <c:cat>
            <c:multiLvlStrRef>
              <c:f>Sheet1!$A$2:$A$5</c:f>
              <c:multiLvlStrCache>
                <c:ptCount val="4"/>
                <c:lvl>
                  <c:pt idx="0">
                    <c:v>Q8_0 stock</c:v>
                  </c:pt>
                  <c:pt idx="1">
                    <c:v>Q8_0 KleidiAI</c:v>
                  </c:pt>
                  <c:pt idx="2">
                    <c:v>Q4_0 stock</c:v>
                  </c:pt>
                  <c:pt idx="3">
                    <c:v>Q4_0 KleidiAI</c:v>
                  </c:pt>
                </c:lvl>
              </c:multiLvlStrCache>
            </c:multiLvlStrRef>
          </c:cat>
          <c:val>
            <c:numRef>
              <c:f>Sheet1!$B$2:$B$5</c:f>
              <c:numCache>
                <c:formatCode>General</c:formatCode>
                <c:ptCount val="4"/>
                <c:pt idx="0">
                  <c:v>0.08</c:v>
                </c:pt>
                <c:pt idx="1">
                  <c:v>2.87</c:v>
                </c:pt>
                <c:pt idx="2">
                  <c:v>8.97</c:v>
                </c:pt>
                <c:pt idx="3">
                  <c:v>8.97</c:v>
                </c:pt>
              </c:numCache>
            </c:numRef>
          </c:val>
        </c:ser>
        <c:dLbls>
          <c:numFmt formatCode="0.0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D5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Phi-3 decode, 8 threads: % of measured read bandwidth (158.7 GB/s)</a:t>
            </a:r>
          </a:p>
        </c:rich>
      </c:tx>
      <c:layout/>
      <c:overlay val="0"/>
    </c:title>
    <c:autoTitleDeleted val="0"/>
    <c:plotArea>
      <c:layout/>
      <c:barChart>
        <c:barDir val="col"/>
        <c:grouping val="clustered"/>
        <c:varyColors val="0"/>
        <c:ser>
          <c:idx val="0"/>
          <c:order val="0"/>
          <c:tx>
            <c:strRef>
              <c:f>Sheet1!$B$1</c:f>
              <c:strCache>
                <c:ptCount val="1"/>
                <c:pt idx="0">
                  <c:v>Decode bandwidth as % of the memory roof</c:v>
                </c:pt>
              </c:strCache>
            </c:strRef>
          </c:tx>
          <c:spPr>
            <a:solidFill>
              <a:srgbClr val="6C7A8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6C7A89"/>
              </a:solidFill>
              <a:effectLst/>
            </c:spPr>
          </c:dPt>
          <c:dPt>
            <c:idx val="1"/>
            <c:invertIfNegative val="0"/>
            <c:bubble3D val="0"/>
            <c:spPr>
              <a:solidFill>
                <a:srgbClr val="2E9E8A"/>
              </a:solidFill>
              <a:effectLst/>
            </c:spPr>
          </c:dPt>
          <c:dPt>
            <c:idx val="2"/>
            <c:invertIfNegative val="0"/>
            <c:bubble3D val="0"/>
            <c:spPr>
              <a:solidFill>
                <a:srgbClr val="F2A541"/>
              </a:solidFill>
              <a:effectLst/>
            </c:spPr>
          </c:dPt>
          <c:cat>
            <c:multiLvlStrRef>
              <c:f>Sheet1!$A$2:$A$4</c:f>
              <c:multiLvlStrCache>
                <c:ptCount val="3"/>
                <c:lvl>
                  <c:pt idx="0">
                    <c:v>F16</c:v>
                  </c:pt>
                  <c:pt idx="1">
                    <c:v>Q8_0</c:v>
                  </c:pt>
                  <c:pt idx="2">
                    <c:v>Q4_0</c:v>
                  </c:pt>
                </c:lvl>
              </c:multiLvlStrCache>
            </c:multiLvlStrRef>
          </c:cat>
          <c:val>
            <c:numRef>
              <c:f>Sheet1!$B$2:$B$4</c:f>
              <c:numCache>
                <c:formatCode>General</c:formatCode>
                <c:ptCount val="3"/>
                <c:pt idx="0">
                  <c:v>48</c:v>
                </c:pt>
                <c:pt idx="1">
                  <c:v>95</c:v>
                </c:pt>
                <c:pt idx="2">
                  <c:v>72</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5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F"/>
                </a:solidFill>
                <a:latin typeface="+mn-lt"/>
              </a:defRPr>
            </a:pPr>
            <a:r>
              <a:rPr sz="1400" b="0" i="0" u="none" strike="noStrike">
                <a:solidFill>
                  <a:srgbClr val="0B3C4F"/>
                </a:solidFill>
                <a:latin typeface="+mn-lt"/>
              </a:rPr>
              <a:t>Seconds per genome and configuration (Phi-3, c7g.2xlarge)</a:t>
            </a:r>
          </a:p>
        </c:rich>
      </c:tx>
      <c:layout/>
      <c:overlay val="0"/>
    </c:title>
    <c:autoTitleDeleted val="0"/>
    <c:plotArea>
      <c:layout/>
      <c:barChart>
        <c:barDir val="col"/>
        <c:grouping val="stacked"/>
        <c:varyColors val="0"/>
        <c:ser>
          <c:idx val="0"/>
          <c:order val="0"/>
          <c:tx>
            <c:strRef>
              <c:f>Sheet1!$B$1</c:f>
              <c:strCache>
                <c:ptCount val="1"/>
                <c:pt idx="0">
                  <c:v>KL-divergence run (accuracy)</c:v>
                </c:pt>
              </c:strCache>
            </c:strRef>
          </c:tx>
          <c:spPr>
            <a:solidFill>
              <a:srgbClr val="0A7EA4"/>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stock</c:v>
                  </c:pt>
                  <c:pt idx="1">
                    <c:v>KleidiAI</c:v>
                  </c:pt>
                </c:lvl>
              </c:multiLvlStrCache>
            </c:multiLvlStrRef>
          </c:cat>
          <c:val>
            <c:numRef>
              <c:f>Sheet1!$B$2:$B$3</c:f>
              <c:numCache>
                <c:formatCode>General</c:formatCode>
                <c:ptCount val="2"/>
                <c:pt idx="0">
                  <c:v>56</c:v>
                </c:pt>
                <c:pt idx="1">
                  <c:v>63</c:v>
                </c:pt>
              </c:numCache>
            </c:numRef>
          </c:val>
        </c:ser>
        <c:ser>
          <c:idx val="1"/>
          <c:order val="1"/>
          <c:tx>
            <c:strRef>
              <c:f>Sheet1!$C$1</c:f>
              <c:strCache>
                <c:ptCount val="1"/>
                <c:pt idx="0">
                  <c:v>speed and energy run</c:v>
                </c:pt>
              </c:strCache>
            </c:strRef>
          </c:tx>
          <c:spPr>
            <a:solidFill>
              <a:srgbClr val="F2A541"/>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stock</c:v>
                  </c:pt>
                  <c:pt idx="1">
                    <c:v>KleidiAI</c:v>
                  </c:pt>
                </c:lvl>
              </c:multiLvlStrCache>
            </c:multiLvlStrRef>
          </c:cat>
          <c:val>
            <c:numRef>
              <c:f>Sheet1!$C$2:$C$3</c:f>
              <c:numCache>
                <c:formatCode>General</c:formatCode>
                <c:ptCount val="2"/>
                <c:pt idx="0">
                  <c:v>32</c:v>
                </c:pt>
                <c:pt idx="1">
                  <c:v>50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12B"/>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5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0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Arm port of the evolutionary quantization project: what was built, what was measured, what was learned. Tiers T0-T3 are done (the Graviton3 run cost about two dollars); the Apple M4 block (T4) is the one remaining paid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of the target role's requirements to what the project demonstrates. The roofline is measured on Graviton3; perf counters and the real power measurements are still to be done on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from the base project on the RTX 3080 with bitsandbytes. The last box is an honest correction made during this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genome keeps the same shape as the GPU project, so the search machinery carried over. The GGUF assembler replaces bitsandbytes module substitution because bitsandbytes does not run on Arm or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badges are complete (T0-T3). The Graviton3 run found the KleidiAI Q8_0 accuracy loss at full scale. The Mac costs about $30 (1.23 USD/h) with a 24-hour minimum, so every check that does not need M4 hardware was moved to the desktop, the 3080 or emulation.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sensitivity sweep used perplexity differences and was unusable. Switching to KL divergence (llama-perplexity --kl-divergence) fixed it. Accuracy penalty is defined as exp(KLD) - 1, the expected fractional perplexity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KL-divergence sensitivity tables. Q8_0 is almost exactly additive (single-block sum 0.068% vs uniform 0.067%). Q4_0 is mildly super-additive. The CPU build reproduces the CUDA Q4_0 profile with Spearman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similarity criteria: edge blocks most sensitive in each model (partly met), profile rank correlation (0.55, moderate). The Pareto-front and genome-shape criteria need the Arm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256 genomes of the 8B model were measured (real KL-divergence accuracy), giving the exact Pareto front. Speed comes from a simulated Arm model driven by real tensor sizes and calibrated to the measured Graviton3 Phi-3 run (F16 decode reaches 48% of the memory roof, Q8_0 95%, Q4_0 72%); it is applied to the 8B model as an assumption. Energy is still a placeholder and is not shown. None of this is an Arm measurement of these searches.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an AWS c7g.2xlarge (Graviton3, 8 vCPUs). The stock bars are the build without KleidiAI, which keeps llama.cpp's own optimized Arm path. KleidiAI's Q8_0 loss is 37.5x in KL divergence (0.0283 vs 0.00076). Kernels chosen on Graviton3: Q4_0 SVE, Q8_0 I8MM, as predicted by emulation. The result does not predict the M4, where KleidiAI uses SME2 kernels and the stock path has nothing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Roofline: decode tokens per second times the bytes read per token, against the bw_probe read bandwidth at the same thread count. The own kernels (kernels/arm/qdot) are exact but reach 12 GB/s (Q8_0 SDOT) and 6.4 GB/s (Q4_0 SDOT) single-threaded, against 25.7 and 20.7 GB/s for llama.cpp's repacked kernels; likely reasons are listed in the plan as hypotheses, not yet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genomes were measured in two configurations on a c7g.2xlarge with the mock energy meter, so energy is not a measurement. Per-evaluation cost: 88 s stock and 113 s KleidiAI, split between the 2048-token KL-divergence run and the llama-bench speed run. The 8B model is scaled by weight bytes (2.1x), an assumption the optional 8B rehearsal would replace. Full coverage of both models in both configurations does not fit one 24 hour block unless the Mac is about 3x faster than Graviton3, so the default design measures the shipped configuration in full and the baseline for 12 genomes.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were found with cheap tiers, each would have cost hours of a 24 hour paid block. The selftest gate worked as designed in the first case: it stopped the queue on a failed check instead of letting the table job fail hours in. The unit tests with synthetic tables had not caught the missing-baseline case; the desktop rehearsal with real binaries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four lessons and the concrete next steps. The limits are stated explicitly so the results are not over-read. Tiers T0-T3 are complete; only the M4 block remains, and the AWS quota request for it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498080" cy="155448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7498080" cy="1097280"/>
          </a:xfrm>
          <a:prstGeom prst="rect">
            <a:avLst/>
          </a:prstGeom>
          <a:noFill/>
          <a:ln/>
        </p:spPr>
        <p:txBody>
          <a:bodyPr wrap="square" rtlCol="0"/>
          <a:lstStyle>
            <a:lvl1pPr algn="l" indent="0" marL="0">
              <a:buNone/>
              <a:defRPr lang="en-US" sz="2000" dirty="0">
                <a:solidFill>
                  <a:schemeClr val="bg2"/>
                </a:solidFill>
                <a:latin typeface="+mn-lt" pitchFamily="34" charset="0"/>
                <a:ea typeface="+mn-lt" pitchFamily="34" charset="-122"/>
                <a:cs typeface="+mn-lt"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2"/>
                </a:solidFill>
                <a:latin typeface="+mj-lt" pitchFamily="34" charset="0"/>
                <a:ea typeface="+mj-lt" pitchFamily="34" charset="-122"/>
                <a:cs typeface="+mj-lt" pitchFamily="34" charset="-120"/>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Evol_inference  |  Arm port (branch mac-m4)</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bg1"/>
                </a:solidFill>
                <a:latin typeface="+mj-lt" pitchFamily="34" charset="0"/>
                <a:ea typeface="+mj-lt" pitchFamily="34" charset="-122"/>
                <a:cs typeface="+mj-lt"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498080" cy="1554480"/>
          </a:xfrm>
          <a:prstGeom prst="rect">
            <a:avLst/>
          </a:prstGeom>
          <a:noFill/>
          <a:ln/>
        </p:spPr>
        <p:txBody>
          <a:bodyPr wrap="square" lIns="0" tIns="0" rIns="0" bIns="0" rtlCol="0" anchor="t"/>
          <a:lstStyle/>
          <a:p>
            <a:pPr algn="l" indent="0" marL="0">
              <a:buNone/>
            </a:pPr>
            <a:r>
              <a:rPr lang="en-US" sz="4400" b="1" dirty="0">
                <a:solidFill>
                  <a:schemeClr val="bg1"/>
                </a:solidFill>
                <a:latin typeface="+mj-lt" pitchFamily="34" charset="0"/>
                <a:ea typeface="+mj-lt" pitchFamily="34" charset="-122"/>
                <a:cs typeface="+mj-lt" pitchFamily="34" charset="-120"/>
              </a:rPr>
              <a:t>Evol_inference on Arm</a:t>
            </a:r>
            <a:endParaRPr lang="en-US" sz="4400" dirty="0"/>
          </a:p>
        </p:txBody>
      </p:sp>
      <p:sp>
        <p:nvSpPr>
          <p:cNvPr id="3" name="Text 0"/>
          <p:cNvSpPr/>
          <p:nvPr>
            <p:ph idx="101" type="body" hasCustomPrompt="1"/>
          </p:nvPr>
        </p:nvSpPr>
        <p:spPr>
          <a:xfrm>
            <a:off x="731520" y="3657600"/>
            <a:ext cx="7498080" cy="1097280"/>
          </a:xfrm>
          <a:prstGeom prst="rect">
            <a:avLst/>
          </a:prstGeom>
          <a:noFill/>
          <a:ln/>
        </p:spPr>
        <p:txBody>
          <a:bodyPr wrap="square" lIns="0" tIns="0" rIns="0" bIns="0" rtlCol="0" anchor="t"/>
          <a:lstStyle/>
          <a:p>
            <a:pPr algn="l" indent="0" marL="0">
              <a:buNone/>
            </a:pPr>
            <a:r>
              <a:rPr lang="en-US" sz="2000" dirty="0">
                <a:solidFill>
                  <a:schemeClr val="bg2"/>
                </a:solidFill>
                <a:latin typeface="+mn-lt" pitchFamily="34" charset="0"/>
                <a:ea typeface="+mn-lt" pitchFamily="34" charset="-122"/>
                <a:cs typeface="+mn-lt" pitchFamily="34" charset="-120"/>
              </a:rPr>
              <a:t>Multi-objective quantization search for LLM inference: accuracy, speed and power on Arm CPUs</a:t>
            </a:r>
            <a:endParaRPr lang="en-US" sz="2000" dirty="0"/>
          </a:p>
        </p:txBody>
      </p:sp>
      <p:sp>
        <p:nvSpPr>
          <p:cNvPr id="4" name="status line"/>
          <p:cNvSpPr txBox="1"/>
          <p:nvPr/>
        </p:nvSpPr>
        <p:spPr>
          <a:xfrm>
            <a:off x="731520" y="5760720"/>
            <a:ext cx="8686800" cy="457200"/>
          </a:xfrm>
          <a:prstGeom prst="rect">
            <a:avLst/>
          </a:prstGeom>
          <a:noFill/>
          <a:ln/>
        </p:spPr>
        <p:txBody>
          <a:bodyPr wrap="square" lIns="0" tIns="0" rIns="0" bIns="0" rtlCol="0" anchor="ctr"/>
          <a:lstStyle/>
          <a:p>
            <a:pPr indent="0" marL="0">
              <a:buNone/>
            </a:pPr>
            <a:r>
              <a:rPr lang="en-US" sz="1400" dirty="0">
                <a:solidFill>
                  <a:schemeClr val="accent2"/>
                </a:solidFill>
                <a:latin typeface="Calibri" pitchFamily="34" charset="0"/>
                <a:ea typeface="Calibri" pitchFamily="34" charset="-122"/>
                <a:cs typeface="Calibri" pitchFamily="34" charset="-120"/>
              </a:rPr>
              <a:t>Branch mac-m4  |  tiers T0-T3 complete (desktop, RTX 3080, aarch64 emulation, AWS Graviton3)  |  Apple M4 block pending (quota requested)</a:t>
            </a:r>
            <a:endParaRPr lang="en-US" sz="1400" dirty="0"/>
          </a:p>
        </p:txBody>
      </p:sp>
      <p:sp>
        <p:nvSpPr>
          <p:cNvPr id="5" name="title motif circle"/>
          <p:cNvSpPr/>
          <p:nvPr/>
        </p:nvSpPr>
        <p:spPr>
          <a:xfrm>
            <a:off x="9052560" y="1554480"/>
            <a:ext cx="2743200" cy="2743200"/>
          </a:xfrm>
          <a:prstGeom prst="ellipse">
            <a:avLst/>
          </a:prstGeom>
          <a:solidFill>
            <a:schemeClr val="accent1"/>
          </a:solidFill>
          <a:ln w="12700">
            <a:solidFill>
              <a:schemeClr val="accent1"/>
            </a:solidFill>
            <a:prstDash val="solid"/>
          </a:ln>
        </p:spPr>
      </p:sp>
      <p:pic>
        <p:nvPicPr>
          <p:cNvPr id="6" name="title motif chip" descr="preencoded.png">    </p:cNvPr>
          <p:cNvPicPr>
            <a:picLocks noChangeAspect="1"/>
          </p:cNvPicPr>
          <p:nvPr/>
        </p:nvPicPr>
        <p:blipFill>
          <a:blip r:embed="rId1"/>
          <a:stretch>
            <a:fillRect/>
          </a:stretch>
        </p:blipFill>
        <p:spPr>
          <a:xfrm>
            <a:off x="9646920" y="2148840"/>
            <a:ext cx="1554480" cy="1554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The goal: tune LLM inference on Arm, and prove it with measurements</a:t>
            </a:r>
            <a:endParaRPr lang="en-US" sz="2800" dirty="0"/>
          </a:p>
        </p:txBody>
      </p:sp>
      <p:sp>
        <p:nvSpPr>
          <p:cNvPr id="3" name="row card 1"/>
          <p:cNvSpPr/>
          <p:nvPr/>
        </p:nvSpPr>
        <p:spPr>
          <a:xfrm>
            <a:off x="548640" y="1417320"/>
            <a:ext cx="11064240" cy="822960"/>
          </a:xfrm>
          <a:prstGeom prst="roundRect">
            <a:avLst>
              <a:gd name="adj" fmla="val 8889"/>
            </a:avLst>
          </a:prstGeom>
          <a:solidFill>
            <a:schemeClr val="bg2"/>
          </a:solidFill>
          <a:ln w="12700">
            <a:solidFill>
              <a:schemeClr val="bg2"/>
            </a:solidFill>
            <a:prstDash val="solid"/>
          </a:ln>
        </p:spPr>
      </p:sp>
      <p:sp>
        <p:nvSpPr>
          <p:cNvPr id="4" name="row 1 circle"/>
          <p:cNvSpPr/>
          <p:nvPr/>
        </p:nvSpPr>
        <p:spPr>
          <a:xfrm>
            <a:off x="731520" y="1527048"/>
            <a:ext cx="603504" cy="603504"/>
          </a:xfrm>
          <a:prstGeom prst="ellipse">
            <a:avLst/>
          </a:prstGeom>
          <a:solidFill>
            <a:srgbClr val="0A7EA4"/>
          </a:solidFill>
          <a:ln w="12700">
            <a:solidFill>
              <a:srgbClr val="0A7EA4"/>
            </a:solidFill>
            <a:prstDash val="solid"/>
          </a:ln>
        </p:spPr>
      </p:sp>
      <p:pic>
        <p:nvPicPr>
          <p:cNvPr id="5" name="row 1 icon" descr="preencoded.png">    </p:cNvPr>
          <p:cNvPicPr>
            <a:picLocks noChangeAspect="1"/>
          </p:cNvPicPr>
          <p:nvPr/>
        </p:nvPicPr>
        <p:blipFill>
          <a:blip r:embed="rId1"/>
          <a:stretch>
            <a:fillRect/>
          </a:stretch>
        </p:blipFill>
        <p:spPr>
          <a:xfrm>
            <a:off x="882396" y="1677924"/>
            <a:ext cx="301752" cy="301752"/>
          </a:xfrm>
          <a:prstGeom prst="rect">
            <a:avLst/>
          </a:prstGeom>
        </p:spPr>
      </p:pic>
      <p:sp>
        <p:nvSpPr>
          <p:cNvPr id="6" name="row 1 head"/>
          <p:cNvSpPr txBox="1"/>
          <p:nvPr/>
        </p:nvSpPr>
        <p:spPr>
          <a:xfrm>
            <a:off x="1600200" y="1490472"/>
            <a:ext cx="3291840" cy="676656"/>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Kernel-level optimization</a:t>
            </a:r>
            <a:endParaRPr lang="en-US" sz="1800" dirty="0"/>
          </a:p>
        </p:txBody>
      </p:sp>
      <p:sp>
        <p:nvSpPr>
          <p:cNvPr id="7" name="row 1 body"/>
          <p:cNvSpPr txBox="1"/>
          <p:nvPr/>
        </p:nvSpPr>
        <p:spPr>
          <a:xfrm>
            <a:off x="4937760" y="1490472"/>
            <a:ext cx="6492240" cy="67665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Hand-written NEON SDOT and SMMLA dot-product kernels for the Q8_0 and Q4_0 formats the search chooses between</a:t>
            </a:r>
            <a:endParaRPr lang="en-US" sz="1500" dirty="0"/>
          </a:p>
        </p:txBody>
      </p:sp>
      <p:sp>
        <p:nvSpPr>
          <p:cNvPr id="8" name="row card 2"/>
          <p:cNvSpPr/>
          <p:nvPr/>
        </p:nvSpPr>
        <p:spPr>
          <a:xfrm>
            <a:off x="548640" y="2377440"/>
            <a:ext cx="11064240" cy="822960"/>
          </a:xfrm>
          <a:prstGeom prst="roundRect">
            <a:avLst>
              <a:gd name="adj" fmla="val 8889"/>
            </a:avLst>
          </a:prstGeom>
          <a:solidFill>
            <a:schemeClr val="bg2"/>
          </a:solidFill>
          <a:ln w="12700">
            <a:solidFill>
              <a:schemeClr val="bg2"/>
            </a:solidFill>
            <a:prstDash val="solid"/>
          </a:ln>
        </p:spPr>
      </p:sp>
      <p:sp>
        <p:nvSpPr>
          <p:cNvPr id="9" name="row 2 circle"/>
          <p:cNvSpPr/>
          <p:nvPr/>
        </p:nvSpPr>
        <p:spPr>
          <a:xfrm>
            <a:off x="731520" y="2487168"/>
            <a:ext cx="603504" cy="603504"/>
          </a:xfrm>
          <a:prstGeom prst="ellipse">
            <a:avLst/>
          </a:prstGeom>
          <a:solidFill>
            <a:srgbClr val="2E9E8A"/>
          </a:solidFill>
          <a:ln w="12700">
            <a:solidFill>
              <a:srgbClr val="2E9E8A"/>
            </a:solidFill>
            <a:prstDash val="solid"/>
          </a:ln>
        </p:spPr>
      </p:sp>
      <p:pic>
        <p:nvPicPr>
          <p:cNvPr id="10" name="row 2 icon" descr="preencoded.png">    </p:cNvPr>
          <p:cNvPicPr>
            <a:picLocks noChangeAspect="1"/>
          </p:cNvPicPr>
          <p:nvPr/>
        </p:nvPicPr>
        <p:blipFill>
          <a:blip r:embed="rId2"/>
          <a:stretch>
            <a:fillRect/>
          </a:stretch>
        </p:blipFill>
        <p:spPr>
          <a:xfrm>
            <a:off x="882396" y="2638044"/>
            <a:ext cx="301752" cy="301752"/>
          </a:xfrm>
          <a:prstGeom prst="rect">
            <a:avLst/>
          </a:prstGeom>
        </p:spPr>
      </p:pic>
      <p:sp>
        <p:nvSpPr>
          <p:cNvPr id="11" name="row 2 head"/>
          <p:cNvSpPr txBox="1"/>
          <p:nvPr/>
        </p:nvSpPr>
        <p:spPr>
          <a:xfrm>
            <a:off x="1600200" y="2450592"/>
            <a:ext cx="3291840" cy="676656"/>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Arm AI software stack</a:t>
            </a:r>
            <a:endParaRPr lang="en-US" sz="1800" dirty="0"/>
          </a:p>
        </p:txBody>
      </p:sp>
      <p:sp>
        <p:nvSpPr>
          <p:cNvPr id="12" name="row 2 body"/>
          <p:cNvSpPr txBox="1"/>
          <p:nvPr/>
        </p:nvSpPr>
        <p:spPr>
          <a:xfrm>
            <a:off x="4937760" y="2450592"/>
            <a:ext cx="6492240" cy="67665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llama.cpp with KleidiAI micro-kernels; NEON, dotprod, I8MM, SVE and SME code paths identified per run</a:t>
            </a:r>
            <a:endParaRPr lang="en-US" sz="1500" dirty="0"/>
          </a:p>
        </p:txBody>
      </p:sp>
      <p:sp>
        <p:nvSpPr>
          <p:cNvPr id="13" name="row card 3"/>
          <p:cNvSpPr/>
          <p:nvPr/>
        </p:nvSpPr>
        <p:spPr>
          <a:xfrm>
            <a:off x="548640" y="3337560"/>
            <a:ext cx="11064240" cy="822960"/>
          </a:xfrm>
          <a:prstGeom prst="roundRect">
            <a:avLst>
              <a:gd name="adj" fmla="val 8889"/>
            </a:avLst>
          </a:prstGeom>
          <a:solidFill>
            <a:schemeClr val="bg2"/>
          </a:solidFill>
          <a:ln w="12700">
            <a:solidFill>
              <a:schemeClr val="bg2"/>
            </a:solidFill>
            <a:prstDash val="solid"/>
          </a:ln>
        </p:spPr>
      </p:sp>
      <p:sp>
        <p:nvSpPr>
          <p:cNvPr id="14" name="row 3 circle"/>
          <p:cNvSpPr/>
          <p:nvPr/>
        </p:nvSpPr>
        <p:spPr>
          <a:xfrm>
            <a:off x="731520" y="3447288"/>
            <a:ext cx="603504" cy="603504"/>
          </a:xfrm>
          <a:prstGeom prst="ellipse">
            <a:avLst/>
          </a:prstGeom>
          <a:solidFill>
            <a:srgbClr val="F2A541"/>
          </a:solidFill>
          <a:ln w="12700">
            <a:solidFill>
              <a:srgbClr val="F2A541"/>
            </a:solidFill>
            <a:prstDash val="solid"/>
          </a:ln>
        </p:spPr>
      </p:sp>
      <p:pic>
        <p:nvPicPr>
          <p:cNvPr id="15" name="row 3 icon" descr="preencoded.png">    </p:cNvPr>
          <p:cNvPicPr>
            <a:picLocks noChangeAspect="1"/>
          </p:cNvPicPr>
          <p:nvPr/>
        </p:nvPicPr>
        <p:blipFill>
          <a:blip r:embed="rId3"/>
          <a:stretch>
            <a:fillRect/>
          </a:stretch>
        </p:blipFill>
        <p:spPr>
          <a:xfrm>
            <a:off x="882396" y="3598164"/>
            <a:ext cx="301752" cy="301752"/>
          </a:xfrm>
          <a:prstGeom prst="rect">
            <a:avLst/>
          </a:prstGeom>
        </p:spPr>
      </p:pic>
      <p:sp>
        <p:nvSpPr>
          <p:cNvPr id="16" name="row 3 head"/>
          <p:cNvSpPr txBox="1"/>
          <p:nvPr/>
        </p:nvSpPr>
        <p:spPr>
          <a:xfrm>
            <a:off x="1600200" y="3410712"/>
            <a:ext cx="3291840" cy="676656"/>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Performance and power together</a:t>
            </a:r>
            <a:endParaRPr lang="en-US" sz="1800" dirty="0"/>
          </a:p>
        </p:txBody>
      </p:sp>
      <p:sp>
        <p:nvSpPr>
          <p:cNvPr id="17" name="row 3 body"/>
          <p:cNvSpPr txBox="1"/>
          <p:nvPr/>
        </p:nvSpPr>
        <p:spPr>
          <a:xfrm>
            <a:off x="4937760" y="3410712"/>
            <a:ext cx="6492240" cy="67665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Three objectives: accuracy loss, decode speed, energy per token, searched as a Pareto front</a:t>
            </a:r>
            <a:endParaRPr lang="en-US" sz="1500" dirty="0"/>
          </a:p>
        </p:txBody>
      </p:sp>
      <p:sp>
        <p:nvSpPr>
          <p:cNvPr id="18" name="row card 4"/>
          <p:cNvSpPr/>
          <p:nvPr/>
        </p:nvSpPr>
        <p:spPr>
          <a:xfrm>
            <a:off x="548640" y="4297680"/>
            <a:ext cx="11064240" cy="822960"/>
          </a:xfrm>
          <a:prstGeom prst="roundRect">
            <a:avLst>
              <a:gd name="adj" fmla="val 8889"/>
            </a:avLst>
          </a:prstGeom>
          <a:solidFill>
            <a:schemeClr val="bg2"/>
          </a:solidFill>
          <a:ln w="12700">
            <a:solidFill>
              <a:schemeClr val="bg2"/>
            </a:solidFill>
            <a:prstDash val="solid"/>
          </a:ln>
        </p:spPr>
      </p:sp>
      <p:sp>
        <p:nvSpPr>
          <p:cNvPr id="19" name="row 4 circle"/>
          <p:cNvSpPr/>
          <p:nvPr/>
        </p:nvSpPr>
        <p:spPr>
          <a:xfrm>
            <a:off x="731520" y="4407408"/>
            <a:ext cx="603504" cy="603504"/>
          </a:xfrm>
          <a:prstGeom prst="ellipse">
            <a:avLst/>
          </a:prstGeom>
          <a:solidFill>
            <a:srgbClr val="7B6FB5"/>
          </a:solidFill>
          <a:ln w="12700">
            <a:solidFill>
              <a:srgbClr val="7B6FB5"/>
            </a:solidFill>
            <a:prstDash val="solid"/>
          </a:ln>
        </p:spPr>
      </p:sp>
      <p:pic>
        <p:nvPicPr>
          <p:cNvPr id="20" name="row 4 icon" descr="preencoded.png">    </p:cNvPr>
          <p:cNvPicPr>
            <a:picLocks noChangeAspect="1"/>
          </p:cNvPicPr>
          <p:nvPr/>
        </p:nvPicPr>
        <p:blipFill>
          <a:blip r:embed="rId4"/>
          <a:stretch>
            <a:fillRect/>
          </a:stretch>
        </p:blipFill>
        <p:spPr>
          <a:xfrm>
            <a:off x="882396" y="4558284"/>
            <a:ext cx="301752" cy="301752"/>
          </a:xfrm>
          <a:prstGeom prst="rect">
            <a:avLst/>
          </a:prstGeom>
        </p:spPr>
      </p:pic>
      <p:sp>
        <p:nvSpPr>
          <p:cNvPr id="21" name="row 4 head"/>
          <p:cNvSpPr txBox="1"/>
          <p:nvPr/>
        </p:nvSpPr>
        <p:spPr>
          <a:xfrm>
            <a:off x="1600200" y="4370832"/>
            <a:ext cx="3291840" cy="676656"/>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Profiling and analysis</a:t>
            </a:r>
            <a:endParaRPr lang="en-US" sz="1800" dirty="0"/>
          </a:p>
        </p:txBody>
      </p:sp>
      <p:sp>
        <p:nvSpPr>
          <p:cNvPr id="22" name="row 4 body"/>
          <p:cNvSpPr txBox="1"/>
          <p:nvPr/>
        </p:nvSpPr>
        <p:spPr>
          <a:xfrm>
            <a:off x="4937760" y="4370832"/>
            <a:ext cx="6492240" cy="67665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Memory roofline measured on Graviton3: Q8_0 decode sits at 95% of the bandwidth roof; perf counters and powermetrics next</a:t>
            </a:r>
            <a:endParaRPr lang="en-US" sz="1500" dirty="0"/>
          </a:p>
        </p:txBody>
      </p:sp>
      <p:sp>
        <p:nvSpPr>
          <p:cNvPr id="23" name="row card 5"/>
          <p:cNvSpPr/>
          <p:nvPr/>
        </p:nvSpPr>
        <p:spPr>
          <a:xfrm>
            <a:off x="548640" y="5257800"/>
            <a:ext cx="11064240" cy="822960"/>
          </a:xfrm>
          <a:prstGeom prst="roundRect">
            <a:avLst>
              <a:gd name="adj" fmla="val 8889"/>
            </a:avLst>
          </a:prstGeom>
          <a:solidFill>
            <a:schemeClr val="bg2"/>
          </a:solidFill>
          <a:ln w="12700">
            <a:solidFill>
              <a:schemeClr val="bg2"/>
            </a:solidFill>
            <a:prstDash val="solid"/>
          </a:ln>
        </p:spPr>
      </p:sp>
      <p:sp>
        <p:nvSpPr>
          <p:cNvPr id="24" name="row 5 circle"/>
          <p:cNvSpPr/>
          <p:nvPr/>
        </p:nvSpPr>
        <p:spPr>
          <a:xfrm>
            <a:off x="731520" y="5367528"/>
            <a:ext cx="603504" cy="603504"/>
          </a:xfrm>
          <a:prstGeom prst="ellipse">
            <a:avLst/>
          </a:prstGeom>
          <a:solidFill>
            <a:srgbClr val="6C7A89"/>
          </a:solidFill>
          <a:ln w="12700">
            <a:solidFill>
              <a:srgbClr val="6C7A89"/>
            </a:solidFill>
            <a:prstDash val="solid"/>
          </a:ln>
        </p:spPr>
      </p:sp>
      <p:pic>
        <p:nvPicPr>
          <p:cNvPr id="25" name="row 5 icon" descr="preencoded.png">    </p:cNvPr>
          <p:cNvPicPr>
            <a:picLocks noChangeAspect="1"/>
          </p:cNvPicPr>
          <p:nvPr/>
        </p:nvPicPr>
        <p:blipFill>
          <a:blip r:embed="rId5"/>
          <a:stretch>
            <a:fillRect/>
          </a:stretch>
        </p:blipFill>
        <p:spPr>
          <a:xfrm>
            <a:off x="882396" y="5518404"/>
            <a:ext cx="301752" cy="301752"/>
          </a:xfrm>
          <a:prstGeom prst="rect">
            <a:avLst/>
          </a:prstGeom>
        </p:spPr>
      </p:pic>
      <p:sp>
        <p:nvSpPr>
          <p:cNvPr id="26" name="row 5 head"/>
          <p:cNvSpPr txBox="1"/>
          <p:nvPr/>
        </p:nvSpPr>
        <p:spPr>
          <a:xfrm>
            <a:off x="1600200" y="5330952"/>
            <a:ext cx="3291840" cy="676656"/>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Clear communication</a:t>
            </a:r>
            <a:endParaRPr lang="en-US" sz="1800" dirty="0"/>
          </a:p>
        </p:txBody>
      </p:sp>
      <p:sp>
        <p:nvSpPr>
          <p:cNvPr id="27" name="row 5 body"/>
          <p:cNvSpPr txBox="1"/>
          <p:nvPr/>
        </p:nvSpPr>
        <p:spPr>
          <a:xfrm>
            <a:off x="4937760" y="5330952"/>
            <a:ext cx="6492240" cy="676656"/>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Reproducible harness, a decision log with null and revised results, and this deck</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Starting point: on the GPU, the proxy metric pointed the wrong way</a:t>
            </a:r>
            <a:endParaRPr lang="en-US" sz="2800" dirty="0"/>
          </a:p>
        </p:txBody>
      </p:sp>
      <p:sp>
        <p:nvSpPr>
          <p:cNvPr id="3" name="stat int4 value"/>
          <p:cNvSpPr txBox="1"/>
          <p:nvPr/>
        </p:nvSpPr>
        <p:spPr>
          <a:xfrm>
            <a:off x="548640" y="1463040"/>
            <a:ext cx="3383280" cy="685800"/>
          </a:xfrm>
          <a:prstGeom prst="rect">
            <a:avLst/>
          </a:prstGeom>
          <a:noFill/>
          <a:ln/>
        </p:spPr>
        <p:txBody>
          <a:bodyPr wrap="square" lIns="0" tIns="0" rIns="0" bIns="0" rtlCol="0" anchor="b"/>
          <a:lstStyle/>
          <a:p>
            <a:pPr indent="0" marL="0">
              <a:buNone/>
            </a:pPr>
            <a:r>
              <a:rPr lang="en-US" sz="4000" b="1" dirty="0">
                <a:solidFill>
                  <a:srgbClr val="D1495B"/>
                </a:solidFill>
                <a:latin typeface="Cambria" pitchFamily="34" charset="0"/>
                <a:ea typeface="Cambria" pitchFamily="34" charset="-122"/>
                <a:cs typeface="Cambria" pitchFamily="34" charset="-120"/>
              </a:rPr>
              <a:t>-4.5%</a:t>
            </a:r>
            <a:endParaRPr lang="en-US" sz="4000" dirty="0"/>
          </a:p>
        </p:txBody>
      </p:sp>
      <p:sp>
        <p:nvSpPr>
          <p:cNvPr id="4" name="stat int4 label"/>
          <p:cNvSpPr txBox="1"/>
          <p:nvPr/>
        </p:nvSpPr>
        <p:spPr>
          <a:xfrm>
            <a:off x="548640" y="2176272"/>
            <a:ext cx="3383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INT4 is the smallest model yet 4.5% slower than FP16 on the RTX 3080 (batch 1)</a:t>
            </a:r>
            <a:endParaRPr lang="en-US" sz="1400" dirty="0"/>
          </a:p>
        </p:txBody>
      </p:sp>
      <p:sp>
        <p:nvSpPr>
          <p:cNvPr id="5" name="stat int8 value"/>
          <p:cNvSpPr txBox="1"/>
          <p:nvPr/>
        </p:nvSpPr>
        <p:spPr>
          <a:xfrm>
            <a:off x="4206240" y="1463040"/>
            <a:ext cx="3383280" cy="685800"/>
          </a:xfrm>
          <a:prstGeom prst="rect">
            <a:avLst/>
          </a:prstGeom>
          <a:noFill/>
          <a:ln/>
        </p:spPr>
        <p:txBody>
          <a:bodyPr wrap="square" lIns="0" tIns="0" rIns="0" bIns="0" rtlCol="0" anchor="b"/>
          <a:lstStyle/>
          <a:p>
            <a:pPr indent="0" marL="0">
              <a:buNone/>
            </a:pPr>
            <a:r>
              <a:rPr lang="en-US" sz="4000" b="1" dirty="0">
                <a:solidFill>
                  <a:srgbClr val="2E9E8A"/>
                </a:solidFill>
                <a:latin typeface="Cambria" pitchFamily="34" charset="0"/>
                <a:ea typeface="Cambria" pitchFamily="34" charset="-122"/>
                <a:cs typeface="Cambria" pitchFamily="34" charset="-120"/>
              </a:rPr>
              <a:t>+22%</a:t>
            </a:r>
            <a:endParaRPr lang="en-US" sz="4000" dirty="0"/>
          </a:p>
        </p:txBody>
      </p:sp>
      <p:sp>
        <p:nvSpPr>
          <p:cNvPr id="6" name="stat int8 label"/>
          <p:cNvSpPr txBox="1"/>
          <p:nvPr/>
        </p:nvSpPr>
        <p:spPr>
          <a:xfrm>
            <a:off x="4206240" y="2176272"/>
            <a:ext cx="33832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uniform INT8 is 22% faster than FP16: bytes saved did not predict latency</a:t>
            </a:r>
            <a:endParaRPr lang="en-US" sz="1400" dirty="0"/>
          </a:p>
        </p:txBody>
      </p:sp>
      <p:sp>
        <p:nvSpPr>
          <p:cNvPr id="7" name="stat weight value"/>
          <p:cNvSpPr txBox="1"/>
          <p:nvPr/>
        </p:nvSpPr>
        <p:spPr>
          <a:xfrm>
            <a:off x="7863840" y="1463040"/>
            <a:ext cx="3749040" cy="685800"/>
          </a:xfrm>
          <a:prstGeom prst="rect">
            <a:avLst/>
          </a:prstGeom>
          <a:noFill/>
          <a:ln/>
        </p:spPr>
        <p:txBody>
          <a:bodyPr wrap="square" lIns="0" tIns="0" rIns="0" bIns="0" rtlCol="0" anchor="b"/>
          <a:lstStyle/>
          <a:p>
            <a:pPr indent="0" marL="0">
              <a:buNone/>
            </a:pPr>
            <a:r>
              <a:rPr lang="en-US" sz="4000" b="1" dirty="0">
                <a:solidFill>
                  <a:srgbClr val="0A7EA4"/>
                </a:solidFill>
                <a:latin typeface="Cambria" pitchFamily="34" charset="0"/>
                <a:ea typeface="Cambria" pitchFamily="34" charset="-122"/>
                <a:cs typeface="Cambria" pitchFamily="34" charset="-120"/>
              </a:rPr>
              <a:t>w &gt;= 0.8</a:t>
            </a:r>
            <a:endParaRPr lang="en-US" sz="4000" dirty="0"/>
          </a:p>
        </p:txBody>
      </p:sp>
      <p:sp>
        <p:nvSpPr>
          <p:cNvPr id="8" name="stat weight label"/>
          <p:cNvSpPr txBox="1"/>
          <p:nvPr/>
        </p:nvSpPr>
        <p:spPr>
          <a:xfrm>
            <a:off x="7863840" y="2176272"/>
            <a:ext cx="37490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accuracy weight at which the search first preferred a mixed genome over uniform INT8</a:t>
            </a:r>
            <a:endParaRPr lang="en-US" sz="1400" dirty="0"/>
          </a:p>
        </p:txBody>
      </p:sp>
      <p:sp>
        <p:nvSpPr>
          <p:cNvPr id="9" name="carry card"/>
          <p:cNvSpPr/>
          <p:nvPr/>
        </p:nvSpPr>
        <p:spPr>
          <a:xfrm>
            <a:off x="548640" y="3429000"/>
            <a:ext cx="5486400" cy="2651760"/>
          </a:xfrm>
          <a:prstGeom prst="roundRect">
            <a:avLst>
              <a:gd name="adj" fmla="val 2759"/>
            </a:avLst>
          </a:prstGeom>
          <a:solidFill>
            <a:schemeClr val="bg2"/>
          </a:solidFill>
          <a:ln w="12700">
            <a:solidFill>
              <a:schemeClr val="bg2"/>
            </a:solidFill>
            <a:prstDash val="solid"/>
          </a:ln>
        </p:spPr>
      </p:sp>
      <p:sp>
        <p:nvSpPr>
          <p:cNvPr id="10" name="carry head"/>
          <p:cNvSpPr txBox="1"/>
          <p:nvPr/>
        </p:nvSpPr>
        <p:spPr>
          <a:xfrm>
            <a:off x="777240" y="3566160"/>
            <a:ext cx="5029200" cy="41148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Carried over to Arm</a:t>
            </a:r>
            <a:endParaRPr lang="en-US" sz="2000" dirty="0"/>
          </a:p>
        </p:txBody>
      </p:sp>
      <p:sp>
        <p:nvSpPr>
          <p:cNvPr id="11" name="carry bullets"/>
          <p:cNvSpPr txBox="1"/>
          <p:nvPr/>
        </p:nvSpPr>
        <p:spPr>
          <a:xfrm>
            <a:off x="777240" y="4069080"/>
            <a:ext cx="5029200" cy="18288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Measure the cost model on the target silicon; never assume it</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Keep fitness a pure function of the genome, normalized to a fixed baseline</a:t>
            </a:r>
            <a:endParaRPr lang="en-US" sz="1600" dirty="0"/>
          </a:p>
          <a:p>
            <a:pPr marL="203200" indent="-2032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Keep the asynchronous steady-state GA design</a:t>
            </a:r>
            <a:endParaRPr lang="en-US" sz="1600" dirty="0"/>
          </a:p>
        </p:txBody>
      </p:sp>
      <p:sp>
        <p:nvSpPr>
          <p:cNvPr id="12" name="revised card"/>
          <p:cNvSpPr/>
          <p:nvPr/>
        </p:nvSpPr>
        <p:spPr>
          <a:xfrm>
            <a:off x="6309360" y="3429000"/>
            <a:ext cx="5303520" cy="2651760"/>
          </a:xfrm>
          <a:prstGeom prst="roundRect">
            <a:avLst>
              <a:gd name="adj" fmla="val 2759"/>
            </a:avLst>
          </a:prstGeom>
          <a:solidFill>
            <a:schemeClr val="tx2"/>
          </a:solidFill>
          <a:ln w="12700">
            <a:solidFill>
              <a:schemeClr val="tx2"/>
            </a:solidFill>
            <a:prstDash val="solid"/>
          </a:ln>
        </p:spPr>
      </p:sp>
      <p:sp>
        <p:nvSpPr>
          <p:cNvPr id="13" name="revised head"/>
          <p:cNvSpPr txBox="1"/>
          <p:nvPr/>
        </p:nvSpPr>
        <p:spPr>
          <a:xfrm>
            <a:off x="6537960" y="3566160"/>
            <a:ext cx="4846320" cy="411480"/>
          </a:xfrm>
          <a:prstGeom prst="rect">
            <a:avLst/>
          </a:prstGeom>
          <a:noFill/>
          <a:ln/>
        </p:spPr>
        <p:txBody>
          <a:bodyPr wrap="square" lIns="0" tIns="0" rIns="0" bIns="0" rtlCol="0" anchor="ctr"/>
          <a:lstStyle/>
          <a:p>
            <a:pPr indent="0" marL="0">
              <a:buNone/>
            </a:pPr>
            <a:r>
              <a:rPr lang="en-US" sz="2000" b="1" dirty="0">
                <a:solidFill>
                  <a:schemeClr val="accent2"/>
                </a:solidFill>
                <a:latin typeface="Calibri" pitchFamily="34" charset="0"/>
                <a:ea typeface="Calibri" pitchFamily="34" charset="-122"/>
                <a:cs typeface="Calibri" pitchFamily="34" charset="-120"/>
              </a:rPr>
              <a:t>Revised since</a:t>
            </a:r>
            <a:endParaRPr lang="en-US" sz="2000" dirty="0"/>
          </a:p>
        </p:txBody>
      </p:sp>
      <p:sp>
        <p:nvSpPr>
          <p:cNvPr id="14" name="revised text"/>
          <p:cNvSpPr txBox="1"/>
          <p:nvPr/>
        </p:nvSpPr>
        <p:spPr>
          <a:xfrm>
            <a:off x="6537960" y="4069080"/>
            <a:ext cx="4846320" cy="182880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The per-block magnitudes in the GPU write-up (block 0 carrying 70% of INT8 cost) came from perplexity deltas that proved noisy at this scale. The corrected values are on slides 6 and 7.</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Approach: search per-block precision against three objectives</a:t>
            </a:r>
            <a:endParaRPr lang="en-US" sz="2800" dirty="0"/>
          </a:p>
        </p:txBody>
      </p:sp>
      <p:sp>
        <p:nvSpPr>
          <p:cNvPr id="3" name="pipeline box 1"/>
          <p:cNvSpPr/>
          <p:nvPr/>
        </p:nvSpPr>
        <p:spPr>
          <a:xfrm>
            <a:off x="548640" y="1554480"/>
            <a:ext cx="2057400" cy="2377440"/>
          </a:xfrm>
          <a:prstGeom prst="roundRect">
            <a:avLst>
              <a:gd name="adj" fmla="val 3556"/>
            </a:avLst>
          </a:prstGeom>
          <a:solidFill>
            <a:srgbClr val="0A7EA4"/>
          </a:solidFill>
          <a:ln w="12700">
            <a:solidFill>
              <a:srgbClr val="0A7EA4"/>
            </a:solidFill>
            <a:prstDash val="solid"/>
          </a:ln>
        </p:spPr>
      </p:sp>
      <p:sp>
        <p:nvSpPr>
          <p:cNvPr id="4" name="pipeline head 1"/>
          <p:cNvSpPr txBox="1"/>
          <p:nvPr/>
        </p:nvSpPr>
        <p:spPr>
          <a:xfrm>
            <a:off x="685800" y="1691640"/>
            <a:ext cx="1783080" cy="45720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Genome</a:t>
            </a:r>
            <a:endParaRPr lang="en-US" sz="1900" dirty="0"/>
          </a:p>
        </p:txBody>
      </p:sp>
      <p:sp>
        <p:nvSpPr>
          <p:cNvPr id="5" name="pipeline text 1"/>
          <p:cNvSpPr txBox="1"/>
          <p:nvPr/>
        </p:nvSpPr>
        <p:spPr>
          <a:xfrm>
            <a:off x="685800" y="2194560"/>
            <a:ext cx="178308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8 genes, one per super-block of layers. Each gene: F16, Q8_0 or Q4_0</a:t>
            </a:r>
            <a:endParaRPr lang="en-US" sz="1400" dirty="0"/>
          </a:p>
        </p:txBody>
      </p:sp>
      <p:sp>
        <p:nvSpPr>
          <p:cNvPr id="6" name="pipeline arrow 1"/>
          <p:cNvSpPr/>
          <p:nvPr/>
        </p:nvSpPr>
        <p:spPr>
          <a:xfrm>
            <a:off x="2615184" y="2743200"/>
            <a:ext cx="164592" cy="0"/>
          </a:xfrm>
          <a:prstGeom prst="line">
            <a:avLst/>
          </a:prstGeom>
          <a:noFill/>
          <a:ln w="25400">
            <a:solidFill>
              <a:srgbClr val="10212B"/>
            </a:solidFill>
            <a:prstDash val="solid"/>
            <a:tailEnd type="triangle"/>
          </a:ln>
        </p:spPr>
      </p:sp>
      <p:sp>
        <p:nvSpPr>
          <p:cNvPr id="7" name="pipeline box 2"/>
          <p:cNvSpPr/>
          <p:nvPr/>
        </p:nvSpPr>
        <p:spPr>
          <a:xfrm>
            <a:off x="2788920" y="1554480"/>
            <a:ext cx="2057400" cy="2377440"/>
          </a:xfrm>
          <a:prstGeom prst="roundRect">
            <a:avLst>
              <a:gd name="adj" fmla="val 3556"/>
            </a:avLst>
          </a:prstGeom>
          <a:solidFill>
            <a:srgbClr val="2E9E8A"/>
          </a:solidFill>
          <a:ln w="12700">
            <a:solidFill>
              <a:srgbClr val="2E9E8A"/>
            </a:solidFill>
            <a:prstDash val="solid"/>
          </a:ln>
        </p:spPr>
      </p:sp>
      <p:sp>
        <p:nvSpPr>
          <p:cNvPr id="8" name="pipeline head 2"/>
          <p:cNvSpPr txBox="1"/>
          <p:nvPr/>
        </p:nvSpPr>
        <p:spPr>
          <a:xfrm>
            <a:off x="2926080" y="1691640"/>
            <a:ext cx="1783080" cy="45720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Assembler</a:t>
            </a:r>
            <a:endParaRPr lang="en-US" sz="1900" dirty="0"/>
          </a:p>
        </p:txBody>
      </p:sp>
      <p:sp>
        <p:nvSpPr>
          <p:cNvPr id="9" name="pipeline text 2"/>
          <p:cNvSpPr txBox="1"/>
          <p:nvPr/>
        </p:nvSpPr>
        <p:spPr>
          <a:xfrm>
            <a:off x="2926080" y="2194560"/>
            <a:ext cx="178308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Splices pre-quantized GGUF tensors into one file; bit-identical to llama-quantize</a:t>
            </a:r>
            <a:endParaRPr lang="en-US" sz="1400" dirty="0"/>
          </a:p>
        </p:txBody>
      </p:sp>
      <p:sp>
        <p:nvSpPr>
          <p:cNvPr id="10" name="pipeline arrow 2"/>
          <p:cNvSpPr/>
          <p:nvPr/>
        </p:nvSpPr>
        <p:spPr>
          <a:xfrm>
            <a:off x="4855464" y="2743200"/>
            <a:ext cx="164592" cy="0"/>
          </a:xfrm>
          <a:prstGeom prst="line">
            <a:avLst/>
          </a:prstGeom>
          <a:noFill/>
          <a:ln w="25400">
            <a:solidFill>
              <a:srgbClr val="10212B"/>
            </a:solidFill>
            <a:prstDash val="solid"/>
            <a:tailEnd type="triangle"/>
          </a:ln>
        </p:spPr>
      </p:sp>
      <p:sp>
        <p:nvSpPr>
          <p:cNvPr id="11" name="pipeline box 3"/>
          <p:cNvSpPr/>
          <p:nvPr/>
        </p:nvSpPr>
        <p:spPr>
          <a:xfrm>
            <a:off x="5029200" y="1554480"/>
            <a:ext cx="2057400" cy="2377440"/>
          </a:xfrm>
          <a:prstGeom prst="roundRect">
            <a:avLst>
              <a:gd name="adj" fmla="val 3556"/>
            </a:avLst>
          </a:prstGeom>
          <a:solidFill>
            <a:srgbClr val="F2A541"/>
          </a:solidFill>
          <a:ln w="12700">
            <a:solidFill>
              <a:srgbClr val="F2A541"/>
            </a:solidFill>
            <a:prstDash val="solid"/>
          </a:ln>
        </p:spPr>
      </p:sp>
      <p:sp>
        <p:nvSpPr>
          <p:cNvPr id="12" name="pipeline head 3"/>
          <p:cNvSpPr txBox="1"/>
          <p:nvPr/>
        </p:nvSpPr>
        <p:spPr>
          <a:xfrm>
            <a:off x="5166360" y="1691640"/>
            <a:ext cx="1783080" cy="457200"/>
          </a:xfrm>
          <a:prstGeom prst="rect">
            <a:avLst/>
          </a:prstGeom>
          <a:noFill/>
          <a:ln/>
        </p:spPr>
        <p:txBody>
          <a:bodyPr wrap="square" lIns="0" tIns="0" rIns="0" bIns="0" rtlCol="0" anchor="ctr"/>
          <a:lstStyle/>
          <a:p>
            <a:pPr indent="0" marL="0">
              <a:buNone/>
            </a:pPr>
            <a:r>
              <a:rPr lang="en-US" sz="1900" b="1" dirty="0">
                <a:solidFill>
                  <a:schemeClr val="tx1"/>
                </a:solidFill>
                <a:latin typeface="Calibri" pitchFamily="34" charset="0"/>
                <a:ea typeface="Calibri" pitchFamily="34" charset="-122"/>
                <a:cs typeface="Calibri" pitchFamily="34" charset="-120"/>
              </a:rPr>
              <a:t>Probes</a:t>
            </a:r>
            <a:endParaRPr lang="en-US" sz="1900" dirty="0"/>
          </a:p>
        </p:txBody>
      </p:sp>
      <p:sp>
        <p:nvSpPr>
          <p:cNvPr id="13" name="pipeline text 3"/>
          <p:cNvSpPr txBox="1"/>
          <p:nvPr/>
        </p:nvSpPr>
        <p:spPr>
          <a:xfrm>
            <a:off x="5166360" y="2194560"/>
            <a:ext cx="178308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KL divergence (accuracy), llama-bench decode tok/s, energy per token</a:t>
            </a:r>
            <a:endParaRPr lang="en-US" sz="1400" dirty="0"/>
          </a:p>
        </p:txBody>
      </p:sp>
      <p:sp>
        <p:nvSpPr>
          <p:cNvPr id="14" name="pipeline arrow 3"/>
          <p:cNvSpPr/>
          <p:nvPr/>
        </p:nvSpPr>
        <p:spPr>
          <a:xfrm>
            <a:off x="7095744" y="2743200"/>
            <a:ext cx="164592" cy="0"/>
          </a:xfrm>
          <a:prstGeom prst="line">
            <a:avLst/>
          </a:prstGeom>
          <a:noFill/>
          <a:ln w="25400">
            <a:solidFill>
              <a:srgbClr val="10212B"/>
            </a:solidFill>
            <a:prstDash val="solid"/>
            <a:tailEnd type="triangle"/>
          </a:ln>
        </p:spPr>
      </p:sp>
      <p:sp>
        <p:nvSpPr>
          <p:cNvPr id="15" name="pipeline box 4"/>
          <p:cNvSpPr/>
          <p:nvPr/>
        </p:nvSpPr>
        <p:spPr>
          <a:xfrm>
            <a:off x="7269480" y="1554480"/>
            <a:ext cx="2057400" cy="2377440"/>
          </a:xfrm>
          <a:prstGeom prst="roundRect">
            <a:avLst>
              <a:gd name="adj" fmla="val 3556"/>
            </a:avLst>
          </a:prstGeom>
          <a:solidFill>
            <a:srgbClr val="7B6FB5"/>
          </a:solidFill>
          <a:ln w="12700">
            <a:solidFill>
              <a:srgbClr val="7B6FB5"/>
            </a:solidFill>
            <a:prstDash val="solid"/>
          </a:ln>
        </p:spPr>
      </p:sp>
      <p:sp>
        <p:nvSpPr>
          <p:cNvPr id="16" name="pipeline head 4"/>
          <p:cNvSpPr txBox="1"/>
          <p:nvPr/>
        </p:nvSpPr>
        <p:spPr>
          <a:xfrm>
            <a:off x="7406640" y="1691640"/>
            <a:ext cx="1783080" cy="45720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Pareto GA</a:t>
            </a:r>
            <a:endParaRPr lang="en-US" sz="1900" dirty="0"/>
          </a:p>
        </p:txBody>
      </p:sp>
      <p:sp>
        <p:nvSpPr>
          <p:cNvPr id="17" name="pipeline text 4"/>
          <p:cNvSpPr txBox="1"/>
          <p:nvPr/>
        </p:nvSpPr>
        <p:spPr>
          <a:xfrm>
            <a:off x="7406640" y="2194560"/>
            <a:ext cx="178308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Steady-state, NSGA-II ranking; cache holds raw objective vectors only</a:t>
            </a:r>
            <a:endParaRPr lang="en-US" sz="1400" dirty="0"/>
          </a:p>
        </p:txBody>
      </p:sp>
      <p:sp>
        <p:nvSpPr>
          <p:cNvPr id="18" name="pipeline arrow 4"/>
          <p:cNvSpPr/>
          <p:nvPr/>
        </p:nvSpPr>
        <p:spPr>
          <a:xfrm>
            <a:off x="9336024" y="2743200"/>
            <a:ext cx="164592" cy="0"/>
          </a:xfrm>
          <a:prstGeom prst="line">
            <a:avLst/>
          </a:prstGeom>
          <a:noFill/>
          <a:ln w="25400">
            <a:solidFill>
              <a:srgbClr val="10212B"/>
            </a:solidFill>
            <a:prstDash val="solid"/>
            <a:tailEnd type="triangle"/>
          </a:ln>
        </p:spPr>
      </p:sp>
      <p:sp>
        <p:nvSpPr>
          <p:cNvPr id="19" name="pipeline box 5"/>
          <p:cNvSpPr/>
          <p:nvPr/>
        </p:nvSpPr>
        <p:spPr>
          <a:xfrm>
            <a:off x="9509760" y="1554480"/>
            <a:ext cx="2057400" cy="2377440"/>
          </a:xfrm>
          <a:prstGeom prst="roundRect">
            <a:avLst>
              <a:gd name="adj" fmla="val 3556"/>
            </a:avLst>
          </a:prstGeom>
          <a:solidFill>
            <a:srgbClr val="0B3C4F"/>
          </a:solidFill>
          <a:ln w="12700">
            <a:solidFill>
              <a:srgbClr val="0B3C4F"/>
            </a:solidFill>
            <a:prstDash val="solid"/>
          </a:ln>
        </p:spPr>
      </p:sp>
      <p:sp>
        <p:nvSpPr>
          <p:cNvPr id="20" name="pipeline head 5"/>
          <p:cNvSpPr txBox="1"/>
          <p:nvPr/>
        </p:nvSpPr>
        <p:spPr>
          <a:xfrm>
            <a:off x="9646920" y="1691640"/>
            <a:ext cx="1783080" cy="45720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Front</a:t>
            </a:r>
            <a:endParaRPr lang="en-US" sz="1900" dirty="0"/>
          </a:p>
        </p:txBody>
      </p:sp>
      <p:sp>
        <p:nvSpPr>
          <p:cNvPr id="21" name="pipeline text 5"/>
          <p:cNvSpPr txBox="1"/>
          <p:nvPr/>
        </p:nvSpPr>
        <p:spPr>
          <a:xfrm>
            <a:off x="9646920" y="2194560"/>
            <a:ext cx="1783080" cy="16459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Pick an operating point by accuracy budget, not by weights</a:t>
            </a:r>
            <a:endParaRPr lang="en-US" sz="1400" dirty="0"/>
          </a:p>
        </p:txBody>
      </p:sp>
      <p:sp>
        <p:nvSpPr>
          <p:cNvPr id="22" name="objective card 1"/>
          <p:cNvSpPr/>
          <p:nvPr/>
        </p:nvSpPr>
        <p:spPr>
          <a:xfrm>
            <a:off x="548640" y="4251960"/>
            <a:ext cx="3566160" cy="1828800"/>
          </a:xfrm>
          <a:prstGeom prst="roundRect">
            <a:avLst>
              <a:gd name="adj" fmla="val 4000"/>
            </a:avLst>
          </a:prstGeom>
          <a:solidFill>
            <a:schemeClr val="bg2"/>
          </a:solidFill>
          <a:ln w="12700">
            <a:solidFill>
              <a:schemeClr val="bg2"/>
            </a:solidFill>
            <a:prstDash val="solid"/>
          </a:ln>
        </p:spPr>
      </p:sp>
      <p:sp>
        <p:nvSpPr>
          <p:cNvPr id="23" name="objective name 1"/>
          <p:cNvSpPr txBox="1"/>
          <p:nvPr/>
        </p:nvSpPr>
        <p:spPr>
          <a:xfrm>
            <a:off x="731520" y="4343400"/>
            <a:ext cx="3200400" cy="365760"/>
          </a:xfrm>
          <a:prstGeom prst="rect">
            <a:avLst/>
          </a:prstGeom>
          <a:noFill/>
          <a:ln/>
        </p:spPr>
        <p:txBody>
          <a:bodyPr wrap="square" lIns="0" tIns="0" rIns="0" bIns="0" rtlCol="0" anchor="ctr"/>
          <a:lstStyle/>
          <a:p>
            <a:pPr indent="0" marL="0">
              <a:buNone/>
            </a:pPr>
            <a:r>
              <a:rPr lang="en-US" sz="1700" b="1" dirty="0">
                <a:solidFill>
                  <a:srgbClr val="D1495B"/>
                </a:solidFill>
                <a:latin typeface="Calibri" pitchFamily="34" charset="0"/>
                <a:ea typeface="Calibri" pitchFamily="34" charset="-122"/>
                <a:cs typeface="Calibri" pitchFamily="34" charset="-120"/>
              </a:rPr>
              <a:t>accuracy_penalty</a:t>
            </a:r>
            <a:endParaRPr lang="en-US" sz="1700" dirty="0"/>
          </a:p>
        </p:txBody>
      </p:sp>
      <p:sp>
        <p:nvSpPr>
          <p:cNvPr id="24" name="objective formula 1"/>
          <p:cNvSpPr txBox="1"/>
          <p:nvPr/>
        </p:nvSpPr>
        <p:spPr>
          <a:xfrm>
            <a:off x="731520" y="4736592"/>
            <a:ext cx="320040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exp(KLD) - 1</a:t>
            </a:r>
            <a:endParaRPr lang="en-US" sz="1500" dirty="0"/>
          </a:p>
        </p:txBody>
      </p:sp>
      <p:sp>
        <p:nvSpPr>
          <p:cNvPr id="25" name="objective text 1"/>
          <p:cNvSpPr txBox="1"/>
          <p:nvPr/>
        </p:nvSpPr>
        <p:spPr>
          <a:xfrm>
            <a:off x="731520" y="5138928"/>
            <a:ext cx="32004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expected perplexity increase, measured against the original model's logits</a:t>
            </a:r>
            <a:endParaRPr lang="en-US" sz="1400" dirty="0"/>
          </a:p>
        </p:txBody>
      </p:sp>
      <p:sp>
        <p:nvSpPr>
          <p:cNvPr id="26" name="objective card 2"/>
          <p:cNvSpPr/>
          <p:nvPr/>
        </p:nvSpPr>
        <p:spPr>
          <a:xfrm>
            <a:off x="4297680" y="4251960"/>
            <a:ext cx="3566160" cy="1828800"/>
          </a:xfrm>
          <a:prstGeom prst="roundRect">
            <a:avLst>
              <a:gd name="adj" fmla="val 4000"/>
            </a:avLst>
          </a:prstGeom>
          <a:solidFill>
            <a:schemeClr val="bg2"/>
          </a:solidFill>
          <a:ln w="12700">
            <a:solidFill>
              <a:schemeClr val="bg2"/>
            </a:solidFill>
            <a:prstDash val="solid"/>
          </a:ln>
        </p:spPr>
      </p:sp>
      <p:sp>
        <p:nvSpPr>
          <p:cNvPr id="27" name="objective name 2"/>
          <p:cNvSpPr txBox="1"/>
          <p:nvPr/>
        </p:nvSpPr>
        <p:spPr>
          <a:xfrm>
            <a:off x="4480560" y="4343400"/>
            <a:ext cx="3200400" cy="365760"/>
          </a:xfrm>
          <a:prstGeom prst="rect">
            <a:avLst/>
          </a:prstGeom>
          <a:noFill/>
          <a:ln/>
        </p:spPr>
        <p:txBody>
          <a:bodyPr wrap="square" lIns="0" tIns="0" rIns="0" bIns="0" rtlCol="0" anchor="ctr"/>
          <a:lstStyle/>
          <a:p>
            <a:pPr indent="0" marL="0">
              <a:buNone/>
            </a:pPr>
            <a:r>
              <a:rPr lang="en-US" sz="1700" b="1" dirty="0">
                <a:solidFill>
                  <a:srgbClr val="2E9E8A"/>
                </a:solidFill>
                <a:latin typeface="Calibri" pitchFamily="34" charset="0"/>
                <a:ea typeface="Calibri" pitchFamily="34" charset="-122"/>
                <a:cs typeface="Calibri" pitchFamily="34" charset="-120"/>
              </a:rPr>
              <a:t>speed_gain</a:t>
            </a:r>
            <a:endParaRPr lang="en-US" sz="1700" dirty="0"/>
          </a:p>
        </p:txBody>
      </p:sp>
      <p:sp>
        <p:nvSpPr>
          <p:cNvPr id="28" name="objective formula 2"/>
          <p:cNvSpPr txBox="1"/>
          <p:nvPr/>
        </p:nvSpPr>
        <p:spPr>
          <a:xfrm>
            <a:off x="4480560" y="4736592"/>
            <a:ext cx="320040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decode tok/s / baseline - 1</a:t>
            </a:r>
            <a:endParaRPr lang="en-US" sz="1500" dirty="0"/>
          </a:p>
        </p:txBody>
      </p:sp>
      <p:sp>
        <p:nvSpPr>
          <p:cNvPr id="29" name="objective text 2"/>
          <p:cNvSpPr txBox="1"/>
          <p:nvPr/>
        </p:nvSpPr>
        <p:spPr>
          <a:xfrm>
            <a:off x="4480560" y="5138928"/>
            <a:ext cx="32004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decode is bandwidth-bound and what users feel on an edge device</a:t>
            </a:r>
            <a:endParaRPr lang="en-US" sz="1400" dirty="0"/>
          </a:p>
        </p:txBody>
      </p:sp>
      <p:sp>
        <p:nvSpPr>
          <p:cNvPr id="30" name="objective card 3"/>
          <p:cNvSpPr/>
          <p:nvPr/>
        </p:nvSpPr>
        <p:spPr>
          <a:xfrm>
            <a:off x="8046720" y="4251960"/>
            <a:ext cx="3566160" cy="1828800"/>
          </a:xfrm>
          <a:prstGeom prst="roundRect">
            <a:avLst>
              <a:gd name="adj" fmla="val 4000"/>
            </a:avLst>
          </a:prstGeom>
          <a:solidFill>
            <a:schemeClr val="bg2"/>
          </a:solidFill>
          <a:ln w="12700">
            <a:solidFill>
              <a:schemeClr val="bg2"/>
            </a:solidFill>
            <a:prstDash val="solid"/>
          </a:ln>
        </p:spPr>
      </p:sp>
      <p:sp>
        <p:nvSpPr>
          <p:cNvPr id="31" name="objective name 3"/>
          <p:cNvSpPr txBox="1"/>
          <p:nvPr/>
        </p:nvSpPr>
        <p:spPr>
          <a:xfrm>
            <a:off x="8229600" y="4343400"/>
            <a:ext cx="3200400" cy="365760"/>
          </a:xfrm>
          <a:prstGeom prst="rect">
            <a:avLst/>
          </a:prstGeom>
          <a:noFill/>
          <a:ln/>
        </p:spPr>
        <p:txBody>
          <a:bodyPr wrap="square" lIns="0" tIns="0" rIns="0" bIns="0" rtlCol="0" anchor="ctr"/>
          <a:lstStyle/>
          <a:p>
            <a:pPr indent="0" marL="0">
              <a:buNone/>
            </a:pPr>
            <a:r>
              <a:rPr lang="en-US" sz="1700" b="1" dirty="0">
                <a:solidFill>
                  <a:srgbClr val="9A5B00"/>
                </a:solidFill>
                <a:latin typeface="Calibri" pitchFamily="34" charset="0"/>
                <a:ea typeface="Calibri" pitchFamily="34" charset="-122"/>
                <a:cs typeface="Calibri" pitchFamily="34" charset="-120"/>
              </a:rPr>
              <a:t>energy_gain</a:t>
            </a:r>
            <a:endParaRPr lang="en-US" sz="1700" dirty="0"/>
          </a:p>
        </p:txBody>
      </p:sp>
      <p:sp>
        <p:nvSpPr>
          <p:cNvPr id="32" name="objective formula 3"/>
          <p:cNvSpPr txBox="1"/>
          <p:nvPr/>
        </p:nvSpPr>
        <p:spPr>
          <a:xfrm>
            <a:off x="8229600" y="4736592"/>
            <a:ext cx="3200400"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1 - J/token / baseline</a:t>
            </a:r>
            <a:endParaRPr lang="en-US" sz="1500" dirty="0"/>
          </a:p>
        </p:txBody>
      </p:sp>
      <p:sp>
        <p:nvSpPr>
          <p:cNvPr id="33" name="objective text 3"/>
          <p:cNvSpPr txBox="1"/>
          <p:nvPr/>
        </p:nvSpPr>
        <p:spPr>
          <a:xfrm>
            <a:off x="8229600" y="5138928"/>
            <a:ext cx="32004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net of idle power, from the same run as the speed measurement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Strategy: spend Mac dollars only on what only the Mac can answer</a:t>
            </a:r>
            <a:endParaRPr lang="en-US" sz="2800" dirty="0"/>
          </a:p>
        </p:txBody>
      </p:sp>
      <p:sp>
        <p:nvSpPr>
          <p:cNvPr id="3" name="tier card T0"/>
          <p:cNvSpPr/>
          <p:nvPr/>
        </p:nvSpPr>
        <p:spPr>
          <a:xfrm>
            <a:off x="548640" y="1508760"/>
            <a:ext cx="2103120" cy="3749040"/>
          </a:xfrm>
          <a:prstGeom prst="roundRect">
            <a:avLst>
              <a:gd name="adj" fmla="val 3478"/>
            </a:avLst>
          </a:prstGeom>
          <a:solidFill>
            <a:schemeClr val="bg2"/>
          </a:solidFill>
          <a:ln w="12700">
            <a:solidFill>
              <a:schemeClr val="bg2"/>
            </a:solidFill>
            <a:prstDash val="solid"/>
          </a:ln>
        </p:spPr>
      </p:sp>
      <p:sp>
        <p:nvSpPr>
          <p:cNvPr id="4" name="tier badge T0"/>
          <p:cNvSpPr/>
          <p:nvPr/>
        </p:nvSpPr>
        <p:spPr>
          <a:xfrm>
            <a:off x="731520" y="1691640"/>
            <a:ext cx="777240" cy="777240"/>
          </a:xfrm>
          <a:prstGeom prst="ellipse">
            <a:avLst/>
          </a:prstGeom>
          <a:solidFill>
            <a:schemeClr val="accent3"/>
          </a:solidFill>
          <a:ln w="12700">
            <a:solidFill>
              <a:schemeClr val="accent3"/>
            </a:solidFill>
            <a:prstDash val="solid"/>
          </a:ln>
        </p:spPr>
      </p:sp>
      <p:sp>
        <p:nvSpPr>
          <p:cNvPr id="5" name="tier label T0"/>
          <p:cNvSpPr txBox="1"/>
          <p:nvPr/>
        </p:nvSpPr>
        <p:spPr>
          <a:xfrm>
            <a:off x="73152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T0</a:t>
            </a:r>
            <a:endParaRPr lang="en-US" sz="2000" dirty="0"/>
          </a:p>
        </p:txBody>
      </p:sp>
      <p:sp>
        <p:nvSpPr>
          <p:cNvPr id="6" name="tier name T0"/>
          <p:cNvSpPr txBox="1"/>
          <p:nvPr/>
        </p:nvSpPr>
        <p:spPr>
          <a:xfrm>
            <a:off x="731520" y="2606040"/>
            <a:ext cx="173736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Desktop, no GPU</a:t>
            </a:r>
            <a:endParaRPr lang="en-US" sz="1700" dirty="0"/>
          </a:p>
        </p:txBody>
      </p:sp>
      <p:sp>
        <p:nvSpPr>
          <p:cNvPr id="7" name="tier text T0"/>
          <p:cNvSpPr txBox="1"/>
          <p:nvPr/>
        </p:nvSpPr>
        <p:spPr>
          <a:xfrm>
            <a:off x="731520" y="3291840"/>
            <a:ext cx="173736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Unit tests, GA, GGUF assembler, parsers, energy-meter backends</a:t>
            </a:r>
            <a:endParaRPr lang="en-US" sz="1400" dirty="0"/>
          </a:p>
        </p:txBody>
      </p:sp>
      <p:sp>
        <p:nvSpPr>
          <p:cNvPr id="8" name="tier cost T0"/>
          <p:cNvSpPr txBox="1"/>
          <p:nvPr/>
        </p:nvSpPr>
        <p:spPr>
          <a:xfrm>
            <a:off x="731520" y="4709160"/>
            <a:ext cx="1737360" cy="36576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free</a:t>
            </a:r>
            <a:endParaRPr lang="en-US" sz="1400" dirty="0"/>
          </a:p>
        </p:txBody>
      </p:sp>
      <p:sp>
        <p:nvSpPr>
          <p:cNvPr id="9" name="tier card T1"/>
          <p:cNvSpPr/>
          <p:nvPr/>
        </p:nvSpPr>
        <p:spPr>
          <a:xfrm>
            <a:off x="2788920" y="1508760"/>
            <a:ext cx="2103120" cy="3749040"/>
          </a:xfrm>
          <a:prstGeom prst="roundRect">
            <a:avLst>
              <a:gd name="adj" fmla="val 3478"/>
            </a:avLst>
          </a:prstGeom>
          <a:solidFill>
            <a:schemeClr val="bg2"/>
          </a:solidFill>
          <a:ln w="12700">
            <a:solidFill>
              <a:schemeClr val="bg2"/>
            </a:solidFill>
            <a:prstDash val="solid"/>
          </a:ln>
        </p:spPr>
      </p:sp>
      <p:sp>
        <p:nvSpPr>
          <p:cNvPr id="10" name="tier badge T1"/>
          <p:cNvSpPr/>
          <p:nvPr/>
        </p:nvSpPr>
        <p:spPr>
          <a:xfrm>
            <a:off x="2971800" y="1691640"/>
            <a:ext cx="777240" cy="777240"/>
          </a:xfrm>
          <a:prstGeom prst="ellipse">
            <a:avLst/>
          </a:prstGeom>
          <a:solidFill>
            <a:schemeClr val="accent3"/>
          </a:solidFill>
          <a:ln w="12700">
            <a:solidFill>
              <a:schemeClr val="accent3"/>
            </a:solidFill>
            <a:prstDash val="solid"/>
          </a:ln>
        </p:spPr>
      </p:sp>
      <p:sp>
        <p:nvSpPr>
          <p:cNvPr id="11" name="tier label T1"/>
          <p:cNvSpPr txBox="1"/>
          <p:nvPr/>
        </p:nvSpPr>
        <p:spPr>
          <a:xfrm>
            <a:off x="297180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T1</a:t>
            </a:r>
            <a:endParaRPr lang="en-US" sz="2000" dirty="0"/>
          </a:p>
        </p:txBody>
      </p:sp>
      <p:sp>
        <p:nvSpPr>
          <p:cNvPr id="12" name="tier name T1"/>
          <p:cNvSpPr txBox="1"/>
          <p:nvPr/>
        </p:nvSpPr>
        <p:spPr>
          <a:xfrm>
            <a:off x="2971800" y="2606040"/>
            <a:ext cx="173736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Desktop + RTX 3080</a:t>
            </a:r>
            <a:endParaRPr lang="en-US" sz="1700" dirty="0"/>
          </a:p>
        </p:txBody>
      </p:sp>
      <p:sp>
        <p:nvSpPr>
          <p:cNvPr id="13" name="tier text T1"/>
          <p:cNvSpPr txBox="1"/>
          <p:nvPr/>
        </p:nvSpPr>
        <p:spPr>
          <a:xfrm>
            <a:off x="2971800" y="3291840"/>
            <a:ext cx="173736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Real models, real accuracy, 2 search models, dry-run searches</a:t>
            </a:r>
            <a:endParaRPr lang="en-US" sz="1400" dirty="0"/>
          </a:p>
        </p:txBody>
      </p:sp>
      <p:sp>
        <p:nvSpPr>
          <p:cNvPr id="14" name="tier cost T1"/>
          <p:cNvSpPr txBox="1"/>
          <p:nvPr/>
        </p:nvSpPr>
        <p:spPr>
          <a:xfrm>
            <a:off x="2971800" y="4709160"/>
            <a:ext cx="1737360" cy="36576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free</a:t>
            </a:r>
            <a:endParaRPr lang="en-US" sz="1400" dirty="0"/>
          </a:p>
        </p:txBody>
      </p:sp>
      <p:sp>
        <p:nvSpPr>
          <p:cNvPr id="15" name="tier card T2"/>
          <p:cNvSpPr/>
          <p:nvPr/>
        </p:nvSpPr>
        <p:spPr>
          <a:xfrm>
            <a:off x="5029200" y="1508760"/>
            <a:ext cx="2103120" cy="3749040"/>
          </a:xfrm>
          <a:prstGeom prst="roundRect">
            <a:avLst>
              <a:gd name="adj" fmla="val 3478"/>
            </a:avLst>
          </a:prstGeom>
          <a:solidFill>
            <a:schemeClr val="bg2"/>
          </a:solidFill>
          <a:ln w="12700">
            <a:solidFill>
              <a:schemeClr val="bg2"/>
            </a:solidFill>
            <a:prstDash val="solid"/>
          </a:ln>
        </p:spPr>
      </p:sp>
      <p:sp>
        <p:nvSpPr>
          <p:cNvPr id="16" name="tier badge T2"/>
          <p:cNvSpPr/>
          <p:nvPr/>
        </p:nvSpPr>
        <p:spPr>
          <a:xfrm>
            <a:off x="5212080" y="1691640"/>
            <a:ext cx="777240" cy="777240"/>
          </a:xfrm>
          <a:prstGeom prst="ellipse">
            <a:avLst/>
          </a:prstGeom>
          <a:solidFill>
            <a:schemeClr val="accent3"/>
          </a:solidFill>
          <a:ln w="12700">
            <a:solidFill>
              <a:schemeClr val="accent3"/>
            </a:solidFill>
            <a:prstDash val="solid"/>
          </a:ln>
        </p:spPr>
      </p:sp>
      <p:sp>
        <p:nvSpPr>
          <p:cNvPr id="17" name="tier label T2"/>
          <p:cNvSpPr txBox="1"/>
          <p:nvPr/>
        </p:nvSpPr>
        <p:spPr>
          <a:xfrm>
            <a:off x="521208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T2</a:t>
            </a:r>
            <a:endParaRPr lang="en-US" sz="2000" dirty="0"/>
          </a:p>
        </p:txBody>
      </p:sp>
      <p:sp>
        <p:nvSpPr>
          <p:cNvPr id="18" name="tier name T2"/>
          <p:cNvSpPr txBox="1"/>
          <p:nvPr/>
        </p:nvSpPr>
        <p:spPr>
          <a:xfrm>
            <a:off x="5212080" y="2606040"/>
            <a:ext cx="173736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aarch64 emulation</a:t>
            </a:r>
            <a:endParaRPr lang="en-US" sz="1700" dirty="0"/>
          </a:p>
        </p:txBody>
      </p:sp>
      <p:sp>
        <p:nvSpPr>
          <p:cNvPr id="19" name="tier text T2"/>
          <p:cNvSpPr txBox="1"/>
          <p:nvPr/>
        </p:nvSpPr>
        <p:spPr>
          <a:xfrm>
            <a:off x="5212080" y="3291840"/>
            <a:ext cx="173736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Cross-built llama.cpp and NEON kernels under QEMU: correctness only</a:t>
            </a:r>
            <a:endParaRPr lang="en-US" sz="1400" dirty="0"/>
          </a:p>
        </p:txBody>
      </p:sp>
      <p:sp>
        <p:nvSpPr>
          <p:cNvPr id="20" name="tier cost T2"/>
          <p:cNvSpPr txBox="1"/>
          <p:nvPr/>
        </p:nvSpPr>
        <p:spPr>
          <a:xfrm>
            <a:off x="5212080" y="4709160"/>
            <a:ext cx="1737360" cy="36576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free</a:t>
            </a:r>
            <a:endParaRPr lang="en-US" sz="1400" dirty="0"/>
          </a:p>
        </p:txBody>
      </p:sp>
      <p:sp>
        <p:nvSpPr>
          <p:cNvPr id="21" name="tier card T3"/>
          <p:cNvSpPr/>
          <p:nvPr/>
        </p:nvSpPr>
        <p:spPr>
          <a:xfrm>
            <a:off x="7269480" y="1508760"/>
            <a:ext cx="2103120" cy="3749040"/>
          </a:xfrm>
          <a:prstGeom prst="roundRect">
            <a:avLst>
              <a:gd name="adj" fmla="val 3478"/>
            </a:avLst>
          </a:prstGeom>
          <a:solidFill>
            <a:schemeClr val="bg2"/>
          </a:solidFill>
          <a:ln w="12700">
            <a:solidFill>
              <a:schemeClr val="bg2"/>
            </a:solidFill>
            <a:prstDash val="solid"/>
          </a:ln>
        </p:spPr>
      </p:sp>
      <p:sp>
        <p:nvSpPr>
          <p:cNvPr id="22" name="tier badge T3"/>
          <p:cNvSpPr/>
          <p:nvPr/>
        </p:nvSpPr>
        <p:spPr>
          <a:xfrm>
            <a:off x="7452360" y="1691640"/>
            <a:ext cx="777240" cy="777240"/>
          </a:xfrm>
          <a:prstGeom prst="ellipse">
            <a:avLst/>
          </a:prstGeom>
          <a:solidFill>
            <a:schemeClr val="accent3"/>
          </a:solidFill>
          <a:ln w="12700">
            <a:solidFill>
              <a:schemeClr val="accent3"/>
            </a:solidFill>
            <a:prstDash val="solid"/>
          </a:ln>
        </p:spPr>
      </p:sp>
      <p:sp>
        <p:nvSpPr>
          <p:cNvPr id="23" name="tier label T3"/>
          <p:cNvSpPr txBox="1"/>
          <p:nvPr/>
        </p:nvSpPr>
        <p:spPr>
          <a:xfrm>
            <a:off x="745236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T3</a:t>
            </a:r>
            <a:endParaRPr lang="en-US" sz="2000" dirty="0"/>
          </a:p>
        </p:txBody>
      </p:sp>
      <p:sp>
        <p:nvSpPr>
          <p:cNvPr id="24" name="tier name T3"/>
          <p:cNvSpPr txBox="1"/>
          <p:nvPr/>
        </p:nvSpPr>
        <p:spPr>
          <a:xfrm>
            <a:off x="7452360" y="2606040"/>
            <a:ext cx="173736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AWS Graviton3</a:t>
            </a:r>
            <a:endParaRPr lang="en-US" sz="1700" dirty="0"/>
          </a:p>
        </p:txBody>
      </p:sp>
      <p:sp>
        <p:nvSpPr>
          <p:cNvPr id="25" name="tier text T3"/>
          <p:cNvSpPr txBox="1"/>
          <p:nvPr/>
        </p:nvSpPr>
        <p:spPr>
          <a:xfrm>
            <a:off x="7452360" y="3291840"/>
            <a:ext cx="173736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Native Arm Linux: KleidiAI on/off, roofline, kernels, and a dress rehearsal of the Mac workflow</a:t>
            </a:r>
            <a:endParaRPr lang="en-US" sz="1400" dirty="0"/>
          </a:p>
        </p:txBody>
      </p:sp>
      <p:sp>
        <p:nvSpPr>
          <p:cNvPr id="26" name="tier cost T3"/>
          <p:cNvSpPr txBox="1"/>
          <p:nvPr/>
        </p:nvSpPr>
        <p:spPr>
          <a:xfrm>
            <a:off x="7452360" y="4709160"/>
            <a:ext cx="1737360" cy="36576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done: a few dollars</a:t>
            </a:r>
            <a:endParaRPr lang="en-US" sz="1400" dirty="0"/>
          </a:p>
        </p:txBody>
      </p:sp>
      <p:sp>
        <p:nvSpPr>
          <p:cNvPr id="27" name="tier card T4"/>
          <p:cNvSpPr/>
          <p:nvPr/>
        </p:nvSpPr>
        <p:spPr>
          <a:xfrm>
            <a:off x="9509760" y="1508760"/>
            <a:ext cx="2103120" cy="3749040"/>
          </a:xfrm>
          <a:prstGeom prst="roundRect">
            <a:avLst>
              <a:gd name="adj" fmla="val 3478"/>
            </a:avLst>
          </a:prstGeom>
          <a:solidFill>
            <a:schemeClr val="bg2"/>
          </a:solidFill>
          <a:ln w="12700">
            <a:solidFill>
              <a:schemeClr val="bg2"/>
            </a:solidFill>
            <a:prstDash val="solid"/>
          </a:ln>
        </p:spPr>
      </p:sp>
      <p:sp>
        <p:nvSpPr>
          <p:cNvPr id="28" name="tier badge T4"/>
          <p:cNvSpPr/>
          <p:nvPr/>
        </p:nvSpPr>
        <p:spPr>
          <a:xfrm>
            <a:off x="9692640" y="1691640"/>
            <a:ext cx="777240" cy="777240"/>
          </a:xfrm>
          <a:prstGeom prst="ellipse">
            <a:avLst/>
          </a:prstGeom>
          <a:solidFill>
            <a:schemeClr val="accent2"/>
          </a:solidFill>
          <a:ln w="12700">
            <a:solidFill>
              <a:schemeClr val="accent2"/>
            </a:solidFill>
            <a:prstDash val="solid"/>
          </a:ln>
        </p:spPr>
      </p:sp>
      <p:sp>
        <p:nvSpPr>
          <p:cNvPr id="29" name="tier label T4"/>
          <p:cNvSpPr txBox="1"/>
          <p:nvPr/>
        </p:nvSpPr>
        <p:spPr>
          <a:xfrm>
            <a:off x="9692640" y="16916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T4</a:t>
            </a:r>
            <a:endParaRPr lang="en-US" sz="2000" dirty="0"/>
          </a:p>
        </p:txBody>
      </p:sp>
      <p:sp>
        <p:nvSpPr>
          <p:cNvPr id="30" name="tier name T4"/>
          <p:cNvSpPr txBox="1"/>
          <p:nvPr/>
        </p:nvSpPr>
        <p:spPr>
          <a:xfrm>
            <a:off x="9692640" y="2606040"/>
            <a:ext cx="173736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AWS Mac, Apple M4</a:t>
            </a:r>
            <a:endParaRPr lang="en-US" sz="1700" dirty="0"/>
          </a:p>
        </p:txBody>
      </p:sp>
      <p:sp>
        <p:nvSpPr>
          <p:cNvPr id="31" name="tier text T4"/>
          <p:cNvSpPr txBox="1"/>
          <p:nvPr/>
        </p:nvSpPr>
        <p:spPr>
          <a:xfrm>
            <a:off x="9692640" y="3291840"/>
            <a:ext cx="1737360" cy="12801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only source of M4 speed and energy; 24-hour minimum on a Dedicated Host</a:t>
            </a:r>
            <a:endParaRPr lang="en-US" sz="1400" dirty="0"/>
          </a:p>
        </p:txBody>
      </p:sp>
      <p:sp>
        <p:nvSpPr>
          <p:cNvPr id="32" name="tier cost T4"/>
          <p:cNvSpPr txBox="1"/>
          <p:nvPr/>
        </p:nvSpPr>
        <p:spPr>
          <a:xfrm>
            <a:off x="9692640" y="4709160"/>
            <a:ext cx="1737360" cy="365760"/>
          </a:xfrm>
          <a:prstGeom prst="rect">
            <a:avLst/>
          </a:prstGeom>
          <a:noFill/>
          <a:ln/>
        </p:spPr>
        <p:txBody>
          <a:bodyPr wrap="square" lIns="0" tIns="0" rIns="0" bIns="0" rtlCol="0" anchor="ctr"/>
          <a:lstStyle/>
          <a:p>
            <a:pPr indent="0" marL="0">
              <a:buNone/>
            </a:pPr>
            <a:r>
              <a:rPr lang="en-US" sz="1400" b="1" dirty="0">
                <a:solidFill>
                  <a:srgbClr val="9A5B00"/>
                </a:solidFill>
                <a:latin typeface="Calibri" pitchFamily="34" charset="0"/>
                <a:ea typeface="Calibri" pitchFamily="34" charset="-122"/>
                <a:cs typeface="Calibri" pitchFamily="34" charset="-120"/>
              </a:rPr>
              <a:t>about $30 for 24 h</a:t>
            </a:r>
            <a:endParaRPr lang="en-US" sz="1400" dirty="0"/>
          </a:p>
        </p:txBody>
      </p:sp>
      <p:sp>
        <p:nvSpPr>
          <p:cNvPr id="33" name="tier rule"/>
          <p:cNvSpPr txBox="1"/>
          <p:nvPr/>
        </p:nvSpPr>
        <p:spPr>
          <a:xfrm>
            <a:off x="548640" y="5486400"/>
            <a:ext cx="11064240" cy="640080"/>
          </a:xfrm>
          <a:prstGeom prst="rect">
            <a:avLst/>
          </a:prstGeom>
          <a:noFill/>
          <a:ln/>
        </p:spPr>
        <p:txBody>
          <a:bodyPr wrap="square" lIns="0" tIns="0" rIns="0" bIns="0" rtlCol="0" anchor="ctr"/>
          <a:lstStyle/>
          <a:p>
            <a:pPr indent="0" marL="0">
              <a:buNone/>
            </a:pPr>
            <a:r>
              <a:rPr lang="en-US" sz="1600" i="1" dirty="0">
                <a:solidFill>
                  <a:schemeClr val="tx2"/>
                </a:solidFill>
                <a:latin typeface="Calibri" pitchFamily="34" charset="0"/>
                <a:ea typeface="Calibri" pitchFamily="34" charset="-122"/>
                <a:cs typeface="Calibri" pitchFamily="34" charset="-120"/>
              </a:rPr>
              <a:t>Rule: promote a tier only when the one below is green. Anything a cheap tier could have caught is a process failure on the expensive one.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Perplexity deltas were noise; KL divergence is not</a:t>
            </a:r>
            <a:endParaRPr lang="en-US" sz="2800" dirty="0"/>
          </a:p>
        </p:txBody>
      </p:sp>
      <p:graphicFrame>
        <p:nvGraphicFramePr>
          <p:cNvPr id="3" name="Chart 0" descr=""/>
          <p:cNvGraphicFramePr/>
          <p:nvPr/>
        </p:nvGraphicFramePr>
        <p:xfrm>
          <a:off x="548640" y="1371600"/>
          <a:ext cx="5486400" cy="4663440"/>
        </p:xfrm>
        <a:graphic xmlns:a="http://schemas.openxmlformats.org/drawingml/2006/main">
          <a:graphicData uri="http://schemas.openxmlformats.org/drawingml/2006/chart">
            <c:chart xmlns:c="http://schemas.openxmlformats.org/drawingml/2006/chart" r:id="rId1"/>
          </a:graphicData>
        </a:graphic>
      </p:graphicFrame>
      <p:sp>
        <p:nvSpPr>
          <p:cNvPr id="4" name="metric bullets"/>
          <p:cNvSpPr txBox="1"/>
          <p:nvPr/>
        </p:nvSpPr>
        <p:spPr>
          <a:xfrm>
            <a:off x="6400800" y="1463040"/>
            <a:ext cx="5212080" cy="33832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Single-block penalties from perplexity came out negative (quantizing a block "improved" the model)</a:t>
            </a:r>
            <a:endParaRPr lang="en-US" sz="1600" dirty="0"/>
          </a:p>
          <a:p>
            <a:pPr marL="203200" indent="-2032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Single-block sums disagreed with the uniform genome, and two backends' profiles did not correlate (Spearman -0.33 / -0.24)</a:t>
            </a:r>
            <a:endParaRPr lang="en-US" sz="1600" dirty="0"/>
          </a:p>
          <a:p>
            <a:pPr marL="203200" indent="-2032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KL divergence to the original model's logits: ~5% relative error, noise floor 1e-5 nats</a:t>
            </a:r>
            <a:endParaRPr lang="en-US" sz="1600" dirty="0"/>
          </a:p>
          <a:p>
            <a:pPr marL="203200" indent="-2032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The same Q8_0 effect: PPL ratio 1.0038 +/- 0.0023 vs KLD 0.00165 +/- 0.00009</a:t>
            </a:r>
            <a:endParaRPr lang="en-US" sz="1600" dirty="0"/>
          </a:p>
        </p:txBody>
      </p:sp>
      <p:sp>
        <p:nvSpPr>
          <p:cNvPr id="5" name="metric callout"/>
          <p:cNvSpPr/>
          <p:nvPr/>
        </p:nvSpPr>
        <p:spPr>
          <a:xfrm>
            <a:off x="6400800" y="4892040"/>
            <a:ext cx="5212080" cy="1188720"/>
          </a:xfrm>
          <a:prstGeom prst="roundRect">
            <a:avLst>
              <a:gd name="adj" fmla="val 6154"/>
            </a:avLst>
          </a:prstGeom>
          <a:solidFill>
            <a:schemeClr val="tx2"/>
          </a:solidFill>
          <a:ln w="12700">
            <a:solidFill>
              <a:schemeClr val="tx2"/>
            </a:solidFill>
            <a:prstDash val="solid"/>
          </a:ln>
        </p:spPr>
      </p:sp>
      <p:sp>
        <p:nvSpPr>
          <p:cNvPr id="6" name="metric callout text"/>
          <p:cNvSpPr txBox="1"/>
          <p:nvPr/>
        </p:nvSpPr>
        <p:spPr>
          <a:xfrm>
            <a:off x="6583680" y="4937760"/>
            <a:ext cx="4846320" cy="10972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Any conclusion drawn from small perplexity differences on one fixed slice carries this noise, and a search can fit it.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4-bit sensitivity is quantizer-independent; 8-bit is not</a:t>
            </a:r>
            <a:endParaRPr lang="en-US" sz="2800" dirty="0"/>
          </a:p>
        </p:txBody>
      </p:sp>
      <p:graphicFrame>
        <p:nvGraphicFramePr>
          <p:cNvPr id="3" name="Chart 0" descr=""/>
          <p:cNvGraphicFramePr/>
          <p:nvPr/>
        </p:nvGraphicFramePr>
        <p:xfrm>
          <a:off x="548640" y="137160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stat spearman value"/>
          <p:cNvSpPr txBox="1"/>
          <p:nvPr/>
        </p:nvSpPr>
        <p:spPr>
          <a:xfrm>
            <a:off x="7863840" y="1417320"/>
            <a:ext cx="3749040" cy="685800"/>
          </a:xfrm>
          <a:prstGeom prst="rect">
            <a:avLst/>
          </a:prstGeom>
          <a:noFill/>
          <a:ln/>
        </p:spPr>
        <p:txBody>
          <a:bodyPr wrap="square" lIns="0" tIns="0" rIns="0" bIns="0" rtlCol="0" anchor="b"/>
          <a:lstStyle/>
          <a:p>
            <a:pPr indent="0" marL="0">
              <a:buNone/>
            </a:pPr>
            <a:r>
              <a:rPr lang="en-US" sz="4000" b="1" dirty="0">
                <a:solidFill>
                  <a:srgbClr val="2E9E8A"/>
                </a:solidFill>
                <a:latin typeface="Cambria" pitchFamily="34" charset="0"/>
                <a:ea typeface="Cambria" pitchFamily="34" charset="-122"/>
                <a:cs typeface="Cambria" pitchFamily="34" charset="-120"/>
              </a:rPr>
              <a:t>0.976</a:t>
            </a:r>
            <a:endParaRPr lang="en-US" sz="4000" dirty="0"/>
          </a:p>
        </p:txBody>
      </p:sp>
      <p:sp>
        <p:nvSpPr>
          <p:cNvPr id="5" name="stat spearman label"/>
          <p:cNvSpPr txBox="1"/>
          <p:nvPr/>
        </p:nvSpPr>
        <p:spPr>
          <a:xfrm>
            <a:off x="7863840" y="2130552"/>
            <a:ext cx="37490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Spearman correlation of the Q4_0 and NF4 per-block profiles; the last block costs the most in both</a:t>
            </a:r>
            <a:endParaRPr lang="en-US" sz="1400" dirty="0"/>
          </a:p>
        </p:txBody>
      </p:sp>
      <p:sp>
        <p:nvSpPr>
          <p:cNvPr id="6" name="stat int8 spearman value"/>
          <p:cNvSpPr txBox="1"/>
          <p:nvPr/>
        </p:nvSpPr>
        <p:spPr>
          <a:xfrm>
            <a:off x="7863840" y="2926080"/>
            <a:ext cx="3749040" cy="685800"/>
          </a:xfrm>
          <a:prstGeom prst="rect">
            <a:avLst/>
          </a:prstGeom>
          <a:noFill/>
          <a:ln/>
        </p:spPr>
        <p:txBody>
          <a:bodyPr wrap="square" lIns="0" tIns="0" rIns="0" bIns="0" rtlCol="0" anchor="b"/>
          <a:lstStyle/>
          <a:p>
            <a:pPr indent="0" marL="0">
              <a:buNone/>
            </a:pPr>
            <a:r>
              <a:rPr lang="en-US" sz="4000" b="1" dirty="0">
                <a:solidFill>
                  <a:srgbClr val="D1495B"/>
                </a:solidFill>
                <a:latin typeface="Cambria" pitchFamily="34" charset="0"/>
                <a:ea typeface="Cambria" pitchFamily="34" charset="-122"/>
                <a:cs typeface="Cambria" pitchFamily="34" charset="-120"/>
              </a:rPr>
              <a:t>0.35</a:t>
            </a:r>
            <a:endParaRPr lang="en-US" sz="4000" dirty="0"/>
          </a:p>
        </p:txBody>
      </p:sp>
      <p:sp>
        <p:nvSpPr>
          <p:cNvPr id="7" name="stat int8 spearman label"/>
          <p:cNvSpPr txBox="1"/>
          <p:nvPr/>
        </p:nvSpPr>
        <p:spPr>
          <a:xfrm>
            <a:off x="7863840" y="3639312"/>
            <a:ext cx="374904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Spearman for 8-bit: bitsandbytes INT8 is front-loaded, Q8_0 is flat and ~16x cheaper in total</a:t>
            </a:r>
            <a:endParaRPr lang="en-US" sz="1400" dirty="0"/>
          </a:p>
        </p:txBody>
      </p:sp>
      <p:sp>
        <p:nvSpPr>
          <p:cNvPr id="8" name="readme card"/>
          <p:cNvSpPr/>
          <p:nvPr/>
        </p:nvSpPr>
        <p:spPr>
          <a:xfrm>
            <a:off x="7863840" y="4526280"/>
            <a:ext cx="3749040" cy="1554480"/>
          </a:xfrm>
          <a:prstGeom prst="roundRect">
            <a:avLst>
              <a:gd name="adj" fmla="val 4706"/>
            </a:avLst>
          </a:prstGeom>
          <a:solidFill>
            <a:schemeClr val="tx2"/>
          </a:solidFill>
          <a:ln w="12700">
            <a:solidFill>
              <a:schemeClr val="tx2"/>
            </a:solidFill>
            <a:prstDash val="solid"/>
          </a:ln>
        </p:spPr>
      </p:sp>
      <p:sp>
        <p:nvSpPr>
          <p:cNvPr id="9" name="readme text"/>
          <p:cNvSpPr txBox="1"/>
          <p:nvPr/>
        </p:nvSpPr>
        <p:spPr>
          <a:xfrm>
            <a:off x="8046720" y="4572000"/>
            <a:ext cx="3383280" cy="146304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README finding 3 revised: block 0 carries about 33% of bnb INT8 cost (3-5x an interior block), not 70% (30x).</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Across models the structure generalizes only partly</a:t>
            </a:r>
            <a:endParaRPr lang="en-US" sz="2800" dirty="0"/>
          </a:p>
        </p:txBody>
      </p:sp>
      <p:graphicFrame>
        <p:nvGraphicFramePr>
          <p:cNvPr id="3" name="Chart 0" descr=""/>
          <p:cNvGraphicFramePr/>
          <p:nvPr/>
        </p:nvGraphicFramePr>
        <p:xfrm>
          <a:off x="548640" y="1371600"/>
          <a:ext cx="65836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model table"/>
          <p:cNvGraphicFramePr>
            <a:graphicFrameLocks noGrp="1"/>
          </p:cNvGraphicFramePr>
          <p:nvPr>
            <p:extLst>
              <p:ext uri="{D42A27DB-BD31-4B8C-83A1-F6EECF244321}">
                <p14:modId xmlns:p14="http://schemas.microsoft.com/office/powerpoint/2010/main" val="1579011935"/>
              </p:ext>
            </p:extLst>
          </p:nvPr>
        </p:nvGraphicFramePr>
        <p:xfrm>
          <a:off x="548640" y="4709160"/>
          <a:ext cx="6583680" cy="914400"/>
        </p:xfrm>
        <a:graphic>
          <a:graphicData uri="http://schemas.openxmlformats.org/drawingml/2006/table">
            <a:tbl>
              <a:tblPr/>
              <a:tblGrid>
                <a:gridCol w="1554480"/>
                <a:gridCol w="731520"/>
                <a:gridCol w="2011680"/>
                <a:gridCol w="2286000"/>
              </a:tblGrid>
              <a:tr h="27432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Layers</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Gene alphabet</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r>
              <a:tr h="274320">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Phi-3-mini</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F16 / Q8_0 / Q4_0</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search target</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r h="274320">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Llama-3.1-8B</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Q8_0 / Q4_0</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scale test (F16 will not fit)</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r h="274320">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SmolLM2-360M</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F16 / Q8_0 / Q4_0</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emulation proxy</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r h="274320">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Llama-3.2-3B</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pending licence</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indent="0" marL="0">
                        <a:buNone/>
                      </a:pPr>
                      <a:r>
                        <a:rPr lang="en-US" sz="1200" dirty="0">
                          <a:solidFill>
                            <a:srgbClr val="10212B"/>
                          </a:solidFill>
                          <a:latin typeface="Calibri" pitchFamily="34" charset="0"/>
                          <a:ea typeface="Calibri" pitchFamily="34" charset="-122"/>
                          <a:cs typeface="Calibri" pitchFamily="34" charset="-120"/>
                        </a:rPr>
                        <a:t>second 3B-class model</a:t>
                      </a:r>
                      <a:endParaRPr lang="en-US" sz="12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bl>
          </a:graphicData>
        </a:graphic>
      </p:graphicFrame>
      <p:sp>
        <p:nvSpPr>
          <p:cNvPr id="5" name="stat model spearman value"/>
          <p:cNvSpPr txBox="1"/>
          <p:nvPr/>
        </p:nvSpPr>
        <p:spPr>
          <a:xfrm>
            <a:off x="7498080" y="1417320"/>
            <a:ext cx="4114800" cy="685800"/>
          </a:xfrm>
          <a:prstGeom prst="rect">
            <a:avLst/>
          </a:prstGeom>
          <a:noFill/>
          <a:ln/>
        </p:spPr>
        <p:txBody>
          <a:bodyPr wrap="square" lIns="0" tIns="0" rIns="0" bIns="0" rtlCol="0" anchor="b"/>
          <a:lstStyle/>
          <a:p>
            <a:pPr indent="0" marL="0">
              <a:buNone/>
            </a:pPr>
            <a:r>
              <a:rPr lang="en-US" sz="4000" b="1" dirty="0">
                <a:solidFill>
                  <a:srgbClr val="7B6FB5"/>
                </a:solidFill>
                <a:latin typeface="Cambria" pitchFamily="34" charset="0"/>
                <a:ea typeface="Cambria" pitchFamily="34" charset="-122"/>
                <a:cs typeface="Cambria" pitchFamily="34" charset="-120"/>
              </a:rPr>
              <a:t>0.55</a:t>
            </a:r>
            <a:endParaRPr lang="en-US" sz="4000" dirty="0"/>
          </a:p>
        </p:txBody>
      </p:sp>
      <p:sp>
        <p:nvSpPr>
          <p:cNvPr id="6" name="stat model spearman label"/>
          <p:cNvSpPr txBox="1"/>
          <p:nvPr/>
        </p:nvSpPr>
        <p:spPr>
          <a:xfrm>
            <a:off x="7498080" y="2130552"/>
            <a:ext cx="411480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Spearman between the two Q4_0 profiles: moderate agreement, not high</a:t>
            </a:r>
            <a:endParaRPr lang="en-US" sz="1400" dirty="0"/>
          </a:p>
        </p:txBody>
      </p:sp>
      <p:sp>
        <p:nvSpPr>
          <p:cNvPr id="7" name="model bullets"/>
          <p:cNvSpPr txBox="1"/>
          <p:nvPr/>
        </p:nvSpPr>
        <p:spPr>
          <a:xfrm>
            <a:off x="7498080" y="2971800"/>
            <a:ext cx="4114800" cy="310896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Last block is top-2 in both models</a:t>
            </a:r>
            <a:endParaRPr lang="en-US" sz="1500" dirty="0"/>
          </a:p>
          <a:p>
            <a:pPr marL="203200" indent="-2032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Block 0 is the most sensitive in Llama-3.1-8B (26%) but 6th of 8 in Phi-3</a:t>
            </a:r>
            <a:endParaRPr lang="en-US" sz="1500" dirty="0"/>
          </a:p>
          <a:p>
            <a:pPr marL="203200" indent="-2032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Edge-to-interior ratio: 2.4x (8B), 1.5x (Phi-3)</a:t>
            </a:r>
            <a:endParaRPr lang="en-US" sz="1500" dirty="0"/>
          </a:p>
          <a:p>
            <a:pPr marL="203200" indent="-203200">
              <a:spcAft>
                <a:spcPts val="900"/>
              </a:spcAft>
              <a:buSzPct val="100000"/>
              <a:buChar char="•"/>
            </a:pPr>
            <a:r>
              <a:rPr lang="en-US" sz="1500" dirty="0">
                <a:solidFill>
                  <a:schemeClr val="tx1"/>
                </a:solidFill>
                <a:latin typeface="Calibri" pitchFamily="34" charset="0"/>
                <a:ea typeface="Calibri" pitchFamily="34" charset="-122"/>
                <a:cs typeface="Calibri" pitchFamily="34" charset="-120"/>
              </a:rPr>
              <a:t>So "protect the last block" generalizes; "protect the first" is model dependent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The GA recovers the true front, and so does a greedy rule</a:t>
            </a:r>
            <a:endParaRPr lang="en-US" sz="2800" dirty="0"/>
          </a:p>
        </p:txBody>
      </p:sp>
      <p:graphicFrame>
        <p:nvGraphicFramePr>
          <p:cNvPr id="3" name="Chart 0" descr=""/>
          <p:cNvGraphicFramePr/>
          <p:nvPr/>
        </p:nvGraphicFramePr>
        <p:xfrm>
          <a:off x="548640" y="1371600"/>
          <a:ext cx="6035040" cy="4663440"/>
        </p:xfrm>
        <a:graphic xmlns:a="http://schemas.openxmlformats.org/drawingml/2006/main">
          <a:graphicData uri="http://schemas.openxmlformats.org/drawingml/2006/chart">
            <c:chart xmlns:c="http://schemas.openxmlformats.org/drawingml/2006/chart" r:id="rId1"/>
          </a:graphicData>
        </a:graphic>
      </p:graphicFrame>
      <p:sp>
        <p:nvSpPr>
          <p:cNvPr id="4" name="stat hv value"/>
          <p:cNvSpPr txBox="1"/>
          <p:nvPr/>
        </p:nvSpPr>
        <p:spPr>
          <a:xfrm>
            <a:off x="6949440" y="1371600"/>
            <a:ext cx="2286000" cy="685800"/>
          </a:xfrm>
          <a:prstGeom prst="rect">
            <a:avLst/>
          </a:prstGeom>
          <a:noFill/>
          <a:ln/>
        </p:spPr>
        <p:txBody>
          <a:bodyPr wrap="square" lIns="0" tIns="0" rIns="0" bIns="0" rtlCol="0" anchor="b"/>
          <a:lstStyle/>
          <a:p>
            <a:pPr indent="0" marL="0">
              <a:buNone/>
            </a:pPr>
            <a:r>
              <a:rPr lang="en-US" sz="4000" b="1" dirty="0">
                <a:solidFill>
                  <a:srgbClr val="2E9E8A"/>
                </a:solidFill>
                <a:latin typeface="Cambria" pitchFamily="34" charset="0"/>
                <a:ea typeface="Cambria" pitchFamily="34" charset="-122"/>
                <a:cs typeface="Cambria" pitchFamily="34" charset="-120"/>
              </a:rPr>
              <a:t>1.000</a:t>
            </a:r>
            <a:endParaRPr lang="en-US" sz="4000" dirty="0"/>
          </a:p>
        </p:txBody>
      </p:sp>
      <p:sp>
        <p:nvSpPr>
          <p:cNvPr id="5" name="stat hv label"/>
          <p:cNvSpPr txBox="1"/>
          <p:nvPr/>
        </p:nvSpPr>
        <p:spPr>
          <a:xfrm>
            <a:off x="6949440" y="2084832"/>
            <a:ext cx="228600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GA hypervolume ratio vs the exhaustive front (9 of 9 points)</a:t>
            </a:r>
            <a:endParaRPr lang="en-US" sz="1400" dirty="0"/>
          </a:p>
        </p:txBody>
      </p:sp>
      <p:sp>
        <p:nvSpPr>
          <p:cNvPr id="6" name="stat greedy value"/>
          <p:cNvSpPr txBox="1"/>
          <p:nvPr/>
        </p:nvSpPr>
        <p:spPr>
          <a:xfrm>
            <a:off x="9418320" y="1371600"/>
            <a:ext cx="2194560" cy="685800"/>
          </a:xfrm>
          <a:prstGeom prst="rect">
            <a:avLst/>
          </a:prstGeom>
          <a:noFill/>
          <a:ln/>
        </p:spPr>
        <p:txBody>
          <a:bodyPr wrap="square" lIns="0" tIns="0" rIns="0" bIns="0" rtlCol="0" anchor="b"/>
          <a:lstStyle/>
          <a:p>
            <a:pPr indent="0" marL="0">
              <a:buNone/>
            </a:pPr>
            <a:r>
              <a:rPr lang="en-US" sz="4000" b="1" dirty="0">
                <a:solidFill>
                  <a:srgbClr val="0A7EA4"/>
                </a:solidFill>
                <a:latin typeface="Cambria" pitchFamily="34" charset="0"/>
                <a:ea typeface="Cambria" pitchFamily="34" charset="-122"/>
                <a:cs typeface="Cambria" pitchFamily="34" charset="-120"/>
              </a:rPr>
              <a:t>17</a:t>
            </a:r>
            <a:endParaRPr lang="en-US" sz="4000" dirty="0"/>
          </a:p>
        </p:txBody>
      </p:sp>
      <p:sp>
        <p:nvSpPr>
          <p:cNvPr id="7" name="stat greedy label"/>
          <p:cNvSpPr txBox="1"/>
          <p:nvPr/>
        </p:nvSpPr>
        <p:spPr>
          <a:xfrm>
            <a:off x="9418320" y="2084832"/>
            <a:ext cx="219456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measurements: the greedy rule gives the same front</a:t>
            </a:r>
            <a:endParaRPr lang="en-US" sz="1400" dirty="0"/>
          </a:p>
        </p:txBody>
      </p:sp>
      <p:sp>
        <p:nvSpPr>
          <p:cNvPr id="8" name="search honesty card"/>
          <p:cNvSpPr/>
          <p:nvPr/>
        </p:nvSpPr>
        <p:spPr>
          <a:xfrm>
            <a:off x="6949440" y="3200400"/>
            <a:ext cx="4663440" cy="2880360"/>
          </a:xfrm>
          <a:prstGeom prst="roundRect">
            <a:avLst>
              <a:gd name="adj" fmla="val 2540"/>
            </a:avLst>
          </a:prstGeom>
          <a:solidFill>
            <a:schemeClr val="bg2"/>
          </a:solidFill>
          <a:ln w="12700">
            <a:solidFill>
              <a:schemeClr val="bg2"/>
            </a:solidFill>
            <a:prstDash val="solid"/>
          </a:ln>
        </p:spPr>
      </p:sp>
      <p:sp>
        <p:nvSpPr>
          <p:cNvPr id="9" name="honesty head"/>
          <p:cNvSpPr txBox="1"/>
          <p:nvPr/>
        </p:nvSpPr>
        <p:spPr>
          <a:xfrm>
            <a:off x="7132320" y="3291840"/>
            <a:ext cx="4297680" cy="41148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What this does and does not show</a:t>
            </a:r>
            <a:endParaRPr lang="en-US" sz="1800" dirty="0"/>
          </a:p>
        </p:txBody>
      </p:sp>
      <p:sp>
        <p:nvSpPr>
          <p:cNvPr id="10" name="honesty bullets"/>
          <p:cNvSpPr txBox="1"/>
          <p:nvPr/>
        </p:nvSpPr>
        <p:spPr>
          <a:xfrm>
            <a:off x="7132320" y="3749040"/>
            <a:ext cx="4297680" cy="228600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With additive objectives the front is the sensitivity ordering: the GA is not needed here; its value must come from interactions, tested on measured Arm data</a:t>
            </a:r>
            <a:endParaRPr lang="en-US" sz="1300" dirty="0"/>
          </a:p>
          <a:p>
            <a:pPr marL="203200" indent="-2032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Scalarized weights collapse: every weighting returns uniform Q4_0; pick points from the front by accuracy budget</a:t>
            </a:r>
            <a:endParaRPr lang="en-US" sz="1300" dirty="0"/>
          </a:p>
          <a:p>
            <a:pPr marL="203200" indent="-2032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Phi-3: Q8_0 gives +261% decode for 0.07% accuracy, Q4_0 only +41% more for 6.8% (measured on Graviton3 within 4%)</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On Graviton3, KleidiAI's Q8_0 path costs 37x the accuracy</a:t>
            </a:r>
            <a:endParaRPr lang="en-US" sz="2800" dirty="0"/>
          </a:p>
        </p:txBody>
      </p:sp>
      <p:graphicFrame>
        <p:nvGraphicFramePr>
          <p:cNvPr id="3" name="Chart 0" descr=""/>
          <p:cNvGraphicFramePr/>
          <p:nvPr/>
        </p:nvGraphicFramePr>
        <p:xfrm>
          <a:off x="548640" y="1371600"/>
          <a:ext cx="5852160" cy="4663440"/>
        </p:xfrm>
        <a:graphic xmlns:a="http://schemas.openxmlformats.org/drawingml/2006/main">
          <a:graphicData uri="http://schemas.openxmlformats.org/drawingml/2006/chart">
            <c:chart xmlns:c="http://schemas.openxmlformats.org/drawingml/2006/chart" r:id="rId1"/>
          </a:graphicData>
        </a:graphic>
      </p:graphicFrame>
      <p:sp>
        <p:nvSpPr>
          <p:cNvPr id="4" name="cause text"/>
          <p:cNvSpPr txBox="1"/>
          <p:nvPr/>
        </p:nvSpPr>
        <p:spPr>
          <a:xfrm>
            <a:off x="6766560" y="1417320"/>
            <a:ext cx="4846320" cy="109728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Cause (from the source): KleidiAI re-quantizes each Q8_0 weight row to a single per-row scale. Q4_0 is unaffected: bit-identical to the stock path.</a:t>
            </a:r>
            <a:endParaRPr lang="en-US" sz="1500" dirty="0"/>
          </a:p>
        </p:txBody>
      </p:sp>
      <p:sp>
        <p:nvSpPr>
          <p:cNvPr id="5" name="t3 bullets"/>
          <p:cNvSpPr txBox="1"/>
          <p:nvPr/>
        </p:nvSpPr>
        <p:spPr>
          <a:xfrm>
            <a:off x="6766560" y="2560320"/>
            <a:ext cx="4846320" cy="228600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Against the stock Arm path KleidiAI adds no decode speed (0.94-1.05x) and no Q4_0 prefill; Q8_0 prefill +1.34-1.47x</a:t>
            </a:r>
            <a:endParaRPr lang="en-US" sz="1400" dirty="0"/>
          </a:p>
          <a:p>
            <a:pPr marL="203200" indent="-2032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The 360M proxy under QEMU showed 8x; Phi-3 on real silicon shows 37x</a:t>
            </a:r>
            <a:endParaRPr lang="en-US" sz="1400" dirty="0"/>
          </a:p>
          <a:p>
            <a:pPr marL="203200" indent="-2032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Fair baseline matters: --no-repack makes KleidiAI look 2.3x faster</a:t>
            </a:r>
            <a:endParaRPr lang="en-US" sz="1400" dirty="0"/>
          </a:p>
        </p:txBody>
      </p:sp>
      <p:sp>
        <p:nvSpPr>
          <p:cNvPr id="6" name="sme card"/>
          <p:cNvSpPr/>
          <p:nvPr/>
        </p:nvSpPr>
        <p:spPr>
          <a:xfrm>
            <a:off x="6766560" y="4892040"/>
            <a:ext cx="4846320" cy="1188720"/>
          </a:xfrm>
          <a:prstGeom prst="roundRect">
            <a:avLst>
              <a:gd name="adj" fmla="val 6154"/>
            </a:avLst>
          </a:prstGeom>
          <a:solidFill>
            <a:schemeClr val="tx2"/>
          </a:solidFill>
          <a:ln w="12700">
            <a:solidFill>
              <a:schemeClr val="tx2"/>
            </a:solidFill>
            <a:prstDash val="solid"/>
          </a:ln>
        </p:spPr>
      </p:sp>
      <p:sp>
        <p:nvSpPr>
          <p:cNvPr id="7" name="sme warn circle"/>
          <p:cNvSpPr/>
          <p:nvPr/>
        </p:nvSpPr>
        <p:spPr>
          <a:xfrm>
            <a:off x="6903720" y="5102352"/>
            <a:ext cx="685800" cy="685800"/>
          </a:xfrm>
          <a:prstGeom prst="ellipse">
            <a:avLst/>
          </a:prstGeom>
          <a:solidFill>
            <a:srgbClr val="D1495B"/>
          </a:solidFill>
          <a:ln w="12700">
            <a:solidFill>
              <a:srgbClr val="D1495B"/>
            </a:solidFill>
            <a:prstDash val="solid"/>
          </a:ln>
        </p:spPr>
      </p:sp>
      <p:pic>
        <p:nvPicPr>
          <p:cNvPr id="8" name="sme warn icon" descr="preencoded.png">    </p:cNvPr>
          <p:cNvPicPr>
            <a:picLocks noChangeAspect="1"/>
          </p:cNvPicPr>
          <p:nvPr/>
        </p:nvPicPr>
        <p:blipFill>
          <a:blip r:embed="rId2"/>
          <a:stretch>
            <a:fillRect/>
          </a:stretch>
        </p:blipFill>
        <p:spPr>
          <a:xfrm>
            <a:off x="7075170" y="5273802"/>
            <a:ext cx="342900" cy="342900"/>
          </a:xfrm>
          <a:prstGeom prst="rect">
            <a:avLst/>
          </a:prstGeom>
        </p:spPr>
      </p:pic>
      <p:sp>
        <p:nvSpPr>
          <p:cNvPr id="9" name="sme text"/>
          <p:cNvSpPr txBox="1"/>
          <p:nvPr/>
        </p:nvSpPr>
        <p:spPr>
          <a:xfrm>
            <a:off x="7726680" y="4937760"/>
            <a:ext cx="3794760" cy="109728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SME kernels give garbage under QEMU 8.2.2 (KLD 23-27). It becomes a selftest gate before any Mac run.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Kernels bit-exact on Graviton3; the roofline shows where speed remains</a:t>
            </a:r>
            <a:endParaRPr lang="en-US" sz="2800" dirty="0"/>
          </a:p>
        </p:txBody>
      </p:sp>
      <p:graphicFrame>
        <p:nvGraphicFramePr>
          <p:cNvPr id="3" name="Chart 0" descr=""/>
          <p:cNvGraphicFramePr/>
          <p:nvPr/>
        </p:nvGraphicFramePr>
        <p:xfrm>
          <a:off x="548640" y="1325880"/>
          <a:ext cx="5486400" cy="2926080"/>
        </p:xfrm>
        <a:graphic xmlns:a="http://schemas.openxmlformats.org/drawingml/2006/main">
          <a:graphicData uri="http://schemas.openxmlformats.org/drawingml/2006/chart">
            <c:chart xmlns:c="http://schemas.openxmlformats.org/drawingml/2006/chart" r:id="rId1"/>
          </a:graphicData>
        </a:graphic>
      </p:graphicFrame>
      <p:sp>
        <p:nvSpPr>
          <p:cNvPr id="4" name="roof bullets"/>
          <p:cNvSpPr txBox="1"/>
          <p:nvPr/>
        </p:nvSpPr>
        <p:spPr>
          <a:xfrm>
            <a:off x="548640" y="4389120"/>
            <a:ext cx="5486400" cy="173736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Q8_0 decode is on the roof (95%): only moving fewer bytes helps</a:t>
            </a:r>
            <a:endParaRPr lang="en-US" sz="1300" dirty="0"/>
          </a:p>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Q4_0 reaches 72%: nibble unpacking limits it (up to ~1.3x left)</a:t>
            </a:r>
            <a:endParaRPr lang="en-US" sz="1300" dirty="0"/>
          </a:p>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F16 has no optimized kernel (48%): a poor baseline that inflates speedups</a:t>
            </a:r>
            <a:endParaRPr lang="en-US" sz="1300" dirty="0"/>
          </a:p>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Smaller is faster at decode: Q4_0 = 1.4-1.5x Q8_0 (opposite of the GPU)</a:t>
            </a:r>
            <a:endParaRPr lang="en-US" sz="1300" dirty="0"/>
          </a:p>
        </p:txBody>
      </p:sp>
      <p:sp>
        <p:nvSpPr>
          <p:cNvPr id="5" name="stat cases value"/>
          <p:cNvSpPr txBox="1"/>
          <p:nvPr/>
        </p:nvSpPr>
        <p:spPr>
          <a:xfrm>
            <a:off x="6400800" y="1417320"/>
            <a:ext cx="2560320" cy="685800"/>
          </a:xfrm>
          <a:prstGeom prst="rect">
            <a:avLst/>
          </a:prstGeom>
          <a:noFill/>
          <a:ln/>
        </p:spPr>
        <p:txBody>
          <a:bodyPr wrap="square" lIns="0" tIns="0" rIns="0" bIns="0" rtlCol="0" anchor="b"/>
          <a:lstStyle/>
          <a:p>
            <a:pPr indent="0" marL="0">
              <a:buNone/>
            </a:pPr>
            <a:r>
              <a:rPr lang="en-US" sz="4000" b="1" dirty="0">
                <a:solidFill>
                  <a:srgbClr val="2E9E8A"/>
                </a:solidFill>
                <a:latin typeface="Cambria" pitchFamily="34" charset="0"/>
                <a:ea typeface="Cambria" pitchFamily="34" charset="-122"/>
                <a:cs typeface="Cambria" pitchFamily="34" charset="-120"/>
              </a:rPr>
              <a:t>108</a:t>
            </a:r>
            <a:endParaRPr lang="en-US" sz="4000" dirty="0"/>
          </a:p>
        </p:txBody>
      </p:sp>
      <p:sp>
        <p:nvSpPr>
          <p:cNvPr id="6" name="stat cases label"/>
          <p:cNvSpPr txBox="1"/>
          <p:nvPr/>
        </p:nvSpPr>
        <p:spPr>
          <a:xfrm>
            <a:off x="6400800" y="2130552"/>
            <a:ext cx="256032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cases bit-identical to the reference, on real Graviton3 and under emulation</a:t>
            </a:r>
            <a:endParaRPr lang="en-US" sz="1400" dirty="0"/>
          </a:p>
        </p:txBody>
      </p:sp>
      <p:sp>
        <p:nvSpPr>
          <p:cNvPr id="7" name="stat mutation value"/>
          <p:cNvSpPr txBox="1"/>
          <p:nvPr/>
        </p:nvSpPr>
        <p:spPr>
          <a:xfrm>
            <a:off x="9144000" y="1417320"/>
            <a:ext cx="2468880" cy="685800"/>
          </a:xfrm>
          <a:prstGeom prst="rect">
            <a:avLst/>
          </a:prstGeom>
          <a:noFill/>
          <a:ln/>
        </p:spPr>
        <p:txBody>
          <a:bodyPr wrap="square" lIns="0" tIns="0" rIns="0" bIns="0" rtlCol="0" anchor="b"/>
          <a:lstStyle/>
          <a:p>
            <a:pPr indent="0" marL="0">
              <a:buNone/>
            </a:pPr>
            <a:r>
              <a:rPr lang="en-US" sz="4000" b="1" dirty="0">
                <a:solidFill>
                  <a:srgbClr val="D1495B"/>
                </a:solidFill>
                <a:latin typeface="Cambria" pitchFamily="34" charset="0"/>
                <a:ea typeface="Cambria" pitchFamily="34" charset="-122"/>
                <a:cs typeface="Cambria" pitchFamily="34" charset="-120"/>
              </a:rPr>
              <a:t>1,710</a:t>
            </a:r>
            <a:endParaRPr lang="en-US" sz="4000" dirty="0"/>
          </a:p>
        </p:txBody>
      </p:sp>
      <p:sp>
        <p:nvSpPr>
          <p:cNvPr id="8" name="stat mutation label"/>
          <p:cNvSpPr txBox="1"/>
          <p:nvPr/>
        </p:nvSpPr>
        <p:spPr>
          <a:xfrm>
            <a:off x="9144000" y="2130552"/>
            <a:ext cx="24688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failures caught when the nibble offset is deliberately broken</a:t>
            </a:r>
            <a:endParaRPr lang="en-US" sz="1400" dirty="0"/>
          </a:p>
        </p:txBody>
      </p:sp>
      <p:sp>
        <p:nvSpPr>
          <p:cNvPr id="9" name="stat kernel speed value"/>
          <p:cNvSpPr txBox="1"/>
          <p:nvPr/>
        </p:nvSpPr>
        <p:spPr>
          <a:xfrm>
            <a:off x="6400800" y="2926080"/>
            <a:ext cx="5212080" cy="685800"/>
          </a:xfrm>
          <a:prstGeom prst="rect">
            <a:avLst/>
          </a:prstGeom>
          <a:noFill/>
          <a:ln/>
        </p:spPr>
        <p:txBody>
          <a:bodyPr wrap="square" lIns="0" tIns="0" rIns="0" bIns="0" rtlCol="0" anchor="b"/>
          <a:lstStyle/>
          <a:p>
            <a:pPr indent="0" marL="0">
              <a:buNone/>
            </a:pPr>
            <a:r>
              <a:rPr lang="en-US" sz="4000" b="1" dirty="0">
                <a:solidFill>
                  <a:srgbClr val="7B6FB5"/>
                </a:solidFill>
                <a:latin typeface="Cambria" pitchFamily="34" charset="0"/>
                <a:ea typeface="Cambria" pitchFamily="34" charset="-122"/>
                <a:cs typeface="Cambria" pitchFamily="34" charset="-120"/>
              </a:rPr>
              <a:t>47% / 31%</a:t>
            </a:r>
            <a:endParaRPr lang="en-US" sz="4000" dirty="0"/>
          </a:p>
        </p:txBody>
      </p:sp>
      <p:sp>
        <p:nvSpPr>
          <p:cNvPr id="10" name="stat kernel speed label"/>
          <p:cNvSpPr txBox="1"/>
          <p:nvPr/>
        </p:nvSpPr>
        <p:spPr>
          <a:xfrm>
            <a:off x="6400800" y="3639312"/>
            <a:ext cx="521208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llama.cpp's single-thread bandwidth reached by my SDOT kernels (Q8_0 / Q4_0): correct, not yet fast</a:t>
            </a:r>
            <a:endParaRPr lang="en-US" sz="1400" dirty="0"/>
          </a:p>
        </p:txBody>
      </p:sp>
      <p:sp>
        <p:nvSpPr>
          <p:cNvPr id="11" name="kernel next"/>
          <p:cNvSpPr/>
          <p:nvPr/>
        </p:nvSpPr>
        <p:spPr>
          <a:xfrm>
            <a:off x="6400800" y="4572000"/>
            <a:ext cx="5212080" cy="1508760"/>
          </a:xfrm>
          <a:prstGeom prst="roundRect">
            <a:avLst>
              <a:gd name="adj" fmla="val 4848"/>
            </a:avLst>
          </a:prstGeom>
          <a:solidFill>
            <a:schemeClr val="tx2"/>
          </a:solidFill>
          <a:ln w="12700">
            <a:solidFill>
              <a:schemeClr val="tx2"/>
            </a:solidFill>
            <a:prstDash val="solid"/>
          </a:ln>
        </p:spPr>
      </p:sp>
      <p:sp>
        <p:nvSpPr>
          <p:cNvPr id="12" name="kernel next text"/>
          <p:cNvSpPr txBox="1"/>
          <p:nvPr/>
        </p:nvSpPr>
        <p:spPr>
          <a:xfrm>
            <a:off x="6583680" y="4617720"/>
            <a:ext cx="4846320" cy="141732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Next: vector accumulation across blocks, several rows per pass, a repacked layout with SMMLA; then SME2 and a Triton/CUDA counterpart.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A rehearsal on Graviton3 measured what the Mac day costs</a:t>
            </a:r>
            <a:endParaRPr lang="en-US" sz="2800" dirty="0"/>
          </a:p>
        </p:txBody>
      </p:sp>
      <p:graphicFrame>
        <p:nvGraphicFramePr>
          <p:cNvPr id="3" name="Chart 0" descr=""/>
          <p:cNvGraphicFramePr/>
          <p:nvPr/>
        </p:nvGraphicFramePr>
        <p:xfrm>
          <a:off x="548640" y="137160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4" name="stat cost value"/>
          <p:cNvSpPr txBox="1"/>
          <p:nvPr/>
        </p:nvSpPr>
        <p:spPr>
          <a:xfrm>
            <a:off x="548640" y="4663440"/>
            <a:ext cx="4937760" cy="685800"/>
          </a:xfrm>
          <a:prstGeom prst="rect">
            <a:avLst/>
          </a:prstGeom>
          <a:noFill/>
          <a:ln/>
        </p:spPr>
        <p:txBody>
          <a:bodyPr wrap="square" lIns="0" tIns="0" rIns="0" bIns="0" rtlCol="0" anchor="b"/>
          <a:lstStyle/>
          <a:p>
            <a:pPr indent="0" marL="0">
              <a:buNone/>
            </a:pPr>
            <a:r>
              <a:rPr lang="en-US" sz="4000" b="1" dirty="0">
                <a:solidFill>
                  <a:srgbClr val="0A7EA4"/>
                </a:solidFill>
                <a:latin typeface="Cambria" pitchFamily="34" charset="0"/>
                <a:ea typeface="Cambria" pitchFamily="34" charset="-122"/>
                <a:cs typeface="Cambria" pitchFamily="34" charset="-120"/>
              </a:rPr>
              <a:t>88 s / 113 s</a:t>
            </a:r>
            <a:endParaRPr lang="en-US" sz="4000" dirty="0"/>
          </a:p>
        </p:txBody>
      </p:sp>
      <p:sp>
        <p:nvSpPr>
          <p:cNvPr id="5" name="stat cost label"/>
          <p:cNvSpPr txBox="1"/>
          <p:nvPr/>
        </p:nvSpPr>
        <p:spPr>
          <a:xfrm>
            <a:off x="548640" y="5376672"/>
            <a:ext cx="4937760"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total per genome for stock / KleidiAI; the F16 reference costs 9.3 / 7.4 minutes</a:t>
            </a:r>
            <a:endParaRPr lang="en-US" sz="1400" dirty="0"/>
          </a:p>
        </p:txBody>
      </p:sp>
      <p:sp>
        <p:nvSpPr>
          <p:cNvPr id="6" name="projection head"/>
          <p:cNvSpPr txBox="1"/>
          <p:nvPr/>
        </p:nvSpPr>
        <p:spPr>
          <a:xfrm>
            <a:off x="5852160" y="1371600"/>
            <a:ext cx="5760720" cy="64008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Hours to measure both models (256 genomes each) for a Mac that is faster than this machine by:</a:t>
            </a:r>
            <a:endParaRPr lang="en-US" sz="1500" dirty="0"/>
          </a:p>
        </p:txBody>
      </p:sp>
      <p:graphicFrame>
        <p:nvGraphicFramePr>
          <p:cNvPr id="13" name="projection table"/>
          <p:cNvGraphicFramePr>
            <a:graphicFrameLocks noGrp="1"/>
          </p:cNvGraphicFramePr>
          <p:nvPr>
            <p:extLst>
              <p:ext uri="{D42A27DB-BD31-4B8C-83A1-F6EECF244321}">
                <p14:modId xmlns:p14="http://schemas.microsoft.com/office/powerpoint/2010/main" val="1579011935"/>
              </p:ext>
            </p:extLst>
          </p:nvPr>
        </p:nvGraphicFramePr>
        <p:xfrm>
          <a:off x="5852160" y="2057400"/>
          <a:ext cx="5760720" cy="914400"/>
        </p:xfrm>
        <a:graphic>
          <a:graphicData uri="http://schemas.openxmlformats.org/drawingml/2006/table">
            <a:tbl>
              <a:tblPr/>
              <a:tblGrid>
                <a:gridCol w="2468880"/>
                <a:gridCol w="822960"/>
                <a:gridCol w="822960"/>
                <a:gridCol w="822960"/>
                <a:gridCol w="822960"/>
              </a:tblGrid>
              <a:tr h="457200">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1x</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1.5x</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2x</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3x</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solidFill>
                      <a:schemeClr val="tx2"/>
                    </a:solidFill>
                  </a:tcPr>
                </a:tc>
              </a:tr>
              <a:tr h="457200">
                <a:tc>
                  <a:txBody>
                    <a:bodyPr/>
                    <a:lstStyle/>
                    <a:p>
                      <a:pPr algn="l" indent="0" marL="0">
                        <a:buNone/>
                      </a:pPr>
                      <a:r>
                        <a:rPr lang="en-US" sz="1300" dirty="0">
                          <a:solidFill>
                            <a:srgbClr val="10212B"/>
                          </a:solidFill>
                          <a:latin typeface="Calibri" pitchFamily="34" charset="0"/>
                          <a:ea typeface="Calibri" pitchFamily="34" charset="-122"/>
                          <a:cs typeface="Calibri" pitchFamily="34" charset="-120"/>
                        </a:rPr>
                        <a:t>both configurations, all genomes</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D1495B"/>
                          </a:solidFill>
                          <a:latin typeface="Calibri" pitchFamily="34" charset="0"/>
                          <a:ea typeface="Calibri" pitchFamily="34" charset="-122"/>
                          <a:cs typeface="Calibri" pitchFamily="34" charset="-120"/>
                        </a:rPr>
                        <a:t>44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D1495B"/>
                          </a:solidFill>
                          <a:latin typeface="Calibri" pitchFamily="34" charset="0"/>
                          <a:ea typeface="Calibri" pitchFamily="34" charset="-122"/>
                          <a:cs typeface="Calibri" pitchFamily="34" charset="-120"/>
                        </a:rPr>
                        <a:t>30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D1495B"/>
                          </a:solidFill>
                          <a:latin typeface="Calibri" pitchFamily="34" charset="0"/>
                          <a:ea typeface="Calibri" pitchFamily="34" charset="-122"/>
                          <a:cs typeface="Calibri" pitchFamily="34" charset="-120"/>
                        </a:rPr>
                        <a:t>22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2E9E8A"/>
                          </a:solidFill>
                          <a:latin typeface="Calibri" pitchFamily="34" charset="0"/>
                          <a:ea typeface="Calibri" pitchFamily="34" charset="-122"/>
                          <a:cs typeface="Calibri" pitchFamily="34" charset="-120"/>
                        </a:rPr>
                        <a:t>15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r h="457200">
                <a:tc>
                  <a:txBody>
                    <a:bodyPr/>
                    <a:lstStyle/>
                    <a:p>
                      <a:pPr algn="l" indent="0" marL="0">
                        <a:buNone/>
                      </a:pPr>
                      <a:r>
                        <a:rPr lang="en-US" sz="1300" b="1" dirty="0">
                          <a:solidFill>
                            <a:srgbClr val="10212B"/>
                          </a:solidFill>
                          <a:latin typeface="Calibri" pitchFamily="34" charset="0"/>
                          <a:ea typeface="Calibri" pitchFamily="34" charset="-122"/>
                          <a:cs typeface="Calibri" pitchFamily="34" charset="-120"/>
                        </a:rPr>
                        <a:t>KleidiAI in full + stock for 12 genomes</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D1495B"/>
                          </a:solidFill>
                          <a:latin typeface="Calibri" pitchFamily="34" charset="0"/>
                          <a:ea typeface="Calibri" pitchFamily="34" charset="-122"/>
                          <a:cs typeface="Calibri" pitchFamily="34" charset="-120"/>
                        </a:rPr>
                        <a:t>25.8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2E9E8A"/>
                          </a:solidFill>
                          <a:latin typeface="Calibri" pitchFamily="34" charset="0"/>
                          <a:ea typeface="Calibri" pitchFamily="34" charset="-122"/>
                          <a:cs typeface="Calibri" pitchFamily="34" charset="-120"/>
                        </a:rPr>
                        <a:t>17.2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2E9E8A"/>
                          </a:solidFill>
                          <a:latin typeface="Calibri" pitchFamily="34" charset="0"/>
                          <a:ea typeface="Calibri" pitchFamily="34" charset="-122"/>
                          <a:cs typeface="Calibri" pitchFamily="34" charset="-120"/>
                        </a:rPr>
                        <a:t>12.9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c>
                  <a:txBody>
                    <a:bodyPr/>
                    <a:lstStyle/>
                    <a:p>
                      <a:pPr algn="ctr" indent="0" marL="0">
                        <a:buNone/>
                      </a:pPr>
                      <a:r>
                        <a:rPr lang="en-US" sz="1300" b="1" dirty="0">
                          <a:solidFill>
                            <a:srgbClr val="2E9E8A"/>
                          </a:solidFill>
                          <a:latin typeface="Calibri" pitchFamily="34" charset="0"/>
                          <a:ea typeface="Calibri" pitchFamily="34" charset="-122"/>
                          <a:cs typeface="Calibri" pitchFamily="34" charset="-120"/>
                        </a:rPr>
                        <a:t>8.6 h</a:t>
                      </a:r>
                      <a:endParaRPr lang="en-US" sz="1300" dirty="0">
                        <a:latin typeface="Calibri" charset="0"/>
                        <a:ea typeface="Calibri" charset="0"/>
                        <a:cs typeface="Calibri" charset="0"/>
                      </a:endParaRPr>
                    </a:p>
                  </a:txBody>
                  <a:tcPr marL="91440" marR="91440" marT="45720" marB="45720" anchor="ctr">
                    <a:lnL w="6350" cap="flat" cmpd="sng" algn="ctr">
                      <a:solidFill>
                        <a:srgbClr val="D5DEE4"/>
                      </a:solidFill>
                      <a:prstDash val="solid"/>
                      <a:round/>
                      <a:headEnd type="none" w="med" len="med"/>
                      <a:tailEnd type="none" w="med" len="med"/>
                    </a:lnL>
                    <a:lnR w="6350" cap="flat" cmpd="sng" algn="ctr">
                      <a:solidFill>
                        <a:srgbClr val="D5DEE4"/>
                      </a:solidFill>
                      <a:prstDash val="solid"/>
                      <a:round/>
                      <a:headEnd type="none" w="med" len="med"/>
                      <a:tailEnd type="none" w="med" len="med"/>
                    </a:lnR>
                    <a:lnT w="6350" cap="flat" cmpd="sng" algn="ctr">
                      <a:solidFill>
                        <a:srgbClr val="D5DEE4"/>
                      </a:solidFill>
                      <a:prstDash val="solid"/>
                      <a:round/>
                      <a:headEnd type="none" w="med" len="med"/>
                      <a:tailEnd type="none" w="med" len="med"/>
                    </a:lnT>
                    <a:lnB w="6350" cap="flat" cmpd="sng" algn="ctr">
                      <a:solidFill>
                        <a:srgbClr val="D5DEE4"/>
                      </a:solidFill>
                      <a:prstDash val="solid"/>
                      <a:round/>
                      <a:headEnd type="none" w="med" len="med"/>
                      <a:tailEnd type="none" w="med" len="med"/>
                    </a:lnB>
                  </a:tcPr>
                </a:tc>
              </a:tr>
            </a:tbl>
          </a:graphicData>
        </a:graphic>
      </p:graphicFrame>
      <p:sp>
        <p:nvSpPr>
          <p:cNvPr id="8" name="projection note"/>
          <p:cNvSpPr txBox="1"/>
          <p:nvPr/>
        </p:nvSpPr>
        <p:spPr>
          <a:xfrm>
            <a:off x="5852160" y="3520440"/>
            <a:ext cx="5760720" cy="320040"/>
          </a:xfrm>
          <a:prstGeom prst="rect">
            <a:avLst/>
          </a:prstGeom>
          <a:noFill/>
          <a:ln/>
        </p:spPr>
        <p:txBody>
          <a:bodyPr wrap="square" lIns="0" tIns="0" rIns="0" bIns="0" rtlCol="0" anchor="ctr"/>
          <a:lstStyle/>
          <a:p>
            <a:pPr indent="0" marL="0">
              <a:buNone/>
            </a:pPr>
            <a:r>
              <a:rPr lang="en-US" sz="1200" i="1" dirty="0">
                <a:solidFill>
                  <a:schemeClr val="accent5"/>
                </a:solidFill>
                <a:latin typeface="Calibri" pitchFamily="34" charset="0"/>
                <a:ea typeface="Calibri" pitchFamily="34" charset="-122"/>
                <a:cs typeface="Calibri" pitchFamily="34" charset="-120"/>
              </a:rPr>
              <a:t>Green fits the 18-hour queue; red does not.</a:t>
            </a:r>
            <a:endParaRPr lang="en-US" sz="1200" dirty="0"/>
          </a:p>
        </p:txBody>
      </p:sp>
      <p:sp>
        <p:nvSpPr>
          <p:cNvPr id="9" name="design card"/>
          <p:cNvSpPr/>
          <p:nvPr/>
        </p:nvSpPr>
        <p:spPr>
          <a:xfrm>
            <a:off x="5852160" y="4023360"/>
            <a:ext cx="5760720" cy="2057400"/>
          </a:xfrm>
          <a:prstGeom prst="roundRect">
            <a:avLst>
              <a:gd name="adj" fmla="val 3556"/>
            </a:avLst>
          </a:prstGeom>
          <a:solidFill>
            <a:schemeClr val="bg2"/>
          </a:solidFill>
          <a:ln w="12700">
            <a:solidFill>
              <a:schemeClr val="bg2"/>
            </a:solidFill>
            <a:prstDash val="solid"/>
          </a:ln>
        </p:spPr>
      </p:sp>
      <p:sp>
        <p:nvSpPr>
          <p:cNvPr id="10" name="design head"/>
          <p:cNvSpPr txBox="1"/>
          <p:nvPr/>
        </p:nvSpPr>
        <p:spPr>
          <a:xfrm>
            <a:off x="6035040" y="4114800"/>
            <a:ext cx="53949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Design change for the Mac day</a:t>
            </a:r>
            <a:endParaRPr lang="en-US" sz="1700" dirty="0"/>
          </a:p>
        </p:txBody>
      </p:sp>
      <p:sp>
        <p:nvSpPr>
          <p:cNvPr id="11" name="design bullets"/>
          <p:cNvSpPr txBox="1"/>
          <p:nvPr/>
        </p:nvSpPr>
        <p:spPr>
          <a:xfrm>
            <a:off x="6035040" y="4526280"/>
            <a:ext cx="5394960" cy="150876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Full table in the configuration that ships (KleidiAI); the fair baseline (stock) only for the reference, uniform baselines and greedy chain</a:t>
            </a:r>
            <a:endParaRPr lang="en-US" sz="1300" dirty="0"/>
          </a:p>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The M4's speedup is unknown: measure decode speed first, then size the queue</a:t>
            </a:r>
            <a:endParaRPr lang="en-US" sz="1300" dirty="0"/>
          </a:p>
          <a:p>
            <a:pPr marL="203200" indent="-2032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Measured speeds match the calibrated model within 4%</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The rehearsal found five problems before the paid block</a:t>
            </a:r>
            <a:endParaRPr lang="en-US" sz="2800" dirty="0"/>
          </a:p>
        </p:txBody>
      </p:sp>
      <p:sp>
        <p:nvSpPr>
          <p:cNvPr id="3" name="problem card 1"/>
          <p:cNvSpPr/>
          <p:nvPr/>
        </p:nvSpPr>
        <p:spPr>
          <a:xfrm>
            <a:off x="548640" y="1371600"/>
            <a:ext cx="11064240" cy="841248"/>
          </a:xfrm>
          <a:prstGeom prst="roundRect">
            <a:avLst>
              <a:gd name="adj" fmla="val 8696"/>
            </a:avLst>
          </a:prstGeom>
          <a:solidFill>
            <a:schemeClr val="bg2"/>
          </a:solidFill>
          <a:ln w="12700">
            <a:solidFill>
              <a:schemeClr val="bg2"/>
            </a:solidFill>
            <a:prstDash val="solid"/>
          </a:ln>
        </p:spPr>
      </p:sp>
      <p:sp>
        <p:nvSpPr>
          <p:cNvPr id="4" name="problem 1 circle"/>
          <p:cNvSpPr/>
          <p:nvPr/>
        </p:nvSpPr>
        <p:spPr>
          <a:xfrm>
            <a:off x="731520" y="1490472"/>
            <a:ext cx="603504" cy="603504"/>
          </a:xfrm>
          <a:prstGeom prst="ellipse">
            <a:avLst/>
          </a:prstGeom>
          <a:solidFill>
            <a:srgbClr val="D1495B"/>
          </a:solidFill>
          <a:ln w="12700">
            <a:solidFill>
              <a:srgbClr val="D1495B"/>
            </a:solidFill>
            <a:prstDash val="solid"/>
          </a:ln>
        </p:spPr>
      </p:sp>
      <p:pic>
        <p:nvPicPr>
          <p:cNvPr id="5" name="problem 1 icon" descr="preencoded.png">    </p:cNvPr>
          <p:cNvPicPr>
            <a:picLocks noChangeAspect="1"/>
          </p:cNvPicPr>
          <p:nvPr/>
        </p:nvPicPr>
        <p:blipFill>
          <a:blip r:embed="rId1"/>
          <a:stretch>
            <a:fillRect/>
          </a:stretch>
        </p:blipFill>
        <p:spPr>
          <a:xfrm>
            <a:off x="882396" y="1641348"/>
            <a:ext cx="301752" cy="301752"/>
          </a:xfrm>
          <a:prstGeom prst="rect">
            <a:avLst/>
          </a:prstGeom>
        </p:spPr>
      </p:pic>
      <p:sp>
        <p:nvSpPr>
          <p:cNvPr id="6" name="problem 1 head"/>
          <p:cNvSpPr txBox="1"/>
          <p:nvPr/>
        </p:nvSpPr>
        <p:spPr>
          <a:xfrm>
            <a:off x="1554480" y="1426464"/>
            <a:ext cx="3200400" cy="7315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Scratch disk was RAM-backed</a:t>
            </a:r>
            <a:endParaRPr lang="en-US" sz="1600" dirty="0"/>
          </a:p>
        </p:txBody>
      </p:sp>
      <p:sp>
        <p:nvSpPr>
          <p:cNvPr id="7" name="problem 1 body"/>
          <p:cNvSpPr txBox="1"/>
          <p:nvPr/>
        </p:nvSpPr>
        <p:spPr>
          <a:xfrm>
            <a:off x="4846320" y="1426464"/>
            <a:ext cx="6675120" cy="7315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Ubuntu 26.04 mounts /tmp as an 8 GB tmpfs, and the gate demanded space for every source file. The selftest stopped the queue early. Fix: scratch on disk, real space check.</a:t>
            </a:r>
            <a:endParaRPr lang="en-US" sz="1300" dirty="0"/>
          </a:p>
        </p:txBody>
      </p:sp>
      <p:sp>
        <p:nvSpPr>
          <p:cNvPr id="8" name="problem card 2"/>
          <p:cNvSpPr/>
          <p:nvPr/>
        </p:nvSpPr>
        <p:spPr>
          <a:xfrm>
            <a:off x="548640" y="2331720"/>
            <a:ext cx="11064240" cy="841248"/>
          </a:xfrm>
          <a:prstGeom prst="roundRect">
            <a:avLst>
              <a:gd name="adj" fmla="val 8696"/>
            </a:avLst>
          </a:prstGeom>
          <a:solidFill>
            <a:schemeClr val="bg2"/>
          </a:solidFill>
          <a:ln w="12700">
            <a:solidFill>
              <a:schemeClr val="bg2"/>
            </a:solidFill>
            <a:prstDash val="solid"/>
          </a:ln>
        </p:spPr>
      </p:sp>
      <p:sp>
        <p:nvSpPr>
          <p:cNvPr id="9" name="problem 2 circle"/>
          <p:cNvSpPr/>
          <p:nvPr/>
        </p:nvSpPr>
        <p:spPr>
          <a:xfrm>
            <a:off x="731520" y="2450592"/>
            <a:ext cx="603504" cy="603504"/>
          </a:xfrm>
          <a:prstGeom prst="ellipse">
            <a:avLst/>
          </a:prstGeom>
          <a:solidFill>
            <a:srgbClr val="F2A541"/>
          </a:solidFill>
          <a:ln w="12700">
            <a:solidFill>
              <a:srgbClr val="F2A541"/>
            </a:solidFill>
            <a:prstDash val="solid"/>
          </a:ln>
        </p:spPr>
      </p:sp>
      <p:pic>
        <p:nvPicPr>
          <p:cNvPr id="10" name="problem 2 icon" descr="preencoded.png">    </p:cNvPr>
          <p:cNvPicPr>
            <a:picLocks noChangeAspect="1"/>
          </p:cNvPicPr>
          <p:nvPr/>
        </p:nvPicPr>
        <p:blipFill>
          <a:blip r:embed="rId2"/>
          <a:stretch>
            <a:fillRect/>
          </a:stretch>
        </p:blipFill>
        <p:spPr>
          <a:xfrm>
            <a:off x="882396" y="2601468"/>
            <a:ext cx="301752" cy="301752"/>
          </a:xfrm>
          <a:prstGeom prst="rect">
            <a:avLst/>
          </a:prstGeom>
        </p:spPr>
      </p:pic>
      <p:sp>
        <p:nvSpPr>
          <p:cNvPr id="11" name="problem 2 head"/>
          <p:cNvSpPr txBox="1"/>
          <p:nvPr/>
        </p:nvSpPr>
        <p:spPr>
          <a:xfrm>
            <a:off x="1554480" y="2386584"/>
            <a:ext cx="3200400" cy="7315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Idle time ate the budget</a:t>
            </a:r>
            <a:endParaRPr lang="en-US" sz="1600" dirty="0"/>
          </a:p>
        </p:txBody>
      </p:sp>
      <p:sp>
        <p:nvSpPr>
          <p:cNvPr id="12" name="problem 2 body"/>
          <p:cNvSpPr txBox="1"/>
          <p:nvPr/>
        </p:nvSpPr>
        <p:spPr>
          <a:xfrm>
            <a:off x="4846320" y="2386584"/>
            <a:ext cx="6675120" cy="7315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The deadline was fixed at the first start, so two idle hours left the table job 49 minutes. Fix: --restart-clock re-anchors it.</a:t>
            </a:r>
            <a:endParaRPr lang="en-US" sz="1300" dirty="0"/>
          </a:p>
        </p:txBody>
      </p:sp>
      <p:sp>
        <p:nvSpPr>
          <p:cNvPr id="13" name="problem card 3"/>
          <p:cNvSpPr/>
          <p:nvPr/>
        </p:nvSpPr>
        <p:spPr>
          <a:xfrm>
            <a:off x="548640" y="3291840"/>
            <a:ext cx="11064240" cy="841248"/>
          </a:xfrm>
          <a:prstGeom prst="roundRect">
            <a:avLst>
              <a:gd name="adj" fmla="val 8696"/>
            </a:avLst>
          </a:prstGeom>
          <a:solidFill>
            <a:schemeClr val="bg2"/>
          </a:solidFill>
          <a:ln w="12700">
            <a:solidFill>
              <a:schemeClr val="bg2"/>
            </a:solidFill>
            <a:prstDash val="solid"/>
          </a:ln>
        </p:spPr>
      </p:sp>
      <p:sp>
        <p:nvSpPr>
          <p:cNvPr id="14" name="problem 3 circle"/>
          <p:cNvSpPr/>
          <p:nvPr/>
        </p:nvSpPr>
        <p:spPr>
          <a:xfrm>
            <a:off x="731520" y="3410712"/>
            <a:ext cx="603504" cy="603504"/>
          </a:xfrm>
          <a:prstGeom prst="ellipse">
            <a:avLst/>
          </a:prstGeom>
          <a:solidFill>
            <a:srgbClr val="7B6FB5"/>
          </a:solidFill>
          <a:ln w="12700">
            <a:solidFill>
              <a:srgbClr val="7B6FB5"/>
            </a:solidFill>
            <a:prstDash val="solid"/>
          </a:ln>
        </p:spPr>
      </p:sp>
      <p:pic>
        <p:nvPicPr>
          <p:cNvPr id="15" name="problem 3 icon" descr="preencoded.png">    </p:cNvPr>
          <p:cNvPicPr>
            <a:picLocks noChangeAspect="1"/>
          </p:cNvPicPr>
          <p:nvPr/>
        </p:nvPicPr>
        <p:blipFill>
          <a:blip r:embed="rId3"/>
          <a:stretch>
            <a:fillRect/>
          </a:stretch>
        </p:blipFill>
        <p:spPr>
          <a:xfrm>
            <a:off x="882396" y="3561588"/>
            <a:ext cx="301752" cy="301752"/>
          </a:xfrm>
          <a:prstGeom prst="rect">
            <a:avLst/>
          </a:prstGeom>
        </p:spPr>
      </p:pic>
      <p:sp>
        <p:nvSpPr>
          <p:cNvPr id="16" name="problem 3 head"/>
          <p:cNvSpPr txBox="1"/>
          <p:nvPr/>
        </p:nvSpPr>
        <p:spPr>
          <a:xfrm>
            <a:off x="1554480" y="3346704"/>
            <a:ext cx="3200400" cy="7315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 job was killed mid-genome</a:t>
            </a:r>
            <a:endParaRPr lang="en-US" sz="1600" dirty="0"/>
          </a:p>
        </p:txBody>
      </p:sp>
      <p:sp>
        <p:nvSpPr>
          <p:cNvPr id="17" name="problem 3 body"/>
          <p:cNvSpPr txBox="1"/>
          <p:nvPr/>
        </p:nvSpPr>
        <p:spPr>
          <a:xfrm>
            <a:off x="4846320" y="3346704"/>
            <a:ext cx="6675120" cy="7315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hard timeout lost the genome in flight and skipped the analysis. Fix: stop before a genome that would overrun; analysis jobs always run.</a:t>
            </a:r>
            <a:endParaRPr lang="en-US" sz="1300" dirty="0"/>
          </a:p>
        </p:txBody>
      </p:sp>
      <p:sp>
        <p:nvSpPr>
          <p:cNvPr id="18" name="problem card 4"/>
          <p:cNvSpPr/>
          <p:nvPr/>
        </p:nvSpPr>
        <p:spPr>
          <a:xfrm>
            <a:off x="548640" y="4251960"/>
            <a:ext cx="11064240" cy="841248"/>
          </a:xfrm>
          <a:prstGeom prst="roundRect">
            <a:avLst>
              <a:gd name="adj" fmla="val 8696"/>
            </a:avLst>
          </a:prstGeom>
          <a:solidFill>
            <a:schemeClr val="bg2"/>
          </a:solidFill>
          <a:ln w="12700">
            <a:solidFill>
              <a:schemeClr val="bg2"/>
            </a:solidFill>
            <a:prstDash val="solid"/>
          </a:ln>
        </p:spPr>
      </p:sp>
      <p:sp>
        <p:nvSpPr>
          <p:cNvPr id="19" name="problem 4 circle"/>
          <p:cNvSpPr/>
          <p:nvPr/>
        </p:nvSpPr>
        <p:spPr>
          <a:xfrm>
            <a:off x="731520" y="4370832"/>
            <a:ext cx="603504" cy="603504"/>
          </a:xfrm>
          <a:prstGeom prst="ellipse">
            <a:avLst/>
          </a:prstGeom>
          <a:solidFill>
            <a:srgbClr val="0A7EA4"/>
          </a:solidFill>
          <a:ln w="12700">
            <a:solidFill>
              <a:srgbClr val="0A7EA4"/>
            </a:solidFill>
            <a:prstDash val="solid"/>
          </a:ln>
        </p:spPr>
      </p:sp>
      <p:pic>
        <p:nvPicPr>
          <p:cNvPr id="20" name="problem 4 icon" descr="preencoded.png">    </p:cNvPr>
          <p:cNvPicPr>
            <a:picLocks noChangeAspect="1"/>
          </p:cNvPicPr>
          <p:nvPr/>
        </p:nvPicPr>
        <p:blipFill>
          <a:blip r:embed="rId4"/>
          <a:stretch>
            <a:fillRect/>
          </a:stretch>
        </p:blipFill>
        <p:spPr>
          <a:xfrm>
            <a:off x="882396" y="4521708"/>
            <a:ext cx="301752" cy="301752"/>
          </a:xfrm>
          <a:prstGeom prst="rect">
            <a:avLst/>
          </a:prstGeom>
        </p:spPr>
      </p:pic>
      <p:sp>
        <p:nvSpPr>
          <p:cNvPr id="21" name="problem 4 head"/>
          <p:cNvSpPr txBox="1"/>
          <p:nvPr/>
        </p:nvSpPr>
        <p:spPr>
          <a:xfrm>
            <a:off x="1554480" y="4306824"/>
            <a:ext cx="3200400" cy="7315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No baseline in a restricted table</a:t>
            </a:r>
            <a:endParaRPr lang="en-US" sz="1600" dirty="0"/>
          </a:p>
        </p:txBody>
      </p:sp>
      <p:sp>
        <p:nvSpPr>
          <p:cNvPr id="22" name="problem 4 body"/>
          <p:cNvSpPr txBox="1"/>
          <p:nvPr/>
        </p:nvSpPr>
        <p:spPr>
          <a:xfrm>
            <a:off x="4846320" y="4306824"/>
            <a:ext cx="6675120" cy="7315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Q8_0/Q4_0-only table had no F16 reference row (found on the desktop). Fix: always measure the reference first; the analyzer falls back with a warning.</a:t>
            </a:r>
            <a:endParaRPr lang="en-US" sz="1300" dirty="0"/>
          </a:p>
        </p:txBody>
      </p:sp>
      <p:sp>
        <p:nvSpPr>
          <p:cNvPr id="23" name="problem card 5"/>
          <p:cNvSpPr/>
          <p:nvPr/>
        </p:nvSpPr>
        <p:spPr>
          <a:xfrm>
            <a:off x="548640" y="5212080"/>
            <a:ext cx="11064240" cy="841248"/>
          </a:xfrm>
          <a:prstGeom prst="roundRect">
            <a:avLst>
              <a:gd name="adj" fmla="val 8696"/>
            </a:avLst>
          </a:prstGeom>
          <a:solidFill>
            <a:schemeClr val="bg2"/>
          </a:solidFill>
          <a:ln w="12700">
            <a:solidFill>
              <a:schemeClr val="bg2"/>
            </a:solidFill>
            <a:prstDash val="solid"/>
          </a:ln>
        </p:spPr>
      </p:sp>
      <p:sp>
        <p:nvSpPr>
          <p:cNvPr id="24" name="problem 5 circle"/>
          <p:cNvSpPr/>
          <p:nvPr/>
        </p:nvSpPr>
        <p:spPr>
          <a:xfrm>
            <a:off x="731520" y="5330952"/>
            <a:ext cx="603504" cy="603504"/>
          </a:xfrm>
          <a:prstGeom prst="ellipse">
            <a:avLst/>
          </a:prstGeom>
          <a:solidFill>
            <a:srgbClr val="6C7A89"/>
          </a:solidFill>
          <a:ln w="12700">
            <a:solidFill>
              <a:srgbClr val="6C7A89"/>
            </a:solidFill>
            <a:prstDash val="solid"/>
          </a:ln>
        </p:spPr>
      </p:sp>
      <p:pic>
        <p:nvPicPr>
          <p:cNvPr id="25" name="problem 5 icon" descr="preencoded.png">    </p:cNvPr>
          <p:cNvPicPr>
            <a:picLocks noChangeAspect="1"/>
          </p:cNvPicPr>
          <p:nvPr/>
        </p:nvPicPr>
        <p:blipFill>
          <a:blip r:embed="rId5"/>
          <a:stretch>
            <a:fillRect/>
          </a:stretch>
        </p:blipFill>
        <p:spPr>
          <a:xfrm>
            <a:off x="882396" y="5481828"/>
            <a:ext cx="301752" cy="301752"/>
          </a:xfrm>
          <a:prstGeom prst="rect">
            <a:avLst/>
          </a:prstGeom>
        </p:spPr>
      </p:pic>
      <p:sp>
        <p:nvSpPr>
          <p:cNvPr id="26" name="problem 5 head"/>
          <p:cNvSpPr txBox="1"/>
          <p:nvPr/>
        </p:nvSpPr>
        <p:spPr>
          <a:xfrm>
            <a:off x="1554480" y="5266944"/>
            <a:ext cx="3200400" cy="73152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 sync overwrote tracked evidence</a:t>
            </a:r>
            <a:endParaRPr lang="en-US" sz="1600" dirty="0"/>
          </a:p>
        </p:txBody>
      </p:sp>
      <p:sp>
        <p:nvSpPr>
          <p:cNvPr id="27" name="problem 5 body"/>
          <p:cNvSpPr txBox="1"/>
          <p:nvPr/>
        </p:nvSpPr>
        <p:spPr>
          <a:xfrm>
            <a:off x="4846320" y="5266944"/>
            <a:ext cx="6675120" cy="7315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Syncing results/ replaced the first Graviton files. Fix: restore from git, sync only rehearsal files; two instances agree within 2-3%.</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bg1"/>
                </a:solidFill>
                <a:latin typeface="+mj-lt" pitchFamily="34" charset="0"/>
                <a:ea typeface="+mj-lt" pitchFamily="34" charset="-122"/>
                <a:cs typeface="+mj-lt" pitchFamily="34" charset="-120"/>
              </a:rPr>
              <a:t>Lessons learned, and what comes next</a:t>
            </a:r>
            <a:endParaRPr lang="en-US" sz="2800" dirty="0"/>
          </a:p>
        </p:txBody>
      </p:sp>
      <p:sp>
        <p:nvSpPr>
          <p:cNvPr id="3" name="lesson badge 1"/>
          <p:cNvSpPr/>
          <p:nvPr/>
        </p:nvSpPr>
        <p:spPr>
          <a:xfrm>
            <a:off x="548640" y="1481328"/>
            <a:ext cx="548640" cy="548640"/>
          </a:xfrm>
          <a:prstGeom prst="ellipse">
            <a:avLst/>
          </a:prstGeom>
          <a:solidFill>
            <a:schemeClr val="accent2"/>
          </a:solidFill>
          <a:ln w="12700">
            <a:solidFill>
              <a:schemeClr val="accent2"/>
            </a:solidFill>
            <a:prstDash val="solid"/>
          </a:ln>
        </p:spPr>
      </p:sp>
      <p:sp>
        <p:nvSpPr>
          <p:cNvPr id="4" name="lesson number 1"/>
          <p:cNvSpPr txBox="1"/>
          <p:nvPr/>
        </p:nvSpPr>
        <p:spPr>
          <a:xfrm>
            <a:off x="548640" y="148132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5" name="lesson head 1"/>
          <p:cNvSpPr txBox="1"/>
          <p:nvPr/>
        </p:nvSpPr>
        <p:spPr>
          <a:xfrm>
            <a:off x="1280160" y="1371600"/>
            <a:ext cx="4754880" cy="4114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Validate the cost model on the target</a:t>
            </a:r>
            <a:endParaRPr lang="en-US" sz="1700" dirty="0"/>
          </a:p>
        </p:txBody>
      </p:sp>
      <p:sp>
        <p:nvSpPr>
          <p:cNvPr id="6" name="lesson text 1"/>
          <p:cNvSpPr txBox="1"/>
          <p:nvPr/>
        </p:nvSpPr>
        <p:spPr>
          <a:xfrm>
            <a:off x="1280160" y="1783080"/>
            <a:ext cx="4754880" cy="73152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Bytes did not predict latency, and perplexity did not resolve sensitivity. The metric is part of the result.</a:t>
            </a:r>
            <a:endParaRPr lang="en-US" sz="1300" dirty="0"/>
          </a:p>
        </p:txBody>
      </p:sp>
      <p:sp>
        <p:nvSpPr>
          <p:cNvPr id="7" name="lesson badge 2"/>
          <p:cNvSpPr/>
          <p:nvPr/>
        </p:nvSpPr>
        <p:spPr>
          <a:xfrm>
            <a:off x="548640" y="2670048"/>
            <a:ext cx="548640" cy="548640"/>
          </a:xfrm>
          <a:prstGeom prst="ellipse">
            <a:avLst/>
          </a:prstGeom>
          <a:solidFill>
            <a:schemeClr val="accent2"/>
          </a:solidFill>
          <a:ln w="12700">
            <a:solidFill>
              <a:schemeClr val="accent2"/>
            </a:solidFill>
            <a:prstDash val="solid"/>
          </a:ln>
        </p:spPr>
      </p:sp>
      <p:sp>
        <p:nvSpPr>
          <p:cNvPr id="8" name="lesson number 2"/>
          <p:cNvSpPr txBox="1"/>
          <p:nvPr/>
        </p:nvSpPr>
        <p:spPr>
          <a:xfrm>
            <a:off x="548640" y="267004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9" name="lesson head 2"/>
          <p:cNvSpPr txBox="1"/>
          <p:nvPr/>
        </p:nvSpPr>
        <p:spPr>
          <a:xfrm>
            <a:off x="1280160" y="2560320"/>
            <a:ext cx="4754880" cy="4114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Report revised and null results</a:t>
            </a:r>
            <a:endParaRPr lang="en-US" sz="1700" dirty="0"/>
          </a:p>
        </p:txBody>
      </p:sp>
      <p:sp>
        <p:nvSpPr>
          <p:cNvPr id="10" name="lesson text 2"/>
          <p:cNvSpPr txBox="1"/>
          <p:nvPr/>
        </p:nvSpPr>
        <p:spPr>
          <a:xfrm>
            <a:off x="1280160" y="2971800"/>
            <a:ext cx="4754880" cy="73152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The GA ties a greedy rule under additive objectives; an earlier per-block claim shrank from 70% to 33%.</a:t>
            </a:r>
            <a:endParaRPr lang="en-US" sz="1300" dirty="0"/>
          </a:p>
        </p:txBody>
      </p:sp>
      <p:sp>
        <p:nvSpPr>
          <p:cNvPr id="11" name="lesson badge 3"/>
          <p:cNvSpPr/>
          <p:nvPr/>
        </p:nvSpPr>
        <p:spPr>
          <a:xfrm>
            <a:off x="548640" y="3858768"/>
            <a:ext cx="548640" cy="548640"/>
          </a:xfrm>
          <a:prstGeom prst="ellipse">
            <a:avLst/>
          </a:prstGeom>
          <a:solidFill>
            <a:schemeClr val="accent2"/>
          </a:solidFill>
          <a:ln w="12700">
            <a:solidFill>
              <a:schemeClr val="accent2"/>
            </a:solidFill>
            <a:prstDash val="solid"/>
          </a:ln>
        </p:spPr>
      </p:sp>
      <p:sp>
        <p:nvSpPr>
          <p:cNvPr id="12" name="lesson number 3"/>
          <p:cNvSpPr txBox="1"/>
          <p:nvPr/>
        </p:nvSpPr>
        <p:spPr>
          <a:xfrm>
            <a:off x="548640" y="385876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3" name="lesson head 3"/>
          <p:cNvSpPr txBox="1"/>
          <p:nvPr/>
        </p:nvSpPr>
        <p:spPr>
          <a:xfrm>
            <a:off x="1280160" y="3749040"/>
            <a:ext cx="4754880" cy="4114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Hardware decides accuracy, not just speed</a:t>
            </a:r>
            <a:endParaRPr lang="en-US" sz="1700" dirty="0"/>
          </a:p>
        </p:txBody>
      </p:sp>
      <p:sp>
        <p:nvSpPr>
          <p:cNvPr id="14" name="lesson text 3"/>
          <p:cNvSpPr txBox="1"/>
          <p:nvPr/>
        </p:nvSpPr>
        <p:spPr>
          <a:xfrm>
            <a:off x="1280160" y="4160520"/>
            <a:ext cx="4754880" cy="73152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KleidiAI's Q8_0 re-quantization costs 37x accuracy on Phi-3 and adds no decode speed over the stock path.</a:t>
            </a:r>
            <a:endParaRPr lang="en-US" sz="1300" dirty="0"/>
          </a:p>
        </p:txBody>
      </p:sp>
      <p:sp>
        <p:nvSpPr>
          <p:cNvPr id="15" name="lesson badge 4"/>
          <p:cNvSpPr/>
          <p:nvPr/>
        </p:nvSpPr>
        <p:spPr>
          <a:xfrm>
            <a:off x="548640" y="5047488"/>
            <a:ext cx="548640" cy="548640"/>
          </a:xfrm>
          <a:prstGeom prst="ellipse">
            <a:avLst/>
          </a:prstGeom>
          <a:solidFill>
            <a:schemeClr val="accent2"/>
          </a:solidFill>
          <a:ln w="12700">
            <a:solidFill>
              <a:schemeClr val="accent2"/>
            </a:solidFill>
            <a:prstDash val="solid"/>
          </a:ln>
        </p:spPr>
      </p:sp>
      <p:sp>
        <p:nvSpPr>
          <p:cNvPr id="16" name="lesson number 4"/>
          <p:cNvSpPr txBox="1"/>
          <p:nvPr/>
        </p:nvSpPr>
        <p:spPr>
          <a:xfrm>
            <a:off x="548640" y="504748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4</a:t>
            </a:r>
            <a:endParaRPr lang="en-US" sz="1800" dirty="0"/>
          </a:p>
        </p:txBody>
      </p:sp>
      <p:sp>
        <p:nvSpPr>
          <p:cNvPr id="17" name="lesson head 4"/>
          <p:cNvSpPr txBox="1"/>
          <p:nvPr/>
        </p:nvSpPr>
        <p:spPr>
          <a:xfrm>
            <a:off x="1280160" y="4937760"/>
            <a:ext cx="4754880" cy="4114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Build cheap tiers and gates</a:t>
            </a:r>
            <a:endParaRPr lang="en-US" sz="1700" dirty="0"/>
          </a:p>
        </p:txBody>
      </p:sp>
      <p:sp>
        <p:nvSpPr>
          <p:cNvPr id="18" name="lesson text 4"/>
          <p:cNvSpPr txBox="1"/>
          <p:nvPr/>
        </p:nvSpPr>
        <p:spPr>
          <a:xfrm>
            <a:off x="1280160" y="5349240"/>
            <a:ext cx="4754880" cy="73152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A few dollars of rehearsal found five problems and measured the cost of an evaluation before the 24-hour Mac block.</a:t>
            </a:r>
            <a:endParaRPr lang="en-US" sz="1300" dirty="0"/>
          </a:p>
        </p:txBody>
      </p:sp>
      <p:sp>
        <p:nvSpPr>
          <p:cNvPr id="19" name="next card"/>
          <p:cNvSpPr/>
          <p:nvPr/>
        </p:nvSpPr>
        <p:spPr>
          <a:xfrm>
            <a:off x="6492240" y="1371600"/>
            <a:ext cx="5120640" cy="4709160"/>
          </a:xfrm>
          <a:prstGeom prst="roundRect">
            <a:avLst>
              <a:gd name="adj" fmla="val 1553"/>
            </a:avLst>
          </a:prstGeom>
          <a:solidFill>
            <a:schemeClr val="tx1"/>
          </a:solidFill>
          <a:ln w="12700">
            <a:solidFill>
              <a:schemeClr val="tx1"/>
            </a:solidFill>
            <a:prstDash val="solid"/>
          </a:ln>
        </p:spPr>
      </p:sp>
      <p:sp>
        <p:nvSpPr>
          <p:cNvPr id="20" name="next head"/>
          <p:cNvSpPr txBox="1"/>
          <p:nvPr/>
        </p:nvSpPr>
        <p:spPr>
          <a:xfrm>
            <a:off x="6720840" y="1508760"/>
            <a:ext cx="466344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libri" pitchFamily="34" charset="0"/>
                <a:ea typeface="Calibri" pitchFamily="34" charset="-122"/>
                <a:cs typeface="Calibri" pitchFamily="34" charset="-120"/>
              </a:rPr>
              <a:t>Next steps</a:t>
            </a:r>
            <a:endParaRPr lang="en-US" sz="2200" dirty="0"/>
          </a:p>
        </p:txBody>
      </p:sp>
      <p:sp>
        <p:nvSpPr>
          <p:cNvPr id="21" name="next bullets"/>
          <p:cNvSpPr txBox="1"/>
          <p:nvPr/>
        </p:nvSpPr>
        <p:spPr>
          <a:xfrm>
            <a:off x="6720840" y="2057400"/>
            <a:ext cx="4663440" cy="393192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bg1"/>
                </a:solidFill>
                <a:latin typeface="Calibri" pitchFamily="34" charset="0"/>
                <a:ea typeface="Calibri" pitchFamily="34" charset="-122"/>
                <a:cs typeface="Calibri" pitchFamily="34" charset="-120"/>
              </a:rPr>
              <a:t>T4, Apple M4 (quota request open): selftest gates, thread scan, then KleidiAI over all 256 genomes of two models and stock for the 12 baseline genomes; judge SME2 against a stock build</a:t>
            </a:r>
            <a:endParaRPr lang="en-US" sz="1400" dirty="0"/>
          </a:p>
          <a:p>
            <a:pPr marL="203200" indent="-203200">
              <a:spcAft>
                <a:spcPts val="900"/>
              </a:spcAft>
              <a:buSzPct val="100000"/>
              <a:buChar char="•"/>
            </a:pPr>
            <a:r>
              <a:rPr lang="en-US" sz="1400" dirty="0">
                <a:solidFill>
                  <a:schemeClr val="bg1"/>
                </a:solidFill>
                <a:latin typeface="Calibri" pitchFamily="34" charset="0"/>
                <a:ea typeface="Calibri" pitchFamily="34" charset="-122"/>
                <a:cs typeface="Calibri" pitchFamily="34" charset="-120"/>
              </a:rPr>
              <a:t>Replace simulated speed and energy in the searches with measurements; compare the GA with the sensitivity-greedy baseline</a:t>
            </a:r>
            <a:endParaRPr lang="en-US" sz="1400" dirty="0"/>
          </a:p>
          <a:p>
            <a:pPr marL="203200" indent="-203200">
              <a:spcAft>
                <a:spcPts val="900"/>
              </a:spcAft>
              <a:buSzPct val="100000"/>
              <a:buChar char="•"/>
            </a:pPr>
            <a:r>
              <a:rPr lang="en-US" sz="1400" dirty="0">
                <a:solidFill>
                  <a:schemeClr val="bg1"/>
                </a:solidFill>
                <a:latin typeface="Calibri" pitchFamily="34" charset="0"/>
                <a:ea typeface="Calibri" pitchFamily="34" charset="-122"/>
                <a:cs typeface="Calibri" pitchFamily="34" charset="-120"/>
              </a:rPr>
              <a:t>Optimize the Q4_0 kernel toward the memory roof; SME2 and Triton/CUDA variants</a:t>
            </a:r>
            <a:endParaRPr lang="en-US" sz="1400" dirty="0"/>
          </a:p>
          <a:p>
            <a:pPr marL="203200" indent="-203200">
              <a:spcAft>
                <a:spcPts val="900"/>
              </a:spcAft>
              <a:buSzPct val="100000"/>
              <a:buChar char="•"/>
            </a:pPr>
            <a:r>
              <a:rPr lang="en-US" sz="1400" dirty="0">
                <a:solidFill>
                  <a:schemeClr val="bg1"/>
                </a:solidFill>
                <a:latin typeface="Calibri" pitchFamily="34" charset="0"/>
                <a:ea typeface="Calibri" pitchFamily="34" charset="-122"/>
                <a:cs typeface="Calibri" pitchFamily="34" charset="-120"/>
              </a:rPr>
              <a:t>Report the Q8_0 finding upstream; third model once licence access is granted</a:t>
            </a:r>
            <a:endParaRPr lang="en-US" sz="1400" dirty="0"/>
          </a:p>
          <a:p>
            <a:pPr marL="203200" indent="-203200">
              <a:spcAft>
                <a:spcPts val="900"/>
              </a:spcAft>
              <a:buSzPct val="100000"/>
              <a:buChar char="•"/>
            </a:pPr>
            <a:r>
              <a:rPr lang="en-US" sz="1400" dirty="0">
                <a:solidFill>
                  <a:schemeClr val="bg1"/>
                </a:solidFill>
                <a:latin typeface="Calibri" pitchFamily="34" charset="0"/>
                <a:ea typeface="Calibri" pitchFamily="34" charset="-122"/>
                <a:cs typeface="Calibri" pitchFamily="34" charset="-120"/>
              </a:rPr>
              <a:t>Honest limits today: search speed and energy are simulated (calibrated to Graviton3, not M4); SME2 untested; no power data yet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rmPerf">
  <a:themeElements>
    <a:clrScheme name="ArmPerf">
      <a:dk1>
        <a:srgbClr val="10212B"/>
      </a:dk1>
      <a:lt1>
        <a:srgbClr val="FFFFFF"/>
      </a:lt1>
      <a:dk2>
        <a:srgbClr val="0B3C4F"/>
      </a:dk2>
      <a:lt2>
        <a:srgbClr val="EDF2F5"/>
      </a:lt2>
      <a:accent1>
        <a:srgbClr val="0A7EA4"/>
      </a:accent1>
      <a:accent2>
        <a:srgbClr val="F2A541"/>
      </a:accent2>
      <a:accent3>
        <a:srgbClr val="2E9E8A"/>
      </a:accent3>
      <a:accent4>
        <a:srgbClr val="D1495B"/>
      </a:accent4>
      <a:accent5>
        <a:srgbClr val="6C7A89"/>
      </a:accent5>
      <a:accent6>
        <a:srgbClr val="7B6FB5"/>
      </a:accent6>
      <a:hlink>
        <a:srgbClr val="0A7EA4"/>
      </a:hlink>
      <a:folHlink>
        <a:srgbClr val="6C7A89"/>
      </a:folHlink>
    </a:clrScheme>
    <a:fontScheme name="ArmPer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Evol_inference on Arm (mac-m4)</dc:title>
  <dc:subject>PptxGenJS Presentation</dc:subject>
  <dc:creator>Nikolaus Almassy</dc:creator>
  <cp:lastModifiedBy>Nikolaus Almassy</cp:lastModifiedBy>
  <cp:revision>1</cp:revision>
  <dcterms:created xsi:type="dcterms:W3CDTF">2026-10-04T04:17:33Z</dcterms:created>
  <dcterms:modified xsi:type="dcterms:W3CDTF">2026-10-04T04:17:33Z</dcterms:modified>
</cp:coreProperties>
</file>