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ntext" id="{021a97e0-0d89-6f0d-e9f8-8b4c2308b558}">
          <p14:sldIdLst>
            <p14:sldId id="256"/>
            <p14:sldId id="257"/>
            <p14:sldId id="258"/>
          </p14:sldIdLst>
        </p14:section>
        <p14:section name="Method" id="{388de985-fb97-518d-2ea3-b6f6ab20488c}">
          <p14:sldIdLst>
            <p14:sldId id="259"/>
            <p14:sldId id="260"/>
          </p14:sldIdLst>
        </p14:section>
        <p14:section name="Results" id="{54383ae4-e2c6-e9bc-0445-683589727d09}">
          <p14:sldIdLst>
            <p14:sldId id="261"/>
            <p14:sldId id="262"/>
            <p14:sldId id="263"/>
            <p14:sldId id="264"/>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3C4F"/>
                </a:solidFill>
                <a:latin typeface="+mn-lt"/>
              </a:defRPr>
            </a:pPr>
            <a:r>
              <a:rPr sz="1400" b="0" i="0" u="none" strike="noStrike">
                <a:solidFill>
                  <a:srgbClr val="0B3C4F"/>
                </a:solidFill>
                <a:latin typeface="+mn-lt"/>
              </a:rPr>
              <a:t>Relative error of the effect estimate (%), Q8_0 on 1023 tokens</a:t>
            </a:r>
          </a:p>
        </c:rich>
      </c:tx>
      <c:layout/>
      <c:overlay val="0"/>
    </c:title>
    <c:autoTitleDeleted val="0"/>
    <c:plotArea>
      <c:layout/>
      <c:barChart>
        <c:barDir val="col"/>
        <c:grouping val="clustered"/>
        <c:varyColors val="0"/>
        <c:ser>
          <c:idx val="0"/>
          <c:order val="0"/>
          <c:tx>
            <c:strRef>
              <c:f>Sheet1!$B$1</c:f>
              <c:strCache>
                <c:ptCount val="1"/>
                <c:pt idx="0">
                  <c:v>Relative standard error of the measured effect</c:v>
                </c:pt>
              </c:strCache>
            </c:strRef>
          </c:tx>
          <c:spPr>
            <a:solidFill>
              <a:srgbClr val="D1495B"/>
            </a:solidFill>
            <a:effectLst/>
          </c:spPr>
          <c:invertIfNegative val="0"/>
          <c:dLbls>
            <c:numFmt formatCode="0.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dPt>
            <c:idx val="0"/>
            <c:invertIfNegative val="0"/>
            <c:bubble3D val="0"/>
            <c:spPr>
              <a:solidFill>
                <a:srgbClr val="D1495B"/>
              </a:solidFill>
              <a:effectLst/>
            </c:spPr>
          </c:dPt>
          <c:dPt>
            <c:idx val="1"/>
            <c:invertIfNegative val="0"/>
            <c:bubble3D val="0"/>
            <c:spPr>
              <a:solidFill>
                <a:srgbClr val="2E9E8A"/>
              </a:solidFill>
              <a:effectLst/>
            </c:spPr>
          </c:dPt>
          <c:cat>
            <c:multiLvlStrRef>
              <c:f>Sheet1!$A$2:$A$3</c:f>
              <c:multiLvlStrCache>
                <c:ptCount val="2"/>
                <c:lvl>
                  <c:pt idx="0">
                    <c:v>Perplexity ratio</c:v>
                  </c:pt>
                  <c:pt idx="1">
                    <c:v>KL divergence</c:v>
                  </c:pt>
                </c:lvl>
              </c:multiLvlStrCache>
            </c:multiLvlStrRef>
          </c:cat>
          <c:val>
            <c:numRef>
              <c:f>Sheet1!$B$2:$B$3</c:f>
              <c:numCache>
                <c:formatCode>General</c:formatCode>
                <c:ptCount val="2"/>
                <c:pt idx="0">
                  <c:v>61</c:v>
                </c:pt>
                <c:pt idx="1">
                  <c:v>5.3</c:v>
                </c:pt>
              </c:numCache>
            </c:numRef>
          </c:val>
        </c:ser>
        <c:dLbls>
          <c:numFmt formatCode="0.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0212B"/>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9525" cap="flat">
              <a:solidFill>
                <a:srgbClr val="D5DEE4"/>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7A89"/>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3C4F"/>
                </a:solidFill>
                <a:latin typeface="+mn-lt"/>
              </a:defRPr>
            </a:pPr>
            <a:r>
              <a:rPr sz="1400" b="0" i="0" u="none" strike="noStrike">
                <a:solidFill>
                  <a:srgbClr val="0B3C4F"/>
                </a:solidFill>
                <a:latin typeface="+mn-lt"/>
              </a:rPr>
              <a:t>Phi-3-mini: accuracy cost of quantizing one block to 4 bits (%)</a:t>
            </a:r>
          </a:p>
        </c:rich>
      </c:tx>
      <c:layout/>
      <c:overlay val="0"/>
    </c:title>
    <c:autoTitleDeleted val="0"/>
    <c:plotArea>
      <c:layout/>
      <c:barChart>
        <c:barDir val="col"/>
        <c:grouping val="clustered"/>
        <c:varyColors val="0"/>
        <c:ser>
          <c:idx val="0"/>
          <c:order val="0"/>
          <c:tx>
            <c:strRef>
              <c:f>Sheet1!$B$1</c:f>
              <c:strCache>
                <c:ptCount val="1"/>
                <c:pt idx="0">
                  <c:v>Q4_0 (llama.cpp)</c:v>
                </c:pt>
              </c:strCache>
            </c:strRef>
          </c:tx>
          <c:spPr>
            <a:solidFill>
              <a:srgbClr val="0A7EA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Sheet1!$A$2:$A$9</c:f>
              <c:multiLvlStrCache>
                <c:ptCount val="8"/>
                <c:lvl>
                  <c:pt idx="0">
                    <c:v>0</c:v>
                  </c:pt>
                  <c:pt idx="1">
                    <c:v>1</c:v>
                  </c:pt>
                  <c:pt idx="2">
                    <c:v>2</c:v>
                  </c:pt>
                  <c:pt idx="3">
                    <c:v>3</c:v>
                  </c:pt>
                  <c:pt idx="4">
                    <c:v>4</c:v>
                  </c:pt>
                  <c:pt idx="5">
                    <c:v>5</c:v>
                  </c:pt>
                  <c:pt idx="6">
                    <c:v>6</c:v>
                  </c:pt>
                  <c:pt idx="7">
                    <c:v>7</c:v>
                  </c:pt>
                </c:lvl>
              </c:multiLvlStrCache>
            </c:multiLvlStrRef>
          </c:cat>
          <c:val>
            <c:numRef>
              <c:f>Sheet1!$B$2:$B$9</c:f>
              <c:numCache>
                <c:formatCode>General</c:formatCode>
                <c:ptCount val="8"/>
                <c:pt idx="0">
                  <c:v>0.566</c:v>
                </c:pt>
                <c:pt idx="1">
                  <c:v>0.656</c:v>
                </c:pt>
                <c:pt idx="2">
                  <c:v>0.739</c:v>
                </c:pt>
                <c:pt idx="3">
                  <c:v>0.96</c:v>
                </c:pt>
                <c:pt idx="4">
                  <c:v>0.654</c:v>
                </c:pt>
                <c:pt idx="5">
                  <c:v>0.502</c:v>
                </c:pt>
                <c:pt idx="6">
                  <c:v>0.42</c:v>
                </c:pt>
                <c:pt idx="7">
                  <c:v>1.431</c:v>
                </c:pt>
              </c:numCache>
            </c:numRef>
          </c:val>
        </c:ser>
        <c:ser>
          <c:idx val="1"/>
          <c:order val="1"/>
          <c:tx>
            <c:strRef>
              <c:f>Sheet1!$C$1</c:f>
              <c:strCache>
                <c:ptCount val="1"/>
                <c:pt idx="0">
                  <c:v>NF4 (bitsandbytes)</c:v>
                </c:pt>
              </c:strCache>
            </c:strRef>
          </c:tx>
          <c:spPr>
            <a:solidFill>
              <a:srgbClr val="F2A541"/>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Sheet1!$A$2:$A$9</c:f>
              <c:multiLvlStrCache>
                <c:ptCount val="8"/>
                <c:lvl>
                  <c:pt idx="0">
                    <c:v>0</c:v>
                  </c:pt>
                  <c:pt idx="1">
                    <c:v>1</c:v>
                  </c:pt>
                  <c:pt idx="2">
                    <c:v>2</c:v>
                  </c:pt>
                  <c:pt idx="3">
                    <c:v>3</c:v>
                  </c:pt>
                  <c:pt idx="4">
                    <c:v>4</c:v>
                  </c:pt>
                  <c:pt idx="5">
                    <c:v>5</c:v>
                  </c:pt>
                  <c:pt idx="6">
                    <c:v>6</c:v>
                  </c:pt>
                  <c:pt idx="7">
                    <c:v>7</c:v>
                  </c:pt>
                </c:lvl>
              </c:multiLvlStrCache>
            </c:multiLvlStrRef>
          </c:cat>
          <c:val>
            <c:numRef>
              <c:f>Sheet1!$C$2:$C$9</c:f>
              <c:numCache>
                <c:formatCode>General</c:formatCode>
                <c:ptCount val="8"/>
                <c:pt idx="0">
                  <c:v>0.544</c:v>
                </c:pt>
                <c:pt idx="1">
                  <c:v>0.612</c:v>
                </c:pt>
                <c:pt idx="2">
                  <c:v>0.763</c:v>
                </c:pt>
                <c:pt idx="3">
                  <c:v>0.808</c:v>
                </c:pt>
                <c:pt idx="4">
                  <c:v>0.525</c:v>
                </c:pt>
                <c:pt idx="5">
                  <c:v>0.523</c:v>
                </c:pt>
                <c:pt idx="6">
                  <c:v>0.422</c:v>
                </c:pt>
                <c:pt idx="7">
                  <c:v>1.284</c:v>
                </c:pt>
              </c:numCache>
            </c:numRef>
          </c:val>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sz="1200" b="0" i="0" u="none" strike="noStrike">
                    <a:solidFill>
                      <a:srgbClr val="6C7A89"/>
                    </a:solidFill>
                    <a:latin typeface="+mn-lt"/>
                  </a:defRPr>
                </a:pPr>
                <a:r>
                  <a:rPr sz="1200" b="0" i="0" u="none" strike="noStrike">
                    <a:solidFill>
                      <a:srgbClr val="6C7A89"/>
                    </a:solidFill>
                    <a:latin typeface="+mn-lt"/>
                  </a:rPr>
                  <a:t>super-block (0 = nearest the input)</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0212B"/>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5DEE4"/>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7A89"/>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0212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3C4F"/>
                </a:solidFill>
                <a:latin typeface="+mn-lt"/>
              </a:defRPr>
            </a:pPr>
            <a:r>
              <a:rPr sz="1400" b="0" i="0" u="none" strike="noStrike">
                <a:solidFill>
                  <a:srgbClr val="0B3C4F"/>
                </a:solidFill>
                <a:latin typeface="+mn-lt"/>
              </a:rPr>
              <a:t>Q4_0 cost share per block (% of the summed single-block cost)</a:t>
            </a:r>
          </a:p>
        </c:rich>
      </c:tx>
      <c:layout/>
      <c:overlay val="0"/>
    </c:title>
    <c:autoTitleDeleted val="0"/>
    <c:plotArea>
      <c:layout/>
      <c:lineChart>
        <c:varyColors val="0"/>
        <c:ser>
          <c:idx val="0"/>
          <c:order val="0"/>
          <c:tx>
            <c:strRef>
              <c:f>Sheet1!$B$1</c:f>
              <c:strCache>
                <c:ptCount val="1"/>
                <c:pt idx="0">
                  <c:v>Phi-3-mini 3.8B (vs F16)</c:v>
                </c:pt>
              </c:strCache>
            </c:strRef>
          </c:tx>
          <c:spPr>
            <a:solidFill>
              <a:srgbClr val="0A7EA4"/>
            </a:solidFill>
            <a:ln w="38100" cap="flat">
              <a:solidFill>
                <a:srgbClr val="0A7EA4"/>
              </a:solidFill>
              <a:prstDash val="solid"/>
              <a:round/>
            </a:ln>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marker>
            <c:symbol val="circle"/>
            <c:size val="8"/>
            <c:spPr>
              <a:solidFill>
                <a:srgbClr val="0A7EA4"/>
              </a:solidFill>
              <a:ln w="9525" cap="flat">
                <a:solidFill>
                  <a:srgbClr val="0A7EA4"/>
                </a:solidFill>
                <a:prstDash val="solid"/>
                <a:round/>
              </a:ln>
              <a:effectLst/>
            </c:spPr>
          </c:marker>
          <c:cat>
            <c:multiLvlStrRef>
              <c:f>Sheet1!$A$2:$A$9</c:f>
              <c:multiLvlStrCache>
                <c:ptCount val="8"/>
                <c:lvl>
                  <c:pt idx="0">
                    <c:v>0</c:v>
                  </c:pt>
                  <c:pt idx="1">
                    <c:v>1</c:v>
                  </c:pt>
                  <c:pt idx="2">
                    <c:v>2</c:v>
                  </c:pt>
                  <c:pt idx="3">
                    <c:v>3</c:v>
                  </c:pt>
                  <c:pt idx="4">
                    <c:v>4</c:v>
                  </c:pt>
                  <c:pt idx="5">
                    <c:v>5</c:v>
                  </c:pt>
                  <c:pt idx="6">
                    <c:v>6</c:v>
                  </c:pt>
                  <c:pt idx="7">
                    <c:v>7</c:v>
                  </c:pt>
                </c:lvl>
              </c:multiLvlStrCache>
            </c:multiLvlStrRef>
          </c:cat>
          <c:val>
            <c:numRef>
              <c:f>Sheet1!$B$2:$B$9</c:f>
              <c:numCache>
                <c:formatCode>General</c:formatCode>
                <c:ptCount val="8"/>
                <c:pt idx="0">
                  <c:v>9.5</c:v>
                </c:pt>
                <c:pt idx="1">
                  <c:v>11.1</c:v>
                </c:pt>
                <c:pt idx="2">
                  <c:v>12.5</c:v>
                </c:pt>
                <c:pt idx="3">
                  <c:v>16.2</c:v>
                </c:pt>
                <c:pt idx="4">
                  <c:v>11</c:v>
                </c:pt>
                <c:pt idx="5">
                  <c:v>8.5</c:v>
                </c:pt>
                <c:pt idx="6">
                  <c:v>7.1</c:v>
                </c:pt>
                <c:pt idx="7">
                  <c:v>24.1</c:v>
                </c:pt>
              </c:numCache>
            </c:numRef>
          </c:val>
          <c:smooth val="0"/>
        </c:ser>
        <c:ser>
          <c:idx val="1"/>
          <c:order val="1"/>
          <c:tx>
            <c:strRef>
              <c:f>Sheet1!$C$1</c:f>
              <c:strCache>
                <c:ptCount val="1"/>
                <c:pt idx="0">
                  <c:v>Llama-3.1-8B (vs Q8_0)</c:v>
                </c:pt>
              </c:strCache>
            </c:strRef>
          </c:tx>
          <c:spPr>
            <a:solidFill>
              <a:srgbClr val="D1495B"/>
            </a:solidFill>
            <a:ln w="38100" cap="flat">
              <a:solidFill>
                <a:srgbClr val="D1495B"/>
              </a:solidFill>
              <a:prstDash val="solid"/>
              <a:round/>
            </a:ln>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marker>
            <c:symbol val="circle"/>
            <c:size val="8"/>
            <c:spPr>
              <a:solidFill>
                <a:srgbClr val="D1495B"/>
              </a:solidFill>
              <a:ln w="9525" cap="flat">
                <a:solidFill>
                  <a:srgbClr val="D1495B"/>
                </a:solidFill>
                <a:prstDash val="solid"/>
                <a:round/>
              </a:ln>
              <a:effectLst/>
            </c:spPr>
          </c:marker>
          <c:cat>
            <c:multiLvlStrRef>
              <c:f>Sheet1!$A$2:$A$9</c:f>
              <c:multiLvlStrCache>
                <c:ptCount val="8"/>
                <c:lvl>
                  <c:pt idx="0">
                    <c:v>0</c:v>
                  </c:pt>
                  <c:pt idx="1">
                    <c:v>1</c:v>
                  </c:pt>
                  <c:pt idx="2">
                    <c:v>2</c:v>
                  </c:pt>
                  <c:pt idx="3">
                    <c:v>3</c:v>
                  </c:pt>
                  <c:pt idx="4">
                    <c:v>4</c:v>
                  </c:pt>
                  <c:pt idx="5">
                    <c:v>5</c:v>
                  </c:pt>
                  <c:pt idx="6">
                    <c:v>6</c:v>
                  </c:pt>
                  <c:pt idx="7">
                    <c:v>7</c:v>
                  </c:pt>
                </c:lvl>
              </c:multiLvlStrCache>
            </c:multiLvlStrRef>
          </c:cat>
          <c:val>
            <c:numRef>
              <c:f>Sheet1!$C$2:$C$9</c:f>
              <c:numCache>
                <c:formatCode>General</c:formatCode>
                <c:ptCount val="8"/>
                <c:pt idx="0">
                  <c:v>26.2</c:v>
                </c:pt>
                <c:pt idx="1">
                  <c:v>9.2</c:v>
                </c:pt>
                <c:pt idx="2">
                  <c:v>9.9</c:v>
                </c:pt>
                <c:pt idx="3">
                  <c:v>11.3</c:v>
                </c:pt>
                <c:pt idx="4">
                  <c:v>10</c:v>
                </c:pt>
                <c:pt idx="5">
                  <c:v>7.4</c:v>
                </c:pt>
                <c:pt idx="6">
                  <c:v>7.6</c:v>
                </c:pt>
                <c:pt idx="7">
                  <c:v>18.4</c:v>
                </c:pt>
              </c:numCache>
            </c:numRef>
          </c:val>
          <c:smooth val="0"/>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0212B"/>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5DEE4"/>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7A89"/>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0212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3C4F"/>
                </a:solidFill>
                <a:latin typeface="+mn-lt"/>
              </a:defRPr>
            </a:pPr>
            <a:r>
              <a:rPr sz="1400" b="0" i="0" u="none" strike="noStrike">
                <a:solidFill>
                  <a:srgbClr val="0B3C4F"/>
                </a:solidFill>
                <a:latin typeface="+mn-lt"/>
              </a:rPr>
              <a:t>Llama-3.1-8B exhaustive front (speed simulated)</a:t>
            </a:r>
          </a:p>
        </c:rich>
      </c:tx>
      <c:layout/>
      <c:overlay val="0"/>
    </c:title>
    <c:autoTitleDeleted val="0"/>
    <c:plotArea>
      <c:layout/>
      <c:scatterChart>
        <c:scatterStyle val="lineMarker"/>
        <c:varyColors val="0"/>
        <c:ser>
          <c:idx val="0"/>
          <c:order val="0"/>
          <c:tx>
            <c:strRef>
              <c:f>Sheet1!$B$1</c:f>
              <c:strCache>
                <c:ptCount val="1"/>
                <c:pt idx="0">
                  <c:v>True Pareto front (all 256 genomes)</c:v>
                </c:pt>
              </c:strCache>
            </c:strRef>
          </c:tx>
          <c:spPr>
            <a:solidFill>
              <a:srgbClr val="0A7EA4"/>
            </a:solidFill>
            <a:ln w="25400" cap="flat">
              <a:solidFill>
                <a:srgbClr val="0A7EA4"/>
              </a:solidFill>
              <a:prstDash val="solid"/>
              <a:round/>
            </a:ln>
            <a:effectLst/>
          </c:spPr>
          <c:marker>
            <c:symbol val="circle"/>
            <c:size val="10"/>
            <c:spPr>
              <a:solidFill>
                <a:srgbClr val="0A7EA4"/>
              </a:solidFill>
              <a:ln w="9525" cap="flat">
                <a:solidFill>
                  <a:srgbClr val="0A7EA4"/>
                </a:solidFill>
                <a:prstDash val="solid"/>
                <a:round/>
              </a:ln>
              <a:effectLst/>
            </c:spPr>
          </c:marker>
          <c:xVal>
            <c:numRef>
              <c:f>Sheet1!$A$2:$A$10</c:f>
              <c:numCache>
                <c:formatCode>General</c:formatCode>
                <c:ptCount val="9"/>
                <c:pt idx="0">
                  <c:v>0</c:v>
                </c:pt>
                <c:pt idx="1">
                  <c:v>0.346</c:v>
                </c:pt>
                <c:pt idx="2">
                  <c:v>0.698</c:v>
                </c:pt>
                <c:pt idx="3">
                  <c:v>1.116</c:v>
                </c:pt>
                <c:pt idx="4">
                  <c:v>1.565</c:v>
                </c:pt>
                <c:pt idx="5">
                  <c:v>2.038</c:v>
                </c:pt>
                <c:pt idx="6">
                  <c:v>2.581</c:v>
                </c:pt>
                <c:pt idx="7">
                  <c:v>3.38</c:v>
                </c:pt>
                <c:pt idx="8">
                  <c:v>4.371</c:v>
                </c:pt>
              </c:numCache>
            </c:numRef>
          </c:xVal>
          <c:yVal>
            <c:numRef>
              <c:f>Sheet1!$B$2:$B$10</c:f>
              <c:numCache>
                <c:formatCode>General</c:formatCode>
                <c:ptCount val="9"/>
                <c:pt idx="0">
                  <c:v>0</c:v>
                </c:pt>
                <c:pt idx="1">
                  <c:v>5.2</c:v>
                </c:pt>
                <c:pt idx="2">
                  <c:v>10.9</c:v>
                </c:pt>
                <c:pt idx="3">
                  <c:v>17.2</c:v>
                </c:pt>
                <c:pt idx="4">
                  <c:v>24.4</c:v>
                </c:pt>
                <c:pt idx="5">
                  <c:v>32.5</c:v>
                </c:pt>
                <c:pt idx="6">
                  <c:v>41.7</c:v>
                </c:pt>
                <c:pt idx="7">
                  <c:v>52.2</c:v>
                </c:pt>
                <c:pt idx="8">
                  <c:v>64.5</c:v>
                </c:pt>
              </c:numCache>
            </c:numRef>
          </c:yVal>
          <c:smooth val="0"/>
        </c:ser>
        <c:dLbls>
          <c:numFmt formatCode="General"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dLbls>
        <c:axId val="2094734554"/>
        <c:axId val="2094734552"/>
      </c:scatterChart>
      <c:valAx>
        <c:axId val="2094734554"/>
        <c:scaling>
          <c:orientation val="minMax"/>
        </c:scaling>
        <c:delete val="0"/>
        <c:axPos val="b"/>
        <c:title>
          <c:tx>
            <c:rich>
              <a:bodyPr/>
              <a:lstStyle/>
              <a:p>
                <a:pPr>
                  <a:defRPr sz="1200" b="0" i="0" u="none" strike="noStrike">
                    <a:solidFill>
                      <a:srgbClr val="6C7A89"/>
                    </a:solidFill>
                    <a:latin typeface="+mn-lt"/>
                  </a:defRPr>
                </a:pPr>
                <a:r>
                  <a:rPr sz="1200" b="0" i="0" u="none" strike="noStrike">
                    <a:solidFill>
                      <a:srgbClr val="6C7A89"/>
                    </a:solidFill>
                    <a:latin typeface="+mn-lt"/>
                  </a:rPr>
                  <a:t>accuracy cost (% perplexity increase, measured)</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1200" b="0" i="0" u="none" strike="noStrike">
                <a:solidFill>
                  <a:srgbClr val="10212B"/>
                </a:solidFill>
                <a:latin typeface="+mn-lt"/>
              </a:defRPr>
            </a:pPr>
            <a:endParaRPr lang="en-US"/>
          </a:p>
        </c:txPr>
        <c:crossAx val="2094734552"/>
        <c:crosses val="autoZero"/>
        <c:auto val="1"/>
        <c:lblAlgn val="ctr"/>
        <c:noMultiLvlLbl val="1"/>
      </c:valAx>
      <c:valAx>
        <c:axId val="2094734552"/>
        <c:scaling>
          <c:orientation val="minMax"/>
        </c:scaling>
        <c:delete val="0"/>
        <c:axPos val="l"/>
        <c:majorGridlines>
          <c:spPr>
            <a:ln w="9525" cap="flat">
              <a:solidFill>
                <a:srgbClr val="D5DEE4"/>
              </a:solidFill>
              <a:prstDash val="solid"/>
              <a:round/>
            </a:ln>
          </c:spPr>
        </c:majorGridlines>
        <c:title>
          <c:tx>
            <c:rich>
              <a:bodyPr/>
              <a:lstStyle/>
              <a:p>
                <a:pPr>
                  <a:defRPr sz="1200" b="0" i="0" u="none" strike="noStrike">
                    <a:solidFill>
                      <a:srgbClr val="6C7A89"/>
                    </a:solidFill>
                    <a:latin typeface="+mn-lt"/>
                  </a:defRPr>
                </a:pPr>
                <a:r>
                  <a:rPr sz="1200" b="0" i="0" u="none" strike="noStrike">
                    <a:solidFill>
                      <a:srgbClr val="6C7A89"/>
                    </a:solidFill>
                    <a:latin typeface="+mn-lt"/>
                  </a:rPr>
                  <a:t>simulated decode gain (%)</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1100" b="0" i="0" u="none" strike="noStrike">
                <a:solidFill>
                  <a:srgbClr val="6C7A89"/>
                </a:solidFill>
                <a:latin typeface="+mn-lt"/>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3C4F"/>
                </a:solidFill>
                <a:latin typeface="+mn-lt"/>
              </a:defRPr>
            </a:pPr>
            <a:r>
              <a:rPr sz="1400" b="0" i="0" u="none" strike="noStrike">
                <a:solidFill>
                  <a:srgbClr val="0B3C4F"/>
                </a:solidFill>
                <a:latin typeface="+mn-lt"/>
              </a:rPr>
              <a:t>Phi-3-mini on c7g.2xlarge: accuracy cost (% perplexity increase)</a:t>
            </a:r>
          </a:p>
        </c:rich>
      </c:tx>
      <c:layout/>
      <c:overlay val="0"/>
    </c:title>
    <c:autoTitleDeleted val="0"/>
    <c:plotArea>
      <c:layout/>
      <c:barChart>
        <c:barDir val="col"/>
        <c:grouping val="clustered"/>
        <c:varyColors val="0"/>
        <c:ser>
          <c:idx val="0"/>
          <c:order val="0"/>
          <c:tx>
            <c:strRef>
              <c:f>Sheet1!$B$1</c:f>
              <c:strCache>
                <c:ptCount val="1"/>
                <c:pt idx="0">
                  <c:v>Perplexity increase vs F16 (%)</c:v>
                </c:pt>
              </c:strCache>
            </c:strRef>
          </c:tx>
          <c:spPr>
            <a:solidFill>
              <a:srgbClr val="6C7A89"/>
            </a:solidFill>
            <a:effectLst/>
          </c:spPr>
          <c:invertIfNegative val="0"/>
          <c:dLbls>
            <c:numFmt formatCode="0.0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dPt>
            <c:idx val="0"/>
            <c:invertIfNegative val="0"/>
            <c:bubble3D val="0"/>
            <c:spPr>
              <a:solidFill>
                <a:srgbClr val="6C7A89"/>
              </a:solidFill>
              <a:effectLst/>
            </c:spPr>
          </c:dPt>
          <c:dPt>
            <c:idx val="1"/>
            <c:invertIfNegative val="0"/>
            <c:bubble3D val="0"/>
            <c:spPr>
              <a:solidFill>
                <a:srgbClr val="D1495B"/>
              </a:solidFill>
              <a:effectLst/>
            </c:spPr>
          </c:dPt>
          <c:dPt>
            <c:idx val="2"/>
            <c:invertIfNegative val="0"/>
            <c:bubble3D val="0"/>
            <c:spPr>
              <a:solidFill>
                <a:srgbClr val="6C7A89"/>
              </a:solidFill>
              <a:effectLst/>
            </c:spPr>
          </c:dPt>
          <c:dPt>
            <c:idx val="3"/>
            <c:invertIfNegative val="0"/>
            <c:bubble3D val="0"/>
            <c:spPr>
              <a:solidFill>
                <a:srgbClr val="6C7A89"/>
              </a:solidFill>
              <a:effectLst/>
            </c:spPr>
          </c:dPt>
          <c:cat>
            <c:multiLvlStrRef>
              <c:f>Sheet1!$A$2:$A$5</c:f>
              <c:multiLvlStrCache>
                <c:ptCount val="4"/>
                <c:lvl>
                  <c:pt idx="0">
                    <c:v>Q8_0 stock</c:v>
                  </c:pt>
                  <c:pt idx="1">
                    <c:v>Q8_0 KleidiAI</c:v>
                  </c:pt>
                  <c:pt idx="2">
                    <c:v>Q4_0 stock</c:v>
                  </c:pt>
                  <c:pt idx="3">
                    <c:v>Q4_0 KleidiAI</c:v>
                  </c:pt>
                </c:lvl>
              </c:multiLvlStrCache>
            </c:multiLvlStrRef>
          </c:cat>
          <c:val>
            <c:numRef>
              <c:f>Sheet1!$B$2:$B$5</c:f>
              <c:numCache>
                <c:formatCode>General</c:formatCode>
                <c:ptCount val="4"/>
                <c:pt idx="0">
                  <c:v>0.08</c:v>
                </c:pt>
                <c:pt idx="1">
                  <c:v>2.87</c:v>
                </c:pt>
                <c:pt idx="2">
                  <c:v>8.97</c:v>
                </c:pt>
                <c:pt idx="3">
                  <c:v>8.97</c:v>
                </c:pt>
              </c:numCache>
            </c:numRef>
          </c:val>
        </c:ser>
        <c:dLbls>
          <c:numFmt formatCode="0.0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0212B"/>
                </a:solidFill>
                <a:latin typeface="+mn-lt"/>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D5DEE4"/>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7A89"/>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3C4F"/>
                </a:solidFill>
                <a:latin typeface="+mn-lt"/>
              </a:defRPr>
            </a:pPr>
            <a:r>
              <a:rPr sz="1400" b="0" i="0" u="none" strike="noStrike">
                <a:solidFill>
                  <a:srgbClr val="0B3C4F"/>
                </a:solidFill>
                <a:latin typeface="+mn-lt"/>
              </a:rPr>
              <a:t>Phi-3 decode, 8 threads: % of measured read bandwidth (158.7 GB/s)</a:t>
            </a:r>
          </a:p>
        </c:rich>
      </c:tx>
      <c:layout/>
      <c:overlay val="0"/>
    </c:title>
    <c:autoTitleDeleted val="0"/>
    <c:plotArea>
      <c:layout/>
      <c:barChart>
        <c:barDir val="col"/>
        <c:grouping val="clustered"/>
        <c:varyColors val="0"/>
        <c:ser>
          <c:idx val="0"/>
          <c:order val="0"/>
          <c:tx>
            <c:strRef>
              <c:f>Sheet1!$B$1</c:f>
              <c:strCache>
                <c:ptCount val="1"/>
                <c:pt idx="0">
                  <c:v>Decode bandwidth as % of the memory roof</c:v>
                </c:pt>
              </c:strCache>
            </c:strRef>
          </c:tx>
          <c:spPr>
            <a:solidFill>
              <a:srgbClr val="6C7A89"/>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dPt>
            <c:idx val="0"/>
            <c:invertIfNegative val="0"/>
            <c:bubble3D val="0"/>
            <c:spPr>
              <a:solidFill>
                <a:srgbClr val="6C7A89"/>
              </a:solidFill>
              <a:effectLst/>
            </c:spPr>
          </c:dPt>
          <c:dPt>
            <c:idx val="1"/>
            <c:invertIfNegative val="0"/>
            <c:bubble3D val="0"/>
            <c:spPr>
              <a:solidFill>
                <a:srgbClr val="2E9E8A"/>
              </a:solidFill>
              <a:effectLst/>
            </c:spPr>
          </c:dPt>
          <c:dPt>
            <c:idx val="2"/>
            <c:invertIfNegative val="0"/>
            <c:bubble3D val="0"/>
            <c:spPr>
              <a:solidFill>
                <a:srgbClr val="F2A541"/>
              </a:solidFill>
              <a:effectLst/>
            </c:spPr>
          </c:dPt>
          <c:cat>
            <c:multiLvlStrRef>
              <c:f>Sheet1!$A$2:$A$4</c:f>
              <c:multiLvlStrCache>
                <c:ptCount val="3"/>
                <c:lvl>
                  <c:pt idx="0">
                    <c:v>F16</c:v>
                  </c:pt>
                  <c:pt idx="1">
                    <c:v>Q8_0</c:v>
                  </c:pt>
                  <c:pt idx="2">
                    <c:v>Q4_0</c:v>
                  </c:pt>
                </c:lvl>
              </c:multiLvlStrCache>
            </c:multiLvlStrRef>
          </c:cat>
          <c:val>
            <c:numRef>
              <c:f>Sheet1!$B$2:$B$4</c:f>
              <c:numCache>
                <c:formatCode>General</c:formatCode>
                <c:ptCount val="3"/>
                <c:pt idx="0">
                  <c:v>48</c:v>
                </c:pt>
                <c:pt idx="1">
                  <c:v>95</c:v>
                </c:pt>
                <c:pt idx="2">
                  <c:v>72</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0212B"/>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9525" cap="flat">
              <a:solidFill>
                <a:srgbClr val="D5DEE4"/>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7A89"/>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Overview of the Arm port of the evolutionary quantization project: what was built, what was measured, what was learned. Tiers T0-T3 are done (the Graviton3 run cost about two dollars); the Apple M4 block (T4) is the one remaining paid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Mapping of the target role's requirements to what the project demonstrates. The roofline is measured on Graviton3; perf counters and the real power measurements are still to be done on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Findings from the base project on the RTX 3080 with bitsandbytes. The last box is an honest correction made during this 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genome keeps the same shape as the GPU project, so the search machinery carried over. The GGUF assembler replaces bitsandbytes module substitution because bitsandbytes does not run on Arm or macOS.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Green badges are complete (T0-T3). The Graviton3 run found the KleidiAI Q8_0 accuracy loss at full scale. The Mac is $40/day with a 24-hour minimum, so every check that does not need M4 hardware was moved to the desktop, the 3080 or emulation.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sensitivity sweep used perplexity differences and was unusable. Switching to KL divergence (llama-perplexity --kl-divergence) fixed it. Accuracy penalty is defined as exp(KLD) - 1, the expected fractional perplexity increase.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KL-divergence sensitivity tables. Q8_0 is almost exactly additive (single-block sum 0.068% vs uniform 0.067%). Q4_0 is mildly super-additive. The CPU build reproduces the CUDA Q4_0 profile with Spearman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Pre-registered similarity criteria: edge blocks most sensitive in each model (partly met), profile rank correlation (0.55, moderate). The Pareto-front and genome-shape criteria need the Arm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256 genomes of the 8B model were measured (real KL-divergence accuracy), giving the exact Pareto front. Speed and energy in these dry runs come from a simulated Arm model driven by real tensor sizes and are not Arm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an AWS c7g.2xlarge (Graviton3, 8 vCPUs). The stock bars are the build without KleidiAI, which keeps llama.cpp's own optimized Arm path. KleidiAI's Q8_0 loss is 37.5x in KL divergence (0.0283 vs 0.00076). Kernels chosen on Graviton3: Q4_0 SVE, Q8_0 I8MM, as predicted by emulation. The result does not predict the M4, where KleidiAI uses SME2 kernels and the stock path has nothing comparable.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Roofline: decode tokens per second times the bytes read per token, against the bw_probe read bandwidth at the same thread count. The own kernels (kernels/arm/qdot) are exact but reach 12 GB/s (Q8_0 SDOT) and 6.4 GB/s (Q4_0 SDOT) single-threaded, against 25.7 and 20.7 GB/s for llama.cpp's repacked kernels; likely reasons are listed in the plan as hypotheses, not yet 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four lessons and the concrete next steps. The limits are stated explicitly so the results are not over-read. Tiers T0-T3 are complete; only the M4 block remains.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7498080" cy="1554480"/>
          </a:xfrm>
          <a:prstGeom prst="rect">
            <a:avLst/>
          </a:prstGeom>
          <a:noFill/>
          <a:ln/>
        </p:spPr>
        <p:txBody>
          <a:bodyPr wrap="square" rtlCol="0"/>
          <a:lstStyle>
            <a:lvl1pPr algn="l" indent="0" marL="0">
              <a:buNone/>
              <a:defRPr lang="en-US" sz="4400" b="1" dirty="0">
                <a:solidFill>
                  <a:schemeClr val="bg1"/>
                </a:solidFill>
                <a:latin typeface="+mj-lt" pitchFamily="34" charset="0"/>
                <a:ea typeface="+mj-lt" pitchFamily="34" charset="-122"/>
                <a:cs typeface="+mj-lt" pitchFamily="34" charset="-120"/>
              </a:defRPr>
            </a:lvl1pPr>
          </a:lstStyle>
          <a:p>
            <a:pPr algn="l" indent="0" marL="0">
              <a:buNone/>
            </a:pPr>
            <a:endParaRPr lang="en-US" sz="4400" dirty="0"/>
          </a:p>
        </p:txBody>
      </p:sp>
      <p:sp>
        <p:nvSpPr>
          <p:cNvPr id="3" name="Text 0"/>
          <p:cNvSpPr/>
          <p:nvPr>
            <p:ph idx="101" type="body" hasCustomPrompt="1"/>
          </p:nvPr>
        </p:nvSpPr>
        <p:spPr>
          <a:xfrm>
            <a:off x="731520" y="3657600"/>
            <a:ext cx="7498080" cy="1097280"/>
          </a:xfrm>
          <a:prstGeom prst="rect">
            <a:avLst/>
          </a:prstGeom>
          <a:noFill/>
          <a:ln/>
        </p:spPr>
        <p:txBody>
          <a:bodyPr wrap="square" rtlCol="0"/>
          <a:lstStyle>
            <a:lvl1pPr algn="l" indent="0" marL="0">
              <a:buNone/>
              <a:defRPr lang="en-US" sz="2000" dirty="0">
                <a:solidFill>
                  <a:schemeClr val="bg2"/>
                </a:solidFill>
                <a:latin typeface="+mn-lt" pitchFamily="34" charset="0"/>
                <a:ea typeface="+mn-lt" pitchFamily="34" charset="-122"/>
                <a:cs typeface="+mn-lt" pitchFamily="34" charset="-120"/>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2800" b="1" dirty="0">
                <a:solidFill>
                  <a:schemeClr val="tx2"/>
                </a:solidFill>
                <a:latin typeface="+mj-lt" pitchFamily="34" charset="0"/>
                <a:ea typeface="+mj-lt" pitchFamily="34" charset="-122"/>
                <a:cs typeface="+mj-lt" pitchFamily="34" charset="-120"/>
              </a:defRPr>
            </a:lvl1pPr>
          </a:lstStyle>
          <a:p>
            <a:pPr algn="l" indent="0" marL="0">
              <a:buNone/>
            </a:pPr>
            <a:endParaRPr lang="en-US" sz="28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100" dirty="0">
                <a:solidFill>
                  <a:schemeClr val="accent5"/>
                </a:solidFill>
                <a:latin typeface="Calibri" pitchFamily="34" charset="0"/>
                <a:ea typeface="Calibri" pitchFamily="34" charset="-122"/>
                <a:cs typeface="Calibri" pitchFamily="34" charset="-120"/>
              </a:rPr>
              <a:t>Evol_inference  |  Arm port (branch mac-m4)</a:t>
            </a:r>
            <a:endParaRPr lang="en-US" sz="11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2800" b="1" dirty="0">
                <a:solidFill>
                  <a:schemeClr val="bg1"/>
                </a:solidFill>
                <a:latin typeface="+mj-lt" pitchFamily="34" charset="0"/>
                <a:ea typeface="+mj-lt" pitchFamily="34" charset="-122"/>
                <a:cs typeface="+mj-lt" pitchFamily="34" charset="-120"/>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2"/>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image" Target="../media/image-10-1.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7498080" cy="1554480"/>
          </a:xfrm>
          <a:prstGeom prst="rect">
            <a:avLst/>
          </a:prstGeom>
          <a:noFill/>
          <a:ln/>
        </p:spPr>
        <p:txBody>
          <a:bodyPr wrap="square" lIns="0" tIns="0" rIns="0" bIns="0" rtlCol="0" anchor="t"/>
          <a:lstStyle/>
          <a:p>
            <a:pPr algn="l" indent="0" marL="0">
              <a:buNone/>
            </a:pPr>
            <a:r>
              <a:rPr lang="en-US" sz="4400" b="1" dirty="0">
                <a:solidFill>
                  <a:schemeClr val="bg1"/>
                </a:solidFill>
                <a:latin typeface="+mj-lt" pitchFamily="34" charset="0"/>
                <a:ea typeface="+mj-lt" pitchFamily="34" charset="-122"/>
                <a:cs typeface="+mj-lt" pitchFamily="34" charset="-120"/>
              </a:rPr>
              <a:t>Evol_inference on Arm</a:t>
            </a:r>
            <a:endParaRPr lang="en-US" sz="4400" dirty="0"/>
          </a:p>
        </p:txBody>
      </p:sp>
      <p:sp>
        <p:nvSpPr>
          <p:cNvPr id="3" name="Text 0"/>
          <p:cNvSpPr/>
          <p:nvPr>
            <p:ph idx="101" type="body" hasCustomPrompt="1"/>
          </p:nvPr>
        </p:nvSpPr>
        <p:spPr>
          <a:xfrm>
            <a:off x="731520" y="3657600"/>
            <a:ext cx="7498080" cy="1097280"/>
          </a:xfrm>
          <a:prstGeom prst="rect">
            <a:avLst/>
          </a:prstGeom>
          <a:noFill/>
          <a:ln/>
        </p:spPr>
        <p:txBody>
          <a:bodyPr wrap="square" lIns="0" tIns="0" rIns="0" bIns="0" rtlCol="0" anchor="t"/>
          <a:lstStyle/>
          <a:p>
            <a:pPr algn="l" indent="0" marL="0">
              <a:buNone/>
            </a:pPr>
            <a:r>
              <a:rPr lang="en-US" sz="2000" dirty="0">
                <a:solidFill>
                  <a:schemeClr val="bg2"/>
                </a:solidFill>
                <a:latin typeface="+mn-lt" pitchFamily="34" charset="0"/>
                <a:ea typeface="+mn-lt" pitchFamily="34" charset="-122"/>
                <a:cs typeface="+mn-lt" pitchFamily="34" charset="-120"/>
              </a:rPr>
              <a:t>Multi-objective quantization search for LLM inference: accuracy, speed and power on Arm CPUs</a:t>
            </a:r>
            <a:endParaRPr lang="en-US" sz="2000" dirty="0"/>
          </a:p>
        </p:txBody>
      </p:sp>
      <p:sp>
        <p:nvSpPr>
          <p:cNvPr id="4" name="status line"/>
          <p:cNvSpPr txBox="1"/>
          <p:nvPr/>
        </p:nvSpPr>
        <p:spPr>
          <a:xfrm>
            <a:off x="731520" y="5760720"/>
            <a:ext cx="8686800" cy="457200"/>
          </a:xfrm>
          <a:prstGeom prst="rect">
            <a:avLst/>
          </a:prstGeom>
          <a:noFill/>
          <a:ln/>
        </p:spPr>
        <p:txBody>
          <a:bodyPr wrap="square" lIns="0" tIns="0" rIns="0" bIns="0" rtlCol="0" anchor="ctr"/>
          <a:lstStyle/>
          <a:p>
            <a:pPr indent="0" marL="0">
              <a:buNone/>
            </a:pPr>
            <a:r>
              <a:rPr lang="en-US" sz="1400" dirty="0">
                <a:solidFill>
                  <a:schemeClr val="accent2"/>
                </a:solidFill>
                <a:latin typeface="Calibri" pitchFamily="34" charset="0"/>
                <a:ea typeface="Calibri" pitchFamily="34" charset="-122"/>
                <a:cs typeface="Calibri" pitchFamily="34" charset="-120"/>
              </a:rPr>
              <a:t>Branch mac-m4  |  tiers T0-T3 complete (desktop, RTX 3080, aarch64 emulation, AWS Graviton3)  |  Apple M4 run pending</a:t>
            </a:r>
            <a:endParaRPr lang="en-US" sz="1400" dirty="0"/>
          </a:p>
        </p:txBody>
      </p:sp>
      <p:sp>
        <p:nvSpPr>
          <p:cNvPr id="5" name="title motif circle"/>
          <p:cNvSpPr/>
          <p:nvPr/>
        </p:nvSpPr>
        <p:spPr>
          <a:xfrm>
            <a:off x="9052560" y="1554480"/>
            <a:ext cx="2743200" cy="2743200"/>
          </a:xfrm>
          <a:prstGeom prst="ellipse">
            <a:avLst/>
          </a:prstGeom>
          <a:solidFill>
            <a:schemeClr val="accent1"/>
          </a:solidFill>
          <a:ln w="12700">
            <a:solidFill>
              <a:schemeClr val="accent1"/>
            </a:solidFill>
            <a:prstDash val="solid"/>
          </a:ln>
        </p:spPr>
      </p:sp>
      <p:pic>
        <p:nvPicPr>
          <p:cNvPr id="6" name="title motif chip" descr="preencoded.png">    </p:cNvPr>
          <p:cNvPicPr>
            <a:picLocks noChangeAspect="1"/>
          </p:cNvPicPr>
          <p:nvPr/>
        </p:nvPicPr>
        <p:blipFill>
          <a:blip r:embed="rId1"/>
          <a:stretch>
            <a:fillRect/>
          </a:stretch>
        </p:blipFill>
        <p:spPr>
          <a:xfrm>
            <a:off x="9646920" y="2148840"/>
            <a:ext cx="1554480" cy="15544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The goal: tune LLM inference on Arm, and prove it with measurements</a:t>
            </a:r>
            <a:endParaRPr lang="en-US" sz="2800" dirty="0"/>
          </a:p>
        </p:txBody>
      </p:sp>
      <p:sp>
        <p:nvSpPr>
          <p:cNvPr id="3" name="row card 1"/>
          <p:cNvSpPr/>
          <p:nvPr/>
        </p:nvSpPr>
        <p:spPr>
          <a:xfrm>
            <a:off x="548640" y="1417320"/>
            <a:ext cx="11064240" cy="822960"/>
          </a:xfrm>
          <a:prstGeom prst="roundRect">
            <a:avLst>
              <a:gd name="adj" fmla="val 8889"/>
            </a:avLst>
          </a:prstGeom>
          <a:solidFill>
            <a:schemeClr val="bg2"/>
          </a:solidFill>
          <a:ln w="12700">
            <a:solidFill>
              <a:schemeClr val="bg2"/>
            </a:solidFill>
            <a:prstDash val="solid"/>
          </a:ln>
        </p:spPr>
      </p:sp>
      <p:sp>
        <p:nvSpPr>
          <p:cNvPr id="4" name="row 1 circle"/>
          <p:cNvSpPr/>
          <p:nvPr/>
        </p:nvSpPr>
        <p:spPr>
          <a:xfrm>
            <a:off x="731520" y="1527048"/>
            <a:ext cx="603504" cy="603504"/>
          </a:xfrm>
          <a:prstGeom prst="ellipse">
            <a:avLst/>
          </a:prstGeom>
          <a:solidFill>
            <a:srgbClr val="0A7EA4"/>
          </a:solidFill>
          <a:ln w="12700">
            <a:solidFill>
              <a:srgbClr val="0A7EA4"/>
            </a:solidFill>
            <a:prstDash val="solid"/>
          </a:ln>
        </p:spPr>
      </p:sp>
      <p:pic>
        <p:nvPicPr>
          <p:cNvPr id="5" name="row 1 icon" descr="preencoded.png">    </p:cNvPr>
          <p:cNvPicPr>
            <a:picLocks noChangeAspect="1"/>
          </p:cNvPicPr>
          <p:nvPr/>
        </p:nvPicPr>
        <p:blipFill>
          <a:blip r:embed="rId1"/>
          <a:stretch>
            <a:fillRect/>
          </a:stretch>
        </p:blipFill>
        <p:spPr>
          <a:xfrm>
            <a:off x="882396" y="1677924"/>
            <a:ext cx="301752" cy="301752"/>
          </a:xfrm>
          <a:prstGeom prst="rect">
            <a:avLst/>
          </a:prstGeom>
        </p:spPr>
      </p:pic>
      <p:sp>
        <p:nvSpPr>
          <p:cNvPr id="6" name="row 1 head"/>
          <p:cNvSpPr txBox="1"/>
          <p:nvPr/>
        </p:nvSpPr>
        <p:spPr>
          <a:xfrm>
            <a:off x="1600200" y="1490472"/>
            <a:ext cx="3291840" cy="676656"/>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Kernel-level optimization</a:t>
            </a:r>
            <a:endParaRPr lang="en-US" sz="1800" dirty="0"/>
          </a:p>
        </p:txBody>
      </p:sp>
      <p:sp>
        <p:nvSpPr>
          <p:cNvPr id="7" name="row 1 body"/>
          <p:cNvSpPr txBox="1"/>
          <p:nvPr/>
        </p:nvSpPr>
        <p:spPr>
          <a:xfrm>
            <a:off x="4937760" y="1490472"/>
            <a:ext cx="6492240" cy="676656"/>
          </a:xfrm>
          <a:prstGeom prst="rect">
            <a:avLst/>
          </a:prstGeom>
          <a:noFill/>
          <a:ln/>
        </p:spPr>
        <p:txBody>
          <a:bodyPr wrap="square" lIns="0" tIns="0" rIns="0" bIns="0" rtlCol="0" anchor="ctr"/>
          <a:lstStyle/>
          <a:p>
            <a:pPr indent="0" marL="0">
              <a:buNone/>
            </a:pPr>
            <a:r>
              <a:rPr lang="en-US" sz="1500" dirty="0">
                <a:solidFill>
                  <a:schemeClr val="tx1"/>
                </a:solidFill>
                <a:latin typeface="Calibri" pitchFamily="34" charset="0"/>
                <a:ea typeface="Calibri" pitchFamily="34" charset="-122"/>
                <a:cs typeface="Calibri" pitchFamily="34" charset="-120"/>
              </a:rPr>
              <a:t>Hand-written NEON SDOT and SMMLA dot-product kernels for the Q8_0 and Q4_0 formats the search chooses between</a:t>
            </a:r>
            <a:endParaRPr lang="en-US" sz="1500" dirty="0"/>
          </a:p>
        </p:txBody>
      </p:sp>
      <p:sp>
        <p:nvSpPr>
          <p:cNvPr id="8" name="row card 2"/>
          <p:cNvSpPr/>
          <p:nvPr/>
        </p:nvSpPr>
        <p:spPr>
          <a:xfrm>
            <a:off x="548640" y="2377440"/>
            <a:ext cx="11064240" cy="822960"/>
          </a:xfrm>
          <a:prstGeom prst="roundRect">
            <a:avLst>
              <a:gd name="adj" fmla="val 8889"/>
            </a:avLst>
          </a:prstGeom>
          <a:solidFill>
            <a:schemeClr val="bg2"/>
          </a:solidFill>
          <a:ln w="12700">
            <a:solidFill>
              <a:schemeClr val="bg2"/>
            </a:solidFill>
            <a:prstDash val="solid"/>
          </a:ln>
        </p:spPr>
      </p:sp>
      <p:sp>
        <p:nvSpPr>
          <p:cNvPr id="9" name="row 2 circle"/>
          <p:cNvSpPr/>
          <p:nvPr/>
        </p:nvSpPr>
        <p:spPr>
          <a:xfrm>
            <a:off x="731520" y="2487168"/>
            <a:ext cx="603504" cy="603504"/>
          </a:xfrm>
          <a:prstGeom prst="ellipse">
            <a:avLst/>
          </a:prstGeom>
          <a:solidFill>
            <a:srgbClr val="2E9E8A"/>
          </a:solidFill>
          <a:ln w="12700">
            <a:solidFill>
              <a:srgbClr val="2E9E8A"/>
            </a:solidFill>
            <a:prstDash val="solid"/>
          </a:ln>
        </p:spPr>
      </p:sp>
      <p:pic>
        <p:nvPicPr>
          <p:cNvPr id="10" name="row 2 icon" descr="preencoded.png">    </p:cNvPr>
          <p:cNvPicPr>
            <a:picLocks noChangeAspect="1"/>
          </p:cNvPicPr>
          <p:nvPr/>
        </p:nvPicPr>
        <p:blipFill>
          <a:blip r:embed="rId2"/>
          <a:stretch>
            <a:fillRect/>
          </a:stretch>
        </p:blipFill>
        <p:spPr>
          <a:xfrm>
            <a:off x="882396" y="2638044"/>
            <a:ext cx="301752" cy="301752"/>
          </a:xfrm>
          <a:prstGeom prst="rect">
            <a:avLst/>
          </a:prstGeom>
        </p:spPr>
      </p:pic>
      <p:sp>
        <p:nvSpPr>
          <p:cNvPr id="11" name="row 2 head"/>
          <p:cNvSpPr txBox="1"/>
          <p:nvPr/>
        </p:nvSpPr>
        <p:spPr>
          <a:xfrm>
            <a:off x="1600200" y="2450592"/>
            <a:ext cx="3291840" cy="676656"/>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Arm AI software stack</a:t>
            </a:r>
            <a:endParaRPr lang="en-US" sz="1800" dirty="0"/>
          </a:p>
        </p:txBody>
      </p:sp>
      <p:sp>
        <p:nvSpPr>
          <p:cNvPr id="12" name="row 2 body"/>
          <p:cNvSpPr txBox="1"/>
          <p:nvPr/>
        </p:nvSpPr>
        <p:spPr>
          <a:xfrm>
            <a:off x="4937760" y="2450592"/>
            <a:ext cx="6492240" cy="676656"/>
          </a:xfrm>
          <a:prstGeom prst="rect">
            <a:avLst/>
          </a:prstGeom>
          <a:noFill/>
          <a:ln/>
        </p:spPr>
        <p:txBody>
          <a:bodyPr wrap="square" lIns="0" tIns="0" rIns="0" bIns="0" rtlCol="0" anchor="ctr"/>
          <a:lstStyle/>
          <a:p>
            <a:pPr indent="0" marL="0">
              <a:buNone/>
            </a:pPr>
            <a:r>
              <a:rPr lang="en-US" sz="1500" dirty="0">
                <a:solidFill>
                  <a:schemeClr val="tx1"/>
                </a:solidFill>
                <a:latin typeface="Calibri" pitchFamily="34" charset="0"/>
                <a:ea typeface="Calibri" pitchFamily="34" charset="-122"/>
                <a:cs typeface="Calibri" pitchFamily="34" charset="-120"/>
              </a:rPr>
              <a:t>llama.cpp with KleidiAI micro-kernels; NEON, dotprod, I8MM, SVE and SME code paths identified per run</a:t>
            </a:r>
            <a:endParaRPr lang="en-US" sz="1500" dirty="0"/>
          </a:p>
        </p:txBody>
      </p:sp>
      <p:sp>
        <p:nvSpPr>
          <p:cNvPr id="13" name="row card 3"/>
          <p:cNvSpPr/>
          <p:nvPr/>
        </p:nvSpPr>
        <p:spPr>
          <a:xfrm>
            <a:off x="548640" y="3337560"/>
            <a:ext cx="11064240" cy="822960"/>
          </a:xfrm>
          <a:prstGeom prst="roundRect">
            <a:avLst>
              <a:gd name="adj" fmla="val 8889"/>
            </a:avLst>
          </a:prstGeom>
          <a:solidFill>
            <a:schemeClr val="bg2"/>
          </a:solidFill>
          <a:ln w="12700">
            <a:solidFill>
              <a:schemeClr val="bg2"/>
            </a:solidFill>
            <a:prstDash val="solid"/>
          </a:ln>
        </p:spPr>
      </p:sp>
      <p:sp>
        <p:nvSpPr>
          <p:cNvPr id="14" name="row 3 circle"/>
          <p:cNvSpPr/>
          <p:nvPr/>
        </p:nvSpPr>
        <p:spPr>
          <a:xfrm>
            <a:off x="731520" y="3447288"/>
            <a:ext cx="603504" cy="603504"/>
          </a:xfrm>
          <a:prstGeom prst="ellipse">
            <a:avLst/>
          </a:prstGeom>
          <a:solidFill>
            <a:srgbClr val="F2A541"/>
          </a:solidFill>
          <a:ln w="12700">
            <a:solidFill>
              <a:srgbClr val="F2A541"/>
            </a:solidFill>
            <a:prstDash val="solid"/>
          </a:ln>
        </p:spPr>
      </p:sp>
      <p:pic>
        <p:nvPicPr>
          <p:cNvPr id="15" name="row 3 icon" descr="preencoded.png">    </p:cNvPr>
          <p:cNvPicPr>
            <a:picLocks noChangeAspect="1"/>
          </p:cNvPicPr>
          <p:nvPr/>
        </p:nvPicPr>
        <p:blipFill>
          <a:blip r:embed="rId3"/>
          <a:stretch>
            <a:fillRect/>
          </a:stretch>
        </p:blipFill>
        <p:spPr>
          <a:xfrm>
            <a:off x="882396" y="3598164"/>
            <a:ext cx="301752" cy="301752"/>
          </a:xfrm>
          <a:prstGeom prst="rect">
            <a:avLst/>
          </a:prstGeom>
        </p:spPr>
      </p:pic>
      <p:sp>
        <p:nvSpPr>
          <p:cNvPr id="16" name="row 3 head"/>
          <p:cNvSpPr txBox="1"/>
          <p:nvPr/>
        </p:nvSpPr>
        <p:spPr>
          <a:xfrm>
            <a:off x="1600200" y="3410712"/>
            <a:ext cx="3291840" cy="676656"/>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Performance and power together</a:t>
            </a:r>
            <a:endParaRPr lang="en-US" sz="1800" dirty="0"/>
          </a:p>
        </p:txBody>
      </p:sp>
      <p:sp>
        <p:nvSpPr>
          <p:cNvPr id="17" name="row 3 body"/>
          <p:cNvSpPr txBox="1"/>
          <p:nvPr/>
        </p:nvSpPr>
        <p:spPr>
          <a:xfrm>
            <a:off x="4937760" y="3410712"/>
            <a:ext cx="6492240" cy="676656"/>
          </a:xfrm>
          <a:prstGeom prst="rect">
            <a:avLst/>
          </a:prstGeom>
          <a:noFill/>
          <a:ln/>
        </p:spPr>
        <p:txBody>
          <a:bodyPr wrap="square" lIns="0" tIns="0" rIns="0" bIns="0" rtlCol="0" anchor="ctr"/>
          <a:lstStyle/>
          <a:p>
            <a:pPr indent="0" marL="0">
              <a:buNone/>
            </a:pPr>
            <a:r>
              <a:rPr lang="en-US" sz="1500" dirty="0">
                <a:solidFill>
                  <a:schemeClr val="tx1"/>
                </a:solidFill>
                <a:latin typeface="Calibri" pitchFamily="34" charset="0"/>
                <a:ea typeface="Calibri" pitchFamily="34" charset="-122"/>
                <a:cs typeface="Calibri" pitchFamily="34" charset="-120"/>
              </a:rPr>
              <a:t>Three objectives: accuracy loss, decode speed, energy per token, searched as a Pareto front</a:t>
            </a:r>
            <a:endParaRPr lang="en-US" sz="1500" dirty="0"/>
          </a:p>
        </p:txBody>
      </p:sp>
      <p:sp>
        <p:nvSpPr>
          <p:cNvPr id="18" name="row card 4"/>
          <p:cNvSpPr/>
          <p:nvPr/>
        </p:nvSpPr>
        <p:spPr>
          <a:xfrm>
            <a:off x="548640" y="4297680"/>
            <a:ext cx="11064240" cy="822960"/>
          </a:xfrm>
          <a:prstGeom prst="roundRect">
            <a:avLst>
              <a:gd name="adj" fmla="val 8889"/>
            </a:avLst>
          </a:prstGeom>
          <a:solidFill>
            <a:schemeClr val="bg2"/>
          </a:solidFill>
          <a:ln w="12700">
            <a:solidFill>
              <a:schemeClr val="bg2"/>
            </a:solidFill>
            <a:prstDash val="solid"/>
          </a:ln>
        </p:spPr>
      </p:sp>
      <p:sp>
        <p:nvSpPr>
          <p:cNvPr id="19" name="row 4 circle"/>
          <p:cNvSpPr/>
          <p:nvPr/>
        </p:nvSpPr>
        <p:spPr>
          <a:xfrm>
            <a:off x="731520" y="4407408"/>
            <a:ext cx="603504" cy="603504"/>
          </a:xfrm>
          <a:prstGeom prst="ellipse">
            <a:avLst/>
          </a:prstGeom>
          <a:solidFill>
            <a:srgbClr val="7B6FB5"/>
          </a:solidFill>
          <a:ln w="12700">
            <a:solidFill>
              <a:srgbClr val="7B6FB5"/>
            </a:solidFill>
            <a:prstDash val="solid"/>
          </a:ln>
        </p:spPr>
      </p:sp>
      <p:pic>
        <p:nvPicPr>
          <p:cNvPr id="20" name="row 4 icon" descr="preencoded.png">    </p:cNvPr>
          <p:cNvPicPr>
            <a:picLocks noChangeAspect="1"/>
          </p:cNvPicPr>
          <p:nvPr/>
        </p:nvPicPr>
        <p:blipFill>
          <a:blip r:embed="rId4"/>
          <a:stretch>
            <a:fillRect/>
          </a:stretch>
        </p:blipFill>
        <p:spPr>
          <a:xfrm>
            <a:off x="882396" y="4558284"/>
            <a:ext cx="301752" cy="301752"/>
          </a:xfrm>
          <a:prstGeom prst="rect">
            <a:avLst/>
          </a:prstGeom>
        </p:spPr>
      </p:pic>
      <p:sp>
        <p:nvSpPr>
          <p:cNvPr id="21" name="row 4 head"/>
          <p:cNvSpPr txBox="1"/>
          <p:nvPr/>
        </p:nvSpPr>
        <p:spPr>
          <a:xfrm>
            <a:off x="1600200" y="4370832"/>
            <a:ext cx="3291840" cy="676656"/>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Profiling and analysis</a:t>
            </a:r>
            <a:endParaRPr lang="en-US" sz="1800" dirty="0"/>
          </a:p>
        </p:txBody>
      </p:sp>
      <p:sp>
        <p:nvSpPr>
          <p:cNvPr id="22" name="row 4 body"/>
          <p:cNvSpPr txBox="1"/>
          <p:nvPr/>
        </p:nvSpPr>
        <p:spPr>
          <a:xfrm>
            <a:off x="4937760" y="4370832"/>
            <a:ext cx="6492240" cy="676656"/>
          </a:xfrm>
          <a:prstGeom prst="rect">
            <a:avLst/>
          </a:prstGeom>
          <a:noFill/>
          <a:ln/>
        </p:spPr>
        <p:txBody>
          <a:bodyPr wrap="square" lIns="0" tIns="0" rIns="0" bIns="0" rtlCol="0" anchor="ctr"/>
          <a:lstStyle/>
          <a:p>
            <a:pPr indent="0" marL="0">
              <a:buNone/>
            </a:pPr>
            <a:r>
              <a:rPr lang="en-US" sz="1500" dirty="0">
                <a:solidFill>
                  <a:schemeClr val="tx1"/>
                </a:solidFill>
                <a:latin typeface="Calibri" pitchFamily="34" charset="0"/>
                <a:ea typeface="Calibri" pitchFamily="34" charset="-122"/>
                <a:cs typeface="Calibri" pitchFamily="34" charset="-120"/>
              </a:rPr>
              <a:t>Memory roofline measured on Graviton3: Q8_0 decode sits at 95% of the bandwidth roof; perf counters and powermetrics next</a:t>
            </a:r>
            <a:endParaRPr lang="en-US" sz="1500" dirty="0"/>
          </a:p>
        </p:txBody>
      </p:sp>
      <p:sp>
        <p:nvSpPr>
          <p:cNvPr id="23" name="row card 5"/>
          <p:cNvSpPr/>
          <p:nvPr/>
        </p:nvSpPr>
        <p:spPr>
          <a:xfrm>
            <a:off x="548640" y="5257800"/>
            <a:ext cx="11064240" cy="822960"/>
          </a:xfrm>
          <a:prstGeom prst="roundRect">
            <a:avLst>
              <a:gd name="adj" fmla="val 8889"/>
            </a:avLst>
          </a:prstGeom>
          <a:solidFill>
            <a:schemeClr val="bg2"/>
          </a:solidFill>
          <a:ln w="12700">
            <a:solidFill>
              <a:schemeClr val="bg2"/>
            </a:solidFill>
            <a:prstDash val="solid"/>
          </a:ln>
        </p:spPr>
      </p:sp>
      <p:sp>
        <p:nvSpPr>
          <p:cNvPr id="24" name="row 5 circle"/>
          <p:cNvSpPr/>
          <p:nvPr/>
        </p:nvSpPr>
        <p:spPr>
          <a:xfrm>
            <a:off x="731520" y="5367528"/>
            <a:ext cx="603504" cy="603504"/>
          </a:xfrm>
          <a:prstGeom prst="ellipse">
            <a:avLst/>
          </a:prstGeom>
          <a:solidFill>
            <a:srgbClr val="6C7A89"/>
          </a:solidFill>
          <a:ln w="12700">
            <a:solidFill>
              <a:srgbClr val="6C7A89"/>
            </a:solidFill>
            <a:prstDash val="solid"/>
          </a:ln>
        </p:spPr>
      </p:sp>
      <p:pic>
        <p:nvPicPr>
          <p:cNvPr id="25" name="row 5 icon" descr="preencoded.png">    </p:cNvPr>
          <p:cNvPicPr>
            <a:picLocks noChangeAspect="1"/>
          </p:cNvPicPr>
          <p:nvPr/>
        </p:nvPicPr>
        <p:blipFill>
          <a:blip r:embed="rId5"/>
          <a:stretch>
            <a:fillRect/>
          </a:stretch>
        </p:blipFill>
        <p:spPr>
          <a:xfrm>
            <a:off x="882396" y="5518404"/>
            <a:ext cx="301752" cy="301752"/>
          </a:xfrm>
          <a:prstGeom prst="rect">
            <a:avLst/>
          </a:prstGeom>
        </p:spPr>
      </p:pic>
      <p:sp>
        <p:nvSpPr>
          <p:cNvPr id="26" name="row 5 head"/>
          <p:cNvSpPr txBox="1"/>
          <p:nvPr/>
        </p:nvSpPr>
        <p:spPr>
          <a:xfrm>
            <a:off x="1600200" y="5330952"/>
            <a:ext cx="3291840" cy="676656"/>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Clear communication</a:t>
            </a:r>
            <a:endParaRPr lang="en-US" sz="1800" dirty="0"/>
          </a:p>
        </p:txBody>
      </p:sp>
      <p:sp>
        <p:nvSpPr>
          <p:cNvPr id="27" name="row 5 body"/>
          <p:cNvSpPr txBox="1"/>
          <p:nvPr/>
        </p:nvSpPr>
        <p:spPr>
          <a:xfrm>
            <a:off x="4937760" y="5330952"/>
            <a:ext cx="6492240" cy="676656"/>
          </a:xfrm>
          <a:prstGeom prst="rect">
            <a:avLst/>
          </a:prstGeom>
          <a:noFill/>
          <a:ln/>
        </p:spPr>
        <p:txBody>
          <a:bodyPr wrap="square" lIns="0" tIns="0" rIns="0" bIns="0" rtlCol="0" anchor="ctr"/>
          <a:lstStyle/>
          <a:p>
            <a:pPr indent="0" marL="0">
              <a:buNone/>
            </a:pPr>
            <a:r>
              <a:rPr lang="en-US" sz="1500" dirty="0">
                <a:solidFill>
                  <a:schemeClr val="tx1"/>
                </a:solidFill>
                <a:latin typeface="Calibri" pitchFamily="34" charset="0"/>
                <a:ea typeface="Calibri" pitchFamily="34" charset="-122"/>
                <a:cs typeface="Calibri" pitchFamily="34" charset="-120"/>
              </a:rPr>
              <a:t>Reproducible harness, a decision log with null and revised results, and this deck</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Starting point: on the GPU, the proxy metric pointed the wrong way</a:t>
            </a:r>
            <a:endParaRPr lang="en-US" sz="2800" dirty="0"/>
          </a:p>
        </p:txBody>
      </p:sp>
      <p:sp>
        <p:nvSpPr>
          <p:cNvPr id="3" name="stat int4 value"/>
          <p:cNvSpPr txBox="1"/>
          <p:nvPr/>
        </p:nvSpPr>
        <p:spPr>
          <a:xfrm>
            <a:off x="548640" y="1463040"/>
            <a:ext cx="3383280" cy="685800"/>
          </a:xfrm>
          <a:prstGeom prst="rect">
            <a:avLst/>
          </a:prstGeom>
          <a:noFill/>
          <a:ln/>
        </p:spPr>
        <p:txBody>
          <a:bodyPr wrap="square" lIns="0" tIns="0" rIns="0" bIns="0" rtlCol="0" anchor="b"/>
          <a:lstStyle/>
          <a:p>
            <a:pPr indent="0" marL="0">
              <a:buNone/>
            </a:pPr>
            <a:r>
              <a:rPr lang="en-US" sz="4000" b="1" dirty="0">
                <a:solidFill>
                  <a:srgbClr val="D1495B"/>
                </a:solidFill>
                <a:latin typeface="Cambria" pitchFamily="34" charset="0"/>
                <a:ea typeface="Cambria" pitchFamily="34" charset="-122"/>
                <a:cs typeface="Cambria" pitchFamily="34" charset="-120"/>
              </a:rPr>
              <a:t>-4.5%</a:t>
            </a:r>
            <a:endParaRPr lang="en-US" sz="4000" dirty="0"/>
          </a:p>
        </p:txBody>
      </p:sp>
      <p:sp>
        <p:nvSpPr>
          <p:cNvPr id="4" name="stat int4 label"/>
          <p:cNvSpPr txBox="1"/>
          <p:nvPr/>
        </p:nvSpPr>
        <p:spPr>
          <a:xfrm>
            <a:off x="548640" y="2176272"/>
            <a:ext cx="338328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INT4 is the smallest model yet 4.5% slower than FP16 on the RTX 3080 (batch 1)</a:t>
            </a:r>
            <a:endParaRPr lang="en-US" sz="1400" dirty="0"/>
          </a:p>
        </p:txBody>
      </p:sp>
      <p:sp>
        <p:nvSpPr>
          <p:cNvPr id="5" name="stat int8 value"/>
          <p:cNvSpPr txBox="1"/>
          <p:nvPr/>
        </p:nvSpPr>
        <p:spPr>
          <a:xfrm>
            <a:off x="4206240" y="1463040"/>
            <a:ext cx="3383280" cy="685800"/>
          </a:xfrm>
          <a:prstGeom prst="rect">
            <a:avLst/>
          </a:prstGeom>
          <a:noFill/>
          <a:ln/>
        </p:spPr>
        <p:txBody>
          <a:bodyPr wrap="square" lIns="0" tIns="0" rIns="0" bIns="0" rtlCol="0" anchor="b"/>
          <a:lstStyle/>
          <a:p>
            <a:pPr indent="0" marL="0">
              <a:buNone/>
            </a:pPr>
            <a:r>
              <a:rPr lang="en-US" sz="4000" b="1" dirty="0">
                <a:solidFill>
                  <a:srgbClr val="2E9E8A"/>
                </a:solidFill>
                <a:latin typeface="Cambria" pitchFamily="34" charset="0"/>
                <a:ea typeface="Cambria" pitchFamily="34" charset="-122"/>
                <a:cs typeface="Cambria" pitchFamily="34" charset="-120"/>
              </a:rPr>
              <a:t>+22%</a:t>
            </a:r>
            <a:endParaRPr lang="en-US" sz="4000" dirty="0"/>
          </a:p>
        </p:txBody>
      </p:sp>
      <p:sp>
        <p:nvSpPr>
          <p:cNvPr id="6" name="stat int8 label"/>
          <p:cNvSpPr txBox="1"/>
          <p:nvPr/>
        </p:nvSpPr>
        <p:spPr>
          <a:xfrm>
            <a:off x="4206240" y="2176272"/>
            <a:ext cx="338328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uniform INT8 is 22% faster than FP16: bytes saved did not predict latency</a:t>
            </a:r>
            <a:endParaRPr lang="en-US" sz="1400" dirty="0"/>
          </a:p>
        </p:txBody>
      </p:sp>
      <p:sp>
        <p:nvSpPr>
          <p:cNvPr id="7" name="stat weight value"/>
          <p:cNvSpPr txBox="1"/>
          <p:nvPr/>
        </p:nvSpPr>
        <p:spPr>
          <a:xfrm>
            <a:off x="7863840" y="1463040"/>
            <a:ext cx="3749040" cy="685800"/>
          </a:xfrm>
          <a:prstGeom prst="rect">
            <a:avLst/>
          </a:prstGeom>
          <a:noFill/>
          <a:ln/>
        </p:spPr>
        <p:txBody>
          <a:bodyPr wrap="square" lIns="0" tIns="0" rIns="0" bIns="0" rtlCol="0" anchor="b"/>
          <a:lstStyle/>
          <a:p>
            <a:pPr indent="0" marL="0">
              <a:buNone/>
            </a:pPr>
            <a:r>
              <a:rPr lang="en-US" sz="4000" b="1" dirty="0">
                <a:solidFill>
                  <a:srgbClr val="0A7EA4"/>
                </a:solidFill>
                <a:latin typeface="Cambria" pitchFamily="34" charset="0"/>
                <a:ea typeface="Cambria" pitchFamily="34" charset="-122"/>
                <a:cs typeface="Cambria" pitchFamily="34" charset="-120"/>
              </a:rPr>
              <a:t>w &gt;= 0.8</a:t>
            </a:r>
            <a:endParaRPr lang="en-US" sz="4000" dirty="0"/>
          </a:p>
        </p:txBody>
      </p:sp>
      <p:sp>
        <p:nvSpPr>
          <p:cNvPr id="8" name="stat weight label"/>
          <p:cNvSpPr txBox="1"/>
          <p:nvPr/>
        </p:nvSpPr>
        <p:spPr>
          <a:xfrm>
            <a:off x="7863840" y="2176272"/>
            <a:ext cx="374904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accuracy weight at which the search first preferred a mixed genome over uniform INT8</a:t>
            </a:r>
            <a:endParaRPr lang="en-US" sz="1400" dirty="0"/>
          </a:p>
        </p:txBody>
      </p:sp>
      <p:sp>
        <p:nvSpPr>
          <p:cNvPr id="9" name="carry card"/>
          <p:cNvSpPr/>
          <p:nvPr/>
        </p:nvSpPr>
        <p:spPr>
          <a:xfrm>
            <a:off x="548640" y="3429000"/>
            <a:ext cx="5486400" cy="2651760"/>
          </a:xfrm>
          <a:prstGeom prst="roundRect">
            <a:avLst>
              <a:gd name="adj" fmla="val 2759"/>
            </a:avLst>
          </a:prstGeom>
          <a:solidFill>
            <a:schemeClr val="bg2"/>
          </a:solidFill>
          <a:ln w="12700">
            <a:solidFill>
              <a:schemeClr val="bg2"/>
            </a:solidFill>
            <a:prstDash val="solid"/>
          </a:ln>
        </p:spPr>
      </p:sp>
      <p:sp>
        <p:nvSpPr>
          <p:cNvPr id="10" name="carry head"/>
          <p:cNvSpPr txBox="1"/>
          <p:nvPr/>
        </p:nvSpPr>
        <p:spPr>
          <a:xfrm>
            <a:off x="777240" y="3566160"/>
            <a:ext cx="5029200" cy="411480"/>
          </a:xfrm>
          <a:prstGeom prst="rect">
            <a:avLst/>
          </a:prstGeom>
          <a:noFill/>
          <a:ln/>
        </p:spPr>
        <p:txBody>
          <a:bodyPr wrap="square" lIns="0" tIns="0" rIns="0" bIns="0" rtlCol="0" anchor="ctr"/>
          <a:lstStyle/>
          <a:p>
            <a:pPr indent="0" marL="0">
              <a:buNone/>
            </a:pPr>
            <a:r>
              <a:rPr lang="en-US" sz="2000" b="1" dirty="0">
                <a:solidFill>
                  <a:schemeClr val="tx2"/>
                </a:solidFill>
                <a:latin typeface="Calibri" pitchFamily="34" charset="0"/>
                <a:ea typeface="Calibri" pitchFamily="34" charset="-122"/>
                <a:cs typeface="Calibri" pitchFamily="34" charset="-120"/>
              </a:rPr>
              <a:t>Carried over to Arm</a:t>
            </a:r>
            <a:endParaRPr lang="en-US" sz="2000" dirty="0"/>
          </a:p>
        </p:txBody>
      </p:sp>
      <p:sp>
        <p:nvSpPr>
          <p:cNvPr id="11" name="carry bullets"/>
          <p:cNvSpPr txBox="1"/>
          <p:nvPr/>
        </p:nvSpPr>
        <p:spPr>
          <a:xfrm>
            <a:off x="777240" y="4069080"/>
            <a:ext cx="5029200" cy="1828800"/>
          </a:xfrm>
          <a:prstGeom prst="rect">
            <a:avLst/>
          </a:prstGeom>
          <a:noFill/>
          <a:ln/>
        </p:spPr>
        <p:txBody>
          <a:bodyPr wrap="square" lIns="0" tIns="0" rIns="0" bIns="0" rtlCol="0" anchor="t"/>
          <a:lstStyle/>
          <a:p>
            <a:pPr marL="203200" indent="-203200">
              <a:spcAft>
                <a:spcPts val="800"/>
              </a:spcAft>
              <a:buSzPct val="100000"/>
              <a:buChar char="•"/>
            </a:pPr>
            <a:r>
              <a:rPr lang="en-US" sz="1600" dirty="0">
                <a:solidFill>
                  <a:schemeClr val="tx1"/>
                </a:solidFill>
                <a:latin typeface="Calibri" pitchFamily="34" charset="0"/>
                <a:ea typeface="Calibri" pitchFamily="34" charset="-122"/>
                <a:cs typeface="Calibri" pitchFamily="34" charset="-120"/>
              </a:rPr>
              <a:t>Measure the cost model on the target silicon; never assume it</a:t>
            </a:r>
            <a:endParaRPr lang="en-US" sz="1600" dirty="0"/>
          </a:p>
          <a:p>
            <a:pPr marL="203200" indent="-203200">
              <a:spcAft>
                <a:spcPts val="800"/>
              </a:spcAft>
              <a:buSzPct val="100000"/>
              <a:buChar char="•"/>
            </a:pPr>
            <a:r>
              <a:rPr lang="en-US" sz="1600" dirty="0">
                <a:solidFill>
                  <a:schemeClr val="tx1"/>
                </a:solidFill>
                <a:latin typeface="Calibri" pitchFamily="34" charset="0"/>
                <a:ea typeface="Calibri" pitchFamily="34" charset="-122"/>
                <a:cs typeface="Calibri" pitchFamily="34" charset="-120"/>
              </a:rPr>
              <a:t>Keep fitness a pure function of the genome, normalized to a fixed baseline</a:t>
            </a:r>
            <a:endParaRPr lang="en-US" sz="1600" dirty="0"/>
          </a:p>
          <a:p>
            <a:pPr marL="203200" indent="-203200">
              <a:spcAft>
                <a:spcPts val="800"/>
              </a:spcAft>
              <a:buSzPct val="100000"/>
              <a:buChar char="•"/>
            </a:pPr>
            <a:r>
              <a:rPr lang="en-US" sz="1600" dirty="0">
                <a:solidFill>
                  <a:schemeClr val="tx1"/>
                </a:solidFill>
                <a:latin typeface="Calibri" pitchFamily="34" charset="0"/>
                <a:ea typeface="Calibri" pitchFamily="34" charset="-122"/>
                <a:cs typeface="Calibri" pitchFamily="34" charset="-120"/>
              </a:rPr>
              <a:t>Keep the asynchronous steady-state GA design</a:t>
            </a:r>
            <a:endParaRPr lang="en-US" sz="1600" dirty="0"/>
          </a:p>
        </p:txBody>
      </p:sp>
      <p:sp>
        <p:nvSpPr>
          <p:cNvPr id="12" name="revised card"/>
          <p:cNvSpPr/>
          <p:nvPr/>
        </p:nvSpPr>
        <p:spPr>
          <a:xfrm>
            <a:off x="6309360" y="3429000"/>
            <a:ext cx="5303520" cy="2651760"/>
          </a:xfrm>
          <a:prstGeom prst="roundRect">
            <a:avLst>
              <a:gd name="adj" fmla="val 2759"/>
            </a:avLst>
          </a:prstGeom>
          <a:solidFill>
            <a:schemeClr val="tx2"/>
          </a:solidFill>
          <a:ln w="12700">
            <a:solidFill>
              <a:schemeClr val="tx2"/>
            </a:solidFill>
            <a:prstDash val="solid"/>
          </a:ln>
        </p:spPr>
      </p:sp>
      <p:sp>
        <p:nvSpPr>
          <p:cNvPr id="13" name="revised head"/>
          <p:cNvSpPr txBox="1"/>
          <p:nvPr/>
        </p:nvSpPr>
        <p:spPr>
          <a:xfrm>
            <a:off x="6537960" y="3566160"/>
            <a:ext cx="4846320" cy="411480"/>
          </a:xfrm>
          <a:prstGeom prst="rect">
            <a:avLst/>
          </a:prstGeom>
          <a:noFill/>
          <a:ln/>
        </p:spPr>
        <p:txBody>
          <a:bodyPr wrap="square" lIns="0" tIns="0" rIns="0" bIns="0" rtlCol="0" anchor="ctr"/>
          <a:lstStyle/>
          <a:p>
            <a:pPr indent="0" marL="0">
              <a:buNone/>
            </a:pPr>
            <a:r>
              <a:rPr lang="en-US" sz="2000" b="1" dirty="0">
                <a:solidFill>
                  <a:schemeClr val="accent2"/>
                </a:solidFill>
                <a:latin typeface="Calibri" pitchFamily="34" charset="0"/>
                <a:ea typeface="Calibri" pitchFamily="34" charset="-122"/>
                <a:cs typeface="Calibri" pitchFamily="34" charset="-120"/>
              </a:rPr>
              <a:t>Revised since</a:t>
            </a:r>
            <a:endParaRPr lang="en-US" sz="2000" dirty="0"/>
          </a:p>
        </p:txBody>
      </p:sp>
      <p:sp>
        <p:nvSpPr>
          <p:cNvPr id="14" name="revised text"/>
          <p:cNvSpPr txBox="1"/>
          <p:nvPr/>
        </p:nvSpPr>
        <p:spPr>
          <a:xfrm>
            <a:off x="6537960" y="4069080"/>
            <a:ext cx="4846320" cy="1828800"/>
          </a:xfrm>
          <a:prstGeom prst="rect">
            <a:avLst/>
          </a:prstGeom>
          <a:noFill/>
          <a:ln/>
        </p:spPr>
        <p:txBody>
          <a:bodyPr wrap="square" lIns="0" tIns="0" rIns="0" bIns="0" rtlCol="0" anchor="t"/>
          <a:lstStyle/>
          <a:p>
            <a:pPr indent="0" marL="0">
              <a:buNone/>
            </a:pPr>
            <a:r>
              <a:rPr lang="en-US" sz="1600" dirty="0">
                <a:solidFill>
                  <a:schemeClr val="bg1"/>
                </a:solidFill>
                <a:latin typeface="Calibri" pitchFamily="34" charset="0"/>
                <a:ea typeface="Calibri" pitchFamily="34" charset="-122"/>
                <a:cs typeface="Calibri" pitchFamily="34" charset="-120"/>
              </a:rPr>
              <a:t>The per-block magnitudes in the GPU write-up (block 0 carrying 70% of INT8 cost) came from perplexity deltas that proved noisy at this scale. The corrected values are on slides 6 and 7.</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Approach: search per-block precision against three objectives</a:t>
            </a:r>
            <a:endParaRPr lang="en-US" sz="2800" dirty="0"/>
          </a:p>
        </p:txBody>
      </p:sp>
      <p:sp>
        <p:nvSpPr>
          <p:cNvPr id="3" name="pipeline box 1"/>
          <p:cNvSpPr/>
          <p:nvPr/>
        </p:nvSpPr>
        <p:spPr>
          <a:xfrm>
            <a:off x="548640" y="1554480"/>
            <a:ext cx="2057400" cy="2377440"/>
          </a:xfrm>
          <a:prstGeom prst="roundRect">
            <a:avLst>
              <a:gd name="adj" fmla="val 3556"/>
            </a:avLst>
          </a:prstGeom>
          <a:solidFill>
            <a:srgbClr val="0A7EA4"/>
          </a:solidFill>
          <a:ln w="12700">
            <a:solidFill>
              <a:srgbClr val="0A7EA4"/>
            </a:solidFill>
            <a:prstDash val="solid"/>
          </a:ln>
        </p:spPr>
      </p:sp>
      <p:sp>
        <p:nvSpPr>
          <p:cNvPr id="4" name="pipeline head 1"/>
          <p:cNvSpPr txBox="1"/>
          <p:nvPr/>
        </p:nvSpPr>
        <p:spPr>
          <a:xfrm>
            <a:off x="685800" y="1691640"/>
            <a:ext cx="1783080" cy="457200"/>
          </a:xfrm>
          <a:prstGeom prst="rect">
            <a:avLst/>
          </a:prstGeom>
          <a:noFill/>
          <a:ln/>
        </p:spPr>
        <p:txBody>
          <a:bodyPr wrap="square" lIns="0" tIns="0" rIns="0" bIns="0" rtlCol="0" anchor="ctr"/>
          <a:lstStyle/>
          <a:p>
            <a:pPr indent="0" marL="0">
              <a:buNone/>
            </a:pPr>
            <a:r>
              <a:rPr lang="en-US" sz="1900" b="1" dirty="0">
                <a:solidFill>
                  <a:schemeClr val="bg1"/>
                </a:solidFill>
                <a:latin typeface="Calibri" pitchFamily="34" charset="0"/>
                <a:ea typeface="Calibri" pitchFamily="34" charset="-122"/>
                <a:cs typeface="Calibri" pitchFamily="34" charset="-120"/>
              </a:rPr>
              <a:t>Genome</a:t>
            </a:r>
            <a:endParaRPr lang="en-US" sz="1900" dirty="0"/>
          </a:p>
        </p:txBody>
      </p:sp>
      <p:sp>
        <p:nvSpPr>
          <p:cNvPr id="5" name="pipeline text 1"/>
          <p:cNvSpPr txBox="1"/>
          <p:nvPr/>
        </p:nvSpPr>
        <p:spPr>
          <a:xfrm>
            <a:off x="685800" y="2194560"/>
            <a:ext cx="1783080" cy="1645920"/>
          </a:xfrm>
          <a:prstGeom prst="rect">
            <a:avLst/>
          </a:prstGeom>
          <a:noFill/>
          <a:ln/>
        </p:spPr>
        <p:txBody>
          <a:bodyPr wrap="square" lIns="0" tIns="0" rIns="0" bIns="0" rtlCol="0" anchor="t"/>
          <a:lstStyle/>
          <a:p>
            <a:pPr indent="0" marL="0">
              <a:buNone/>
            </a:pPr>
            <a:r>
              <a:rPr lang="en-US" sz="1400" dirty="0">
                <a:solidFill>
                  <a:schemeClr val="bg1"/>
                </a:solidFill>
                <a:latin typeface="Calibri" pitchFamily="34" charset="0"/>
                <a:ea typeface="Calibri" pitchFamily="34" charset="-122"/>
                <a:cs typeface="Calibri" pitchFamily="34" charset="-120"/>
              </a:rPr>
              <a:t>8 genes, one per super-block of layers. Each gene: F16, Q8_0 or Q4_0</a:t>
            </a:r>
            <a:endParaRPr lang="en-US" sz="1400" dirty="0"/>
          </a:p>
        </p:txBody>
      </p:sp>
      <p:sp>
        <p:nvSpPr>
          <p:cNvPr id="6" name="pipeline arrow 1"/>
          <p:cNvSpPr/>
          <p:nvPr/>
        </p:nvSpPr>
        <p:spPr>
          <a:xfrm>
            <a:off x="2615184" y="2743200"/>
            <a:ext cx="164592" cy="0"/>
          </a:xfrm>
          <a:prstGeom prst="line">
            <a:avLst/>
          </a:prstGeom>
          <a:noFill/>
          <a:ln w="25400">
            <a:solidFill>
              <a:srgbClr val="10212B"/>
            </a:solidFill>
            <a:prstDash val="solid"/>
            <a:tailEnd type="triangle"/>
          </a:ln>
        </p:spPr>
      </p:sp>
      <p:sp>
        <p:nvSpPr>
          <p:cNvPr id="7" name="pipeline box 2"/>
          <p:cNvSpPr/>
          <p:nvPr/>
        </p:nvSpPr>
        <p:spPr>
          <a:xfrm>
            <a:off x="2788920" y="1554480"/>
            <a:ext cx="2057400" cy="2377440"/>
          </a:xfrm>
          <a:prstGeom prst="roundRect">
            <a:avLst>
              <a:gd name="adj" fmla="val 3556"/>
            </a:avLst>
          </a:prstGeom>
          <a:solidFill>
            <a:srgbClr val="2E9E8A"/>
          </a:solidFill>
          <a:ln w="12700">
            <a:solidFill>
              <a:srgbClr val="2E9E8A"/>
            </a:solidFill>
            <a:prstDash val="solid"/>
          </a:ln>
        </p:spPr>
      </p:sp>
      <p:sp>
        <p:nvSpPr>
          <p:cNvPr id="8" name="pipeline head 2"/>
          <p:cNvSpPr txBox="1"/>
          <p:nvPr/>
        </p:nvSpPr>
        <p:spPr>
          <a:xfrm>
            <a:off x="2926080" y="1691640"/>
            <a:ext cx="1783080" cy="457200"/>
          </a:xfrm>
          <a:prstGeom prst="rect">
            <a:avLst/>
          </a:prstGeom>
          <a:noFill/>
          <a:ln/>
        </p:spPr>
        <p:txBody>
          <a:bodyPr wrap="square" lIns="0" tIns="0" rIns="0" bIns="0" rtlCol="0" anchor="ctr"/>
          <a:lstStyle/>
          <a:p>
            <a:pPr indent="0" marL="0">
              <a:buNone/>
            </a:pPr>
            <a:r>
              <a:rPr lang="en-US" sz="1900" b="1" dirty="0">
                <a:solidFill>
                  <a:schemeClr val="bg1"/>
                </a:solidFill>
                <a:latin typeface="Calibri" pitchFamily="34" charset="0"/>
                <a:ea typeface="Calibri" pitchFamily="34" charset="-122"/>
                <a:cs typeface="Calibri" pitchFamily="34" charset="-120"/>
              </a:rPr>
              <a:t>Assembler</a:t>
            </a:r>
            <a:endParaRPr lang="en-US" sz="1900" dirty="0"/>
          </a:p>
        </p:txBody>
      </p:sp>
      <p:sp>
        <p:nvSpPr>
          <p:cNvPr id="9" name="pipeline text 2"/>
          <p:cNvSpPr txBox="1"/>
          <p:nvPr/>
        </p:nvSpPr>
        <p:spPr>
          <a:xfrm>
            <a:off x="2926080" y="2194560"/>
            <a:ext cx="1783080" cy="1645920"/>
          </a:xfrm>
          <a:prstGeom prst="rect">
            <a:avLst/>
          </a:prstGeom>
          <a:noFill/>
          <a:ln/>
        </p:spPr>
        <p:txBody>
          <a:bodyPr wrap="square" lIns="0" tIns="0" rIns="0" bIns="0" rtlCol="0" anchor="t"/>
          <a:lstStyle/>
          <a:p>
            <a:pPr indent="0" marL="0">
              <a:buNone/>
            </a:pPr>
            <a:r>
              <a:rPr lang="en-US" sz="1400" dirty="0">
                <a:solidFill>
                  <a:schemeClr val="bg1"/>
                </a:solidFill>
                <a:latin typeface="Calibri" pitchFamily="34" charset="0"/>
                <a:ea typeface="Calibri" pitchFamily="34" charset="-122"/>
                <a:cs typeface="Calibri" pitchFamily="34" charset="-120"/>
              </a:rPr>
              <a:t>Splices pre-quantized GGUF tensors into one file; bit-identical to llama-quantize</a:t>
            </a:r>
            <a:endParaRPr lang="en-US" sz="1400" dirty="0"/>
          </a:p>
        </p:txBody>
      </p:sp>
      <p:sp>
        <p:nvSpPr>
          <p:cNvPr id="10" name="pipeline arrow 2"/>
          <p:cNvSpPr/>
          <p:nvPr/>
        </p:nvSpPr>
        <p:spPr>
          <a:xfrm>
            <a:off x="4855464" y="2743200"/>
            <a:ext cx="164592" cy="0"/>
          </a:xfrm>
          <a:prstGeom prst="line">
            <a:avLst/>
          </a:prstGeom>
          <a:noFill/>
          <a:ln w="25400">
            <a:solidFill>
              <a:srgbClr val="10212B"/>
            </a:solidFill>
            <a:prstDash val="solid"/>
            <a:tailEnd type="triangle"/>
          </a:ln>
        </p:spPr>
      </p:sp>
      <p:sp>
        <p:nvSpPr>
          <p:cNvPr id="11" name="pipeline box 3"/>
          <p:cNvSpPr/>
          <p:nvPr/>
        </p:nvSpPr>
        <p:spPr>
          <a:xfrm>
            <a:off x="5029200" y="1554480"/>
            <a:ext cx="2057400" cy="2377440"/>
          </a:xfrm>
          <a:prstGeom prst="roundRect">
            <a:avLst>
              <a:gd name="adj" fmla="val 3556"/>
            </a:avLst>
          </a:prstGeom>
          <a:solidFill>
            <a:srgbClr val="F2A541"/>
          </a:solidFill>
          <a:ln w="12700">
            <a:solidFill>
              <a:srgbClr val="F2A541"/>
            </a:solidFill>
            <a:prstDash val="solid"/>
          </a:ln>
        </p:spPr>
      </p:sp>
      <p:sp>
        <p:nvSpPr>
          <p:cNvPr id="12" name="pipeline head 3"/>
          <p:cNvSpPr txBox="1"/>
          <p:nvPr/>
        </p:nvSpPr>
        <p:spPr>
          <a:xfrm>
            <a:off x="5166360" y="1691640"/>
            <a:ext cx="1783080" cy="457200"/>
          </a:xfrm>
          <a:prstGeom prst="rect">
            <a:avLst/>
          </a:prstGeom>
          <a:noFill/>
          <a:ln/>
        </p:spPr>
        <p:txBody>
          <a:bodyPr wrap="square" lIns="0" tIns="0" rIns="0" bIns="0" rtlCol="0" anchor="ctr"/>
          <a:lstStyle/>
          <a:p>
            <a:pPr indent="0" marL="0">
              <a:buNone/>
            </a:pPr>
            <a:r>
              <a:rPr lang="en-US" sz="1900" b="1" dirty="0">
                <a:solidFill>
                  <a:schemeClr val="tx1"/>
                </a:solidFill>
                <a:latin typeface="Calibri" pitchFamily="34" charset="0"/>
                <a:ea typeface="Calibri" pitchFamily="34" charset="-122"/>
                <a:cs typeface="Calibri" pitchFamily="34" charset="-120"/>
              </a:rPr>
              <a:t>Probes</a:t>
            </a:r>
            <a:endParaRPr lang="en-US" sz="1900" dirty="0"/>
          </a:p>
        </p:txBody>
      </p:sp>
      <p:sp>
        <p:nvSpPr>
          <p:cNvPr id="13" name="pipeline text 3"/>
          <p:cNvSpPr txBox="1"/>
          <p:nvPr/>
        </p:nvSpPr>
        <p:spPr>
          <a:xfrm>
            <a:off x="5166360" y="2194560"/>
            <a:ext cx="1783080" cy="16459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KL divergence (accuracy), llama-bench decode tok/s, energy per token</a:t>
            </a:r>
            <a:endParaRPr lang="en-US" sz="1400" dirty="0"/>
          </a:p>
        </p:txBody>
      </p:sp>
      <p:sp>
        <p:nvSpPr>
          <p:cNvPr id="14" name="pipeline arrow 3"/>
          <p:cNvSpPr/>
          <p:nvPr/>
        </p:nvSpPr>
        <p:spPr>
          <a:xfrm>
            <a:off x="7095744" y="2743200"/>
            <a:ext cx="164592" cy="0"/>
          </a:xfrm>
          <a:prstGeom prst="line">
            <a:avLst/>
          </a:prstGeom>
          <a:noFill/>
          <a:ln w="25400">
            <a:solidFill>
              <a:srgbClr val="10212B"/>
            </a:solidFill>
            <a:prstDash val="solid"/>
            <a:tailEnd type="triangle"/>
          </a:ln>
        </p:spPr>
      </p:sp>
      <p:sp>
        <p:nvSpPr>
          <p:cNvPr id="15" name="pipeline box 4"/>
          <p:cNvSpPr/>
          <p:nvPr/>
        </p:nvSpPr>
        <p:spPr>
          <a:xfrm>
            <a:off x="7269480" y="1554480"/>
            <a:ext cx="2057400" cy="2377440"/>
          </a:xfrm>
          <a:prstGeom prst="roundRect">
            <a:avLst>
              <a:gd name="adj" fmla="val 3556"/>
            </a:avLst>
          </a:prstGeom>
          <a:solidFill>
            <a:srgbClr val="7B6FB5"/>
          </a:solidFill>
          <a:ln w="12700">
            <a:solidFill>
              <a:srgbClr val="7B6FB5"/>
            </a:solidFill>
            <a:prstDash val="solid"/>
          </a:ln>
        </p:spPr>
      </p:sp>
      <p:sp>
        <p:nvSpPr>
          <p:cNvPr id="16" name="pipeline head 4"/>
          <p:cNvSpPr txBox="1"/>
          <p:nvPr/>
        </p:nvSpPr>
        <p:spPr>
          <a:xfrm>
            <a:off x="7406640" y="1691640"/>
            <a:ext cx="1783080" cy="457200"/>
          </a:xfrm>
          <a:prstGeom prst="rect">
            <a:avLst/>
          </a:prstGeom>
          <a:noFill/>
          <a:ln/>
        </p:spPr>
        <p:txBody>
          <a:bodyPr wrap="square" lIns="0" tIns="0" rIns="0" bIns="0" rtlCol="0" anchor="ctr"/>
          <a:lstStyle/>
          <a:p>
            <a:pPr indent="0" marL="0">
              <a:buNone/>
            </a:pPr>
            <a:r>
              <a:rPr lang="en-US" sz="1900" b="1" dirty="0">
                <a:solidFill>
                  <a:schemeClr val="bg1"/>
                </a:solidFill>
                <a:latin typeface="Calibri" pitchFamily="34" charset="0"/>
                <a:ea typeface="Calibri" pitchFamily="34" charset="-122"/>
                <a:cs typeface="Calibri" pitchFamily="34" charset="-120"/>
              </a:rPr>
              <a:t>Pareto GA</a:t>
            </a:r>
            <a:endParaRPr lang="en-US" sz="1900" dirty="0"/>
          </a:p>
        </p:txBody>
      </p:sp>
      <p:sp>
        <p:nvSpPr>
          <p:cNvPr id="17" name="pipeline text 4"/>
          <p:cNvSpPr txBox="1"/>
          <p:nvPr/>
        </p:nvSpPr>
        <p:spPr>
          <a:xfrm>
            <a:off x="7406640" y="2194560"/>
            <a:ext cx="1783080" cy="1645920"/>
          </a:xfrm>
          <a:prstGeom prst="rect">
            <a:avLst/>
          </a:prstGeom>
          <a:noFill/>
          <a:ln/>
        </p:spPr>
        <p:txBody>
          <a:bodyPr wrap="square" lIns="0" tIns="0" rIns="0" bIns="0" rtlCol="0" anchor="t"/>
          <a:lstStyle/>
          <a:p>
            <a:pPr indent="0" marL="0">
              <a:buNone/>
            </a:pPr>
            <a:r>
              <a:rPr lang="en-US" sz="1400" dirty="0">
                <a:solidFill>
                  <a:schemeClr val="bg1"/>
                </a:solidFill>
                <a:latin typeface="Calibri" pitchFamily="34" charset="0"/>
                <a:ea typeface="Calibri" pitchFamily="34" charset="-122"/>
                <a:cs typeface="Calibri" pitchFamily="34" charset="-120"/>
              </a:rPr>
              <a:t>Steady-state, NSGA-II ranking; cache holds raw objective vectors only</a:t>
            </a:r>
            <a:endParaRPr lang="en-US" sz="1400" dirty="0"/>
          </a:p>
        </p:txBody>
      </p:sp>
      <p:sp>
        <p:nvSpPr>
          <p:cNvPr id="18" name="pipeline arrow 4"/>
          <p:cNvSpPr/>
          <p:nvPr/>
        </p:nvSpPr>
        <p:spPr>
          <a:xfrm>
            <a:off x="9336024" y="2743200"/>
            <a:ext cx="164592" cy="0"/>
          </a:xfrm>
          <a:prstGeom prst="line">
            <a:avLst/>
          </a:prstGeom>
          <a:noFill/>
          <a:ln w="25400">
            <a:solidFill>
              <a:srgbClr val="10212B"/>
            </a:solidFill>
            <a:prstDash val="solid"/>
            <a:tailEnd type="triangle"/>
          </a:ln>
        </p:spPr>
      </p:sp>
      <p:sp>
        <p:nvSpPr>
          <p:cNvPr id="19" name="pipeline box 5"/>
          <p:cNvSpPr/>
          <p:nvPr/>
        </p:nvSpPr>
        <p:spPr>
          <a:xfrm>
            <a:off x="9509760" y="1554480"/>
            <a:ext cx="2057400" cy="2377440"/>
          </a:xfrm>
          <a:prstGeom prst="roundRect">
            <a:avLst>
              <a:gd name="adj" fmla="val 3556"/>
            </a:avLst>
          </a:prstGeom>
          <a:solidFill>
            <a:srgbClr val="0B3C4F"/>
          </a:solidFill>
          <a:ln w="12700">
            <a:solidFill>
              <a:srgbClr val="0B3C4F"/>
            </a:solidFill>
            <a:prstDash val="solid"/>
          </a:ln>
        </p:spPr>
      </p:sp>
      <p:sp>
        <p:nvSpPr>
          <p:cNvPr id="20" name="pipeline head 5"/>
          <p:cNvSpPr txBox="1"/>
          <p:nvPr/>
        </p:nvSpPr>
        <p:spPr>
          <a:xfrm>
            <a:off x="9646920" y="1691640"/>
            <a:ext cx="1783080" cy="457200"/>
          </a:xfrm>
          <a:prstGeom prst="rect">
            <a:avLst/>
          </a:prstGeom>
          <a:noFill/>
          <a:ln/>
        </p:spPr>
        <p:txBody>
          <a:bodyPr wrap="square" lIns="0" tIns="0" rIns="0" bIns="0" rtlCol="0" anchor="ctr"/>
          <a:lstStyle/>
          <a:p>
            <a:pPr indent="0" marL="0">
              <a:buNone/>
            </a:pPr>
            <a:r>
              <a:rPr lang="en-US" sz="1900" b="1" dirty="0">
                <a:solidFill>
                  <a:schemeClr val="bg1"/>
                </a:solidFill>
                <a:latin typeface="Calibri" pitchFamily="34" charset="0"/>
                <a:ea typeface="Calibri" pitchFamily="34" charset="-122"/>
                <a:cs typeface="Calibri" pitchFamily="34" charset="-120"/>
              </a:rPr>
              <a:t>Front</a:t>
            </a:r>
            <a:endParaRPr lang="en-US" sz="1900" dirty="0"/>
          </a:p>
        </p:txBody>
      </p:sp>
      <p:sp>
        <p:nvSpPr>
          <p:cNvPr id="21" name="pipeline text 5"/>
          <p:cNvSpPr txBox="1"/>
          <p:nvPr/>
        </p:nvSpPr>
        <p:spPr>
          <a:xfrm>
            <a:off x="9646920" y="2194560"/>
            <a:ext cx="1783080" cy="1645920"/>
          </a:xfrm>
          <a:prstGeom prst="rect">
            <a:avLst/>
          </a:prstGeom>
          <a:noFill/>
          <a:ln/>
        </p:spPr>
        <p:txBody>
          <a:bodyPr wrap="square" lIns="0" tIns="0" rIns="0" bIns="0" rtlCol="0" anchor="t"/>
          <a:lstStyle/>
          <a:p>
            <a:pPr indent="0" marL="0">
              <a:buNone/>
            </a:pPr>
            <a:r>
              <a:rPr lang="en-US" sz="1400" dirty="0">
                <a:solidFill>
                  <a:schemeClr val="bg1"/>
                </a:solidFill>
                <a:latin typeface="Calibri" pitchFamily="34" charset="0"/>
                <a:ea typeface="Calibri" pitchFamily="34" charset="-122"/>
                <a:cs typeface="Calibri" pitchFamily="34" charset="-120"/>
              </a:rPr>
              <a:t>Pick an operating point by accuracy budget, not by weights</a:t>
            </a:r>
            <a:endParaRPr lang="en-US" sz="1400" dirty="0"/>
          </a:p>
        </p:txBody>
      </p:sp>
      <p:sp>
        <p:nvSpPr>
          <p:cNvPr id="22" name="objective card 1"/>
          <p:cNvSpPr/>
          <p:nvPr/>
        </p:nvSpPr>
        <p:spPr>
          <a:xfrm>
            <a:off x="548640" y="4251960"/>
            <a:ext cx="3566160" cy="1828800"/>
          </a:xfrm>
          <a:prstGeom prst="roundRect">
            <a:avLst>
              <a:gd name="adj" fmla="val 4000"/>
            </a:avLst>
          </a:prstGeom>
          <a:solidFill>
            <a:schemeClr val="bg2"/>
          </a:solidFill>
          <a:ln w="12700">
            <a:solidFill>
              <a:schemeClr val="bg2"/>
            </a:solidFill>
            <a:prstDash val="solid"/>
          </a:ln>
        </p:spPr>
      </p:sp>
      <p:sp>
        <p:nvSpPr>
          <p:cNvPr id="23" name="objective name 1"/>
          <p:cNvSpPr txBox="1"/>
          <p:nvPr/>
        </p:nvSpPr>
        <p:spPr>
          <a:xfrm>
            <a:off x="731520" y="4343400"/>
            <a:ext cx="3200400" cy="365760"/>
          </a:xfrm>
          <a:prstGeom prst="rect">
            <a:avLst/>
          </a:prstGeom>
          <a:noFill/>
          <a:ln/>
        </p:spPr>
        <p:txBody>
          <a:bodyPr wrap="square" lIns="0" tIns="0" rIns="0" bIns="0" rtlCol="0" anchor="ctr"/>
          <a:lstStyle/>
          <a:p>
            <a:pPr indent="0" marL="0">
              <a:buNone/>
            </a:pPr>
            <a:r>
              <a:rPr lang="en-US" sz="1700" b="1" dirty="0">
                <a:solidFill>
                  <a:srgbClr val="D1495B"/>
                </a:solidFill>
                <a:latin typeface="Calibri" pitchFamily="34" charset="0"/>
                <a:ea typeface="Calibri" pitchFamily="34" charset="-122"/>
                <a:cs typeface="Calibri" pitchFamily="34" charset="-120"/>
              </a:rPr>
              <a:t>accuracy_penalty</a:t>
            </a:r>
            <a:endParaRPr lang="en-US" sz="1700" dirty="0"/>
          </a:p>
        </p:txBody>
      </p:sp>
      <p:sp>
        <p:nvSpPr>
          <p:cNvPr id="24" name="objective formula 1"/>
          <p:cNvSpPr txBox="1"/>
          <p:nvPr/>
        </p:nvSpPr>
        <p:spPr>
          <a:xfrm>
            <a:off x="731520" y="4736592"/>
            <a:ext cx="3200400" cy="36576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exp(KLD) - 1</a:t>
            </a:r>
            <a:endParaRPr lang="en-US" sz="1500" dirty="0"/>
          </a:p>
        </p:txBody>
      </p:sp>
      <p:sp>
        <p:nvSpPr>
          <p:cNvPr id="25" name="objective text 1"/>
          <p:cNvSpPr txBox="1"/>
          <p:nvPr/>
        </p:nvSpPr>
        <p:spPr>
          <a:xfrm>
            <a:off x="731520" y="5138928"/>
            <a:ext cx="3200400" cy="8686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expected perplexity increase, measured against the original model's logits</a:t>
            </a:r>
            <a:endParaRPr lang="en-US" sz="1400" dirty="0"/>
          </a:p>
        </p:txBody>
      </p:sp>
      <p:sp>
        <p:nvSpPr>
          <p:cNvPr id="26" name="objective card 2"/>
          <p:cNvSpPr/>
          <p:nvPr/>
        </p:nvSpPr>
        <p:spPr>
          <a:xfrm>
            <a:off x="4297680" y="4251960"/>
            <a:ext cx="3566160" cy="1828800"/>
          </a:xfrm>
          <a:prstGeom prst="roundRect">
            <a:avLst>
              <a:gd name="adj" fmla="val 4000"/>
            </a:avLst>
          </a:prstGeom>
          <a:solidFill>
            <a:schemeClr val="bg2"/>
          </a:solidFill>
          <a:ln w="12700">
            <a:solidFill>
              <a:schemeClr val="bg2"/>
            </a:solidFill>
            <a:prstDash val="solid"/>
          </a:ln>
        </p:spPr>
      </p:sp>
      <p:sp>
        <p:nvSpPr>
          <p:cNvPr id="27" name="objective name 2"/>
          <p:cNvSpPr txBox="1"/>
          <p:nvPr/>
        </p:nvSpPr>
        <p:spPr>
          <a:xfrm>
            <a:off x="4480560" y="4343400"/>
            <a:ext cx="3200400" cy="365760"/>
          </a:xfrm>
          <a:prstGeom prst="rect">
            <a:avLst/>
          </a:prstGeom>
          <a:noFill/>
          <a:ln/>
        </p:spPr>
        <p:txBody>
          <a:bodyPr wrap="square" lIns="0" tIns="0" rIns="0" bIns="0" rtlCol="0" anchor="ctr"/>
          <a:lstStyle/>
          <a:p>
            <a:pPr indent="0" marL="0">
              <a:buNone/>
            </a:pPr>
            <a:r>
              <a:rPr lang="en-US" sz="1700" b="1" dirty="0">
                <a:solidFill>
                  <a:srgbClr val="2E9E8A"/>
                </a:solidFill>
                <a:latin typeface="Calibri" pitchFamily="34" charset="0"/>
                <a:ea typeface="Calibri" pitchFamily="34" charset="-122"/>
                <a:cs typeface="Calibri" pitchFamily="34" charset="-120"/>
              </a:rPr>
              <a:t>speed_gain</a:t>
            </a:r>
            <a:endParaRPr lang="en-US" sz="1700" dirty="0"/>
          </a:p>
        </p:txBody>
      </p:sp>
      <p:sp>
        <p:nvSpPr>
          <p:cNvPr id="28" name="objective formula 2"/>
          <p:cNvSpPr txBox="1"/>
          <p:nvPr/>
        </p:nvSpPr>
        <p:spPr>
          <a:xfrm>
            <a:off x="4480560" y="4736592"/>
            <a:ext cx="3200400" cy="36576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decode tok/s / baseline - 1</a:t>
            </a:r>
            <a:endParaRPr lang="en-US" sz="1500" dirty="0"/>
          </a:p>
        </p:txBody>
      </p:sp>
      <p:sp>
        <p:nvSpPr>
          <p:cNvPr id="29" name="objective text 2"/>
          <p:cNvSpPr txBox="1"/>
          <p:nvPr/>
        </p:nvSpPr>
        <p:spPr>
          <a:xfrm>
            <a:off x="4480560" y="5138928"/>
            <a:ext cx="3200400" cy="8686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decode is bandwidth-bound and what users feel on an edge device</a:t>
            </a:r>
            <a:endParaRPr lang="en-US" sz="1400" dirty="0"/>
          </a:p>
        </p:txBody>
      </p:sp>
      <p:sp>
        <p:nvSpPr>
          <p:cNvPr id="30" name="objective card 3"/>
          <p:cNvSpPr/>
          <p:nvPr/>
        </p:nvSpPr>
        <p:spPr>
          <a:xfrm>
            <a:off x="8046720" y="4251960"/>
            <a:ext cx="3566160" cy="1828800"/>
          </a:xfrm>
          <a:prstGeom prst="roundRect">
            <a:avLst>
              <a:gd name="adj" fmla="val 4000"/>
            </a:avLst>
          </a:prstGeom>
          <a:solidFill>
            <a:schemeClr val="bg2"/>
          </a:solidFill>
          <a:ln w="12700">
            <a:solidFill>
              <a:schemeClr val="bg2"/>
            </a:solidFill>
            <a:prstDash val="solid"/>
          </a:ln>
        </p:spPr>
      </p:sp>
      <p:sp>
        <p:nvSpPr>
          <p:cNvPr id="31" name="objective name 3"/>
          <p:cNvSpPr txBox="1"/>
          <p:nvPr/>
        </p:nvSpPr>
        <p:spPr>
          <a:xfrm>
            <a:off x="8229600" y="4343400"/>
            <a:ext cx="3200400" cy="365760"/>
          </a:xfrm>
          <a:prstGeom prst="rect">
            <a:avLst/>
          </a:prstGeom>
          <a:noFill/>
          <a:ln/>
        </p:spPr>
        <p:txBody>
          <a:bodyPr wrap="square" lIns="0" tIns="0" rIns="0" bIns="0" rtlCol="0" anchor="ctr"/>
          <a:lstStyle/>
          <a:p>
            <a:pPr indent="0" marL="0">
              <a:buNone/>
            </a:pPr>
            <a:r>
              <a:rPr lang="en-US" sz="1700" b="1" dirty="0">
                <a:solidFill>
                  <a:srgbClr val="9A5B00"/>
                </a:solidFill>
                <a:latin typeface="Calibri" pitchFamily="34" charset="0"/>
                <a:ea typeface="Calibri" pitchFamily="34" charset="-122"/>
                <a:cs typeface="Calibri" pitchFamily="34" charset="-120"/>
              </a:rPr>
              <a:t>energy_gain</a:t>
            </a:r>
            <a:endParaRPr lang="en-US" sz="1700" dirty="0"/>
          </a:p>
        </p:txBody>
      </p:sp>
      <p:sp>
        <p:nvSpPr>
          <p:cNvPr id="32" name="objective formula 3"/>
          <p:cNvSpPr txBox="1"/>
          <p:nvPr/>
        </p:nvSpPr>
        <p:spPr>
          <a:xfrm>
            <a:off x="8229600" y="4736592"/>
            <a:ext cx="3200400" cy="36576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1 - J/token / baseline</a:t>
            </a:r>
            <a:endParaRPr lang="en-US" sz="1500" dirty="0"/>
          </a:p>
        </p:txBody>
      </p:sp>
      <p:sp>
        <p:nvSpPr>
          <p:cNvPr id="33" name="objective text 3"/>
          <p:cNvSpPr txBox="1"/>
          <p:nvPr/>
        </p:nvSpPr>
        <p:spPr>
          <a:xfrm>
            <a:off x="8229600" y="5138928"/>
            <a:ext cx="3200400" cy="8686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net of idle power, from the same run as the speed measurement</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Strategy: spend Mac dollars only on what only the Mac can answer</a:t>
            </a:r>
            <a:endParaRPr lang="en-US" sz="2800" dirty="0"/>
          </a:p>
        </p:txBody>
      </p:sp>
      <p:sp>
        <p:nvSpPr>
          <p:cNvPr id="3" name="tier card T0"/>
          <p:cNvSpPr/>
          <p:nvPr/>
        </p:nvSpPr>
        <p:spPr>
          <a:xfrm>
            <a:off x="548640" y="1508760"/>
            <a:ext cx="2103120" cy="3749040"/>
          </a:xfrm>
          <a:prstGeom prst="roundRect">
            <a:avLst>
              <a:gd name="adj" fmla="val 3478"/>
            </a:avLst>
          </a:prstGeom>
          <a:solidFill>
            <a:schemeClr val="bg2"/>
          </a:solidFill>
          <a:ln w="12700">
            <a:solidFill>
              <a:schemeClr val="bg2"/>
            </a:solidFill>
            <a:prstDash val="solid"/>
          </a:ln>
        </p:spPr>
      </p:sp>
      <p:sp>
        <p:nvSpPr>
          <p:cNvPr id="4" name="tier badge T0"/>
          <p:cNvSpPr/>
          <p:nvPr/>
        </p:nvSpPr>
        <p:spPr>
          <a:xfrm>
            <a:off x="731520" y="1691640"/>
            <a:ext cx="777240" cy="777240"/>
          </a:xfrm>
          <a:prstGeom prst="ellipse">
            <a:avLst/>
          </a:prstGeom>
          <a:solidFill>
            <a:schemeClr val="accent3"/>
          </a:solidFill>
          <a:ln w="12700">
            <a:solidFill>
              <a:schemeClr val="accent3"/>
            </a:solidFill>
            <a:prstDash val="solid"/>
          </a:ln>
        </p:spPr>
      </p:sp>
      <p:sp>
        <p:nvSpPr>
          <p:cNvPr id="5" name="tier label T0"/>
          <p:cNvSpPr txBox="1"/>
          <p:nvPr/>
        </p:nvSpPr>
        <p:spPr>
          <a:xfrm>
            <a:off x="731520" y="1691640"/>
            <a:ext cx="777240" cy="777240"/>
          </a:xfrm>
          <a:prstGeom prst="rect">
            <a:avLst/>
          </a:prstGeom>
          <a:noFill/>
          <a:ln/>
        </p:spPr>
        <p:txBody>
          <a:bodyPr wrap="square" lIns="0" tIns="0" rIns="0" bIns="0" rtlCol="0" anchor="ctr"/>
          <a:lstStyle/>
          <a:p>
            <a:pPr algn="ctr" indent="0" marL="0">
              <a:buNone/>
            </a:pPr>
            <a:r>
              <a:rPr lang="en-US" sz="2000" b="1" dirty="0">
                <a:solidFill>
                  <a:schemeClr val="bg1"/>
                </a:solidFill>
                <a:latin typeface="Calibri" pitchFamily="34" charset="0"/>
                <a:ea typeface="Calibri" pitchFamily="34" charset="-122"/>
                <a:cs typeface="Calibri" pitchFamily="34" charset="-120"/>
              </a:rPr>
              <a:t>T0</a:t>
            </a:r>
            <a:endParaRPr lang="en-US" sz="2000" dirty="0"/>
          </a:p>
        </p:txBody>
      </p:sp>
      <p:sp>
        <p:nvSpPr>
          <p:cNvPr id="6" name="tier name T0"/>
          <p:cNvSpPr txBox="1"/>
          <p:nvPr/>
        </p:nvSpPr>
        <p:spPr>
          <a:xfrm>
            <a:off x="731520" y="2606040"/>
            <a:ext cx="1737360" cy="640080"/>
          </a:xfrm>
          <a:prstGeom prst="rect">
            <a:avLst/>
          </a:prstGeom>
          <a:noFill/>
          <a:ln/>
        </p:spPr>
        <p:txBody>
          <a:bodyPr wrap="square" lIns="0" tIns="0" rIns="0" bIns="0" rtlCol="0" anchor="t"/>
          <a:lstStyle/>
          <a:p>
            <a:pPr indent="0" marL="0">
              <a:buNone/>
            </a:pPr>
            <a:r>
              <a:rPr lang="en-US" sz="1700" b="1" dirty="0">
                <a:solidFill>
                  <a:schemeClr val="tx2"/>
                </a:solidFill>
                <a:latin typeface="Calibri" pitchFamily="34" charset="0"/>
                <a:ea typeface="Calibri" pitchFamily="34" charset="-122"/>
                <a:cs typeface="Calibri" pitchFamily="34" charset="-120"/>
              </a:rPr>
              <a:t>Desktop, no GPU</a:t>
            </a:r>
            <a:endParaRPr lang="en-US" sz="1700" dirty="0"/>
          </a:p>
        </p:txBody>
      </p:sp>
      <p:sp>
        <p:nvSpPr>
          <p:cNvPr id="7" name="tier text T0"/>
          <p:cNvSpPr txBox="1"/>
          <p:nvPr/>
        </p:nvSpPr>
        <p:spPr>
          <a:xfrm>
            <a:off x="731520" y="3291840"/>
            <a:ext cx="1737360" cy="12801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Unit tests, GA, GGUF assembler, parsers, energy-meter backends</a:t>
            </a:r>
            <a:endParaRPr lang="en-US" sz="1400" dirty="0"/>
          </a:p>
        </p:txBody>
      </p:sp>
      <p:sp>
        <p:nvSpPr>
          <p:cNvPr id="8" name="tier cost T0"/>
          <p:cNvSpPr txBox="1"/>
          <p:nvPr/>
        </p:nvSpPr>
        <p:spPr>
          <a:xfrm>
            <a:off x="731520" y="4709160"/>
            <a:ext cx="1737360" cy="365760"/>
          </a:xfrm>
          <a:prstGeom prst="rect">
            <a:avLst/>
          </a:prstGeom>
          <a:noFill/>
          <a:ln/>
        </p:spPr>
        <p:txBody>
          <a:bodyPr wrap="square" lIns="0" tIns="0" rIns="0" bIns="0" rtlCol="0" anchor="ctr"/>
          <a:lstStyle/>
          <a:p>
            <a:pPr indent="0" marL="0">
              <a:buNone/>
            </a:pPr>
            <a:r>
              <a:rPr lang="en-US" sz="1400" b="1" dirty="0">
                <a:solidFill>
                  <a:schemeClr val="accent3"/>
                </a:solidFill>
                <a:latin typeface="Calibri" pitchFamily="34" charset="0"/>
                <a:ea typeface="Calibri" pitchFamily="34" charset="-122"/>
                <a:cs typeface="Calibri" pitchFamily="34" charset="-120"/>
              </a:rPr>
              <a:t>free</a:t>
            </a:r>
            <a:endParaRPr lang="en-US" sz="1400" dirty="0"/>
          </a:p>
        </p:txBody>
      </p:sp>
      <p:sp>
        <p:nvSpPr>
          <p:cNvPr id="9" name="tier card T1"/>
          <p:cNvSpPr/>
          <p:nvPr/>
        </p:nvSpPr>
        <p:spPr>
          <a:xfrm>
            <a:off x="2788920" y="1508760"/>
            <a:ext cx="2103120" cy="3749040"/>
          </a:xfrm>
          <a:prstGeom prst="roundRect">
            <a:avLst>
              <a:gd name="adj" fmla="val 3478"/>
            </a:avLst>
          </a:prstGeom>
          <a:solidFill>
            <a:schemeClr val="bg2"/>
          </a:solidFill>
          <a:ln w="12700">
            <a:solidFill>
              <a:schemeClr val="bg2"/>
            </a:solidFill>
            <a:prstDash val="solid"/>
          </a:ln>
        </p:spPr>
      </p:sp>
      <p:sp>
        <p:nvSpPr>
          <p:cNvPr id="10" name="tier badge T1"/>
          <p:cNvSpPr/>
          <p:nvPr/>
        </p:nvSpPr>
        <p:spPr>
          <a:xfrm>
            <a:off x="2971800" y="1691640"/>
            <a:ext cx="777240" cy="777240"/>
          </a:xfrm>
          <a:prstGeom prst="ellipse">
            <a:avLst/>
          </a:prstGeom>
          <a:solidFill>
            <a:schemeClr val="accent3"/>
          </a:solidFill>
          <a:ln w="12700">
            <a:solidFill>
              <a:schemeClr val="accent3"/>
            </a:solidFill>
            <a:prstDash val="solid"/>
          </a:ln>
        </p:spPr>
      </p:sp>
      <p:sp>
        <p:nvSpPr>
          <p:cNvPr id="11" name="tier label T1"/>
          <p:cNvSpPr txBox="1"/>
          <p:nvPr/>
        </p:nvSpPr>
        <p:spPr>
          <a:xfrm>
            <a:off x="2971800" y="1691640"/>
            <a:ext cx="777240" cy="777240"/>
          </a:xfrm>
          <a:prstGeom prst="rect">
            <a:avLst/>
          </a:prstGeom>
          <a:noFill/>
          <a:ln/>
        </p:spPr>
        <p:txBody>
          <a:bodyPr wrap="square" lIns="0" tIns="0" rIns="0" bIns="0" rtlCol="0" anchor="ctr"/>
          <a:lstStyle/>
          <a:p>
            <a:pPr algn="ctr" indent="0" marL="0">
              <a:buNone/>
            </a:pPr>
            <a:r>
              <a:rPr lang="en-US" sz="2000" b="1" dirty="0">
                <a:solidFill>
                  <a:schemeClr val="bg1"/>
                </a:solidFill>
                <a:latin typeface="Calibri" pitchFamily="34" charset="0"/>
                <a:ea typeface="Calibri" pitchFamily="34" charset="-122"/>
                <a:cs typeface="Calibri" pitchFamily="34" charset="-120"/>
              </a:rPr>
              <a:t>T1</a:t>
            </a:r>
            <a:endParaRPr lang="en-US" sz="2000" dirty="0"/>
          </a:p>
        </p:txBody>
      </p:sp>
      <p:sp>
        <p:nvSpPr>
          <p:cNvPr id="12" name="tier name T1"/>
          <p:cNvSpPr txBox="1"/>
          <p:nvPr/>
        </p:nvSpPr>
        <p:spPr>
          <a:xfrm>
            <a:off x="2971800" y="2606040"/>
            <a:ext cx="1737360" cy="640080"/>
          </a:xfrm>
          <a:prstGeom prst="rect">
            <a:avLst/>
          </a:prstGeom>
          <a:noFill/>
          <a:ln/>
        </p:spPr>
        <p:txBody>
          <a:bodyPr wrap="square" lIns="0" tIns="0" rIns="0" bIns="0" rtlCol="0" anchor="t"/>
          <a:lstStyle/>
          <a:p>
            <a:pPr indent="0" marL="0">
              <a:buNone/>
            </a:pPr>
            <a:r>
              <a:rPr lang="en-US" sz="1700" b="1" dirty="0">
                <a:solidFill>
                  <a:schemeClr val="tx2"/>
                </a:solidFill>
                <a:latin typeface="Calibri" pitchFamily="34" charset="0"/>
                <a:ea typeface="Calibri" pitchFamily="34" charset="-122"/>
                <a:cs typeface="Calibri" pitchFamily="34" charset="-120"/>
              </a:rPr>
              <a:t>Desktop + RTX 3080</a:t>
            </a:r>
            <a:endParaRPr lang="en-US" sz="1700" dirty="0"/>
          </a:p>
        </p:txBody>
      </p:sp>
      <p:sp>
        <p:nvSpPr>
          <p:cNvPr id="13" name="tier text T1"/>
          <p:cNvSpPr txBox="1"/>
          <p:nvPr/>
        </p:nvSpPr>
        <p:spPr>
          <a:xfrm>
            <a:off x="2971800" y="3291840"/>
            <a:ext cx="1737360" cy="12801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Real models, real accuracy, 2 search models, dry-run searches</a:t>
            </a:r>
            <a:endParaRPr lang="en-US" sz="1400" dirty="0"/>
          </a:p>
        </p:txBody>
      </p:sp>
      <p:sp>
        <p:nvSpPr>
          <p:cNvPr id="14" name="tier cost T1"/>
          <p:cNvSpPr txBox="1"/>
          <p:nvPr/>
        </p:nvSpPr>
        <p:spPr>
          <a:xfrm>
            <a:off x="2971800" y="4709160"/>
            <a:ext cx="1737360" cy="365760"/>
          </a:xfrm>
          <a:prstGeom prst="rect">
            <a:avLst/>
          </a:prstGeom>
          <a:noFill/>
          <a:ln/>
        </p:spPr>
        <p:txBody>
          <a:bodyPr wrap="square" lIns="0" tIns="0" rIns="0" bIns="0" rtlCol="0" anchor="ctr"/>
          <a:lstStyle/>
          <a:p>
            <a:pPr indent="0" marL="0">
              <a:buNone/>
            </a:pPr>
            <a:r>
              <a:rPr lang="en-US" sz="1400" b="1" dirty="0">
                <a:solidFill>
                  <a:schemeClr val="accent3"/>
                </a:solidFill>
                <a:latin typeface="Calibri" pitchFamily="34" charset="0"/>
                <a:ea typeface="Calibri" pitchFamily="34" charset="-122"/>
                <a:cs typeface="Calibri" pitchFamily="34" charset="-120"/>
              </a:rPr>
              <a:t>free</a:t>
            </a:r>
            <a:endParaRPr lang="en-US" sz="1400" dirty="0"/>
          </a:p>
        </p:txBody>
      </p:sp>
      <p:sp>
        <p:nvSpPr>
          <p:cNvPr id="15" name="tier card T2"/>
          <p:cNvSpPr/>
          <p:nvPr/>
        </p:nvSpPr>
        <p:spPr>
          <a:xfrm>
            <a:off x="5029200" y="1508760"/>
            <a:ext cx="2103120" cy="3749040"/>
          </a:xfrm>
          <a:prstGeom prst="roundRect">
            <a:avLst>
              <a:gd name="adj" fmla="val 3478"/>
            </a:avLst>
          </a:prstGeom>
          <a:solidFill>
            <a:schemeClr val="bg2"/>
          </a:solidFill>
          <a:ln w="12700">
            <a:solidFill>
              <a:schemeClr val="bg2"/>
            </a:solidFill>
            <a:prstDash val="solid"/>
          </a:ln>
        </p:spPr>
      </p:sp>
      <p:sp>
        <p:nvSpPr>
          <p:cNvPr id="16" name="tier badge T2"/>
          <p:cNvSpPr/>
          <p:nvPr/>
        </p:nvSpPr>
        <p:spPr>
          <a:xfrm>
            <a:off x="5212080" y="1691640"/>
            <a:ext cx="777240" cy="777240"/>
          </a:xfrm>
          <a:prstGeom prst="ellipse">
            <a:avLst/>
          </a:prstGeom>
          <a:solidFill>
            <a:schemeClr val="accent3"/>
          </a:solidFill>
          <a:ln w="12700">
            <a:solidFill>
              <a:schemeClr val="accent3"/>
            </a:solidFill>
            <a:prstDash val="solid"/>
          </a:ln>
        </p:spPr>
      </p:sp>
      <p:sp>
        <p:nvSpPr>
          <p:cNvPr id="17" name="tier label T2"/>
          <p:cNvSpPr txBox="1"/>
          <p:nvPr/>
        </p:nvSpPr>
        <p:spPr>
          <a:xfrm>
            <a:off x="5212080" y="1691640"/>
            <a:ext cx="777240" cy="777240"/>
          </a:xfrm>
          <a:prstGeom prst="rect">
            <a:avLst/>
          </a:prstGeom>
          <a:noFill/>
          <a:ln/>
        </p:spPr>
        <p:txBody>
          <a:bodyPr wrap="square" lIns="0" tIns="0" rIns="0" bIns="0" rtlCol="0" anchor="ctr"/>
          <a:lstStyle/>
          <a:p>
            <a:pPr algn="ctr" indent="0" marL="0">
              <a:buNone/>
            </a:pPr>
            <a:r>
              <a:rPr lang="en-US" sz="2000" b="1" dirty="0">
                <a:solidFill>
                  <a:schemeClr val="bg1"/>
                </a:solidFill>
                <a:latin typeface="Calibri" pitchFamily="34" charset="0"/>
                <a:ea typeface="Calibri" pitchFamily="34" charset="-122"/>
                <a:cs typeface="Calibri" pitchFamily="34" charset="-120"/>
              </a:rPr>
              <a:t>T2</a:t>
            </a:r>
            <a:endParaRPr lang="en-US" sz="2000" dirty="0"/>
          </a:p>
        </p:txBody>
      </p:sp>
      <p:sp>
        <p:nvSpPr>
          <p:cNvPr id="18" name="tier name T2"/>
          <p:cNvSpPr txBox="1"/>
          <p:nvPr/>
        </p:nvSpPr>
        <p:spPr>
          <a:xfrm>
            <a:off x="5212080" y="2606040"/>
            <a:ext cx="1737360" cy="640080"/>
          </a:xfrm>
          <a:prstGeom prst="rect">
            <a:avLst/>
          </a:prstGeom>
          <a:noFill/>
          <a:ln/>
        </p:spPr>
        <p:txBody>
          <a:bodyPr wrap="square" lIns="0" tIns="0" rIns="0" bIns="0" rtlCol="0" anchor="t"/>
          <a:lstStyle/>
          <a:p>
            <a:pPr indent="0" marL="0">
              <a:buNone/>
            </a:pPr>
            <a:r>
              <a:rPr lang="en-US" sz="1700" b="1" dirty="0">
                <a:solidFill>
                  <a:schemeClr val="tx2"/>
                </a:solidFill>
                <a:latin typeface="Calibri" pitchFamily="34" charset="0"/>
                <a:ea typeface="Calibri" pitchFamily="34" charset="-122"/>
                <a:cs typeface="Calibri" pitchFamily="34" charset="-120"/>
              </a:rPr>
              <a:t>aarch64 emulation</a:t>
            </a:r>
            <a:endParaRPr lang="en-US" sz="1700" dirty="0"/>
          </a:p>
        </p:txBody>
      </p:sp>
      <p:sp>
        <p:nvSpPr>
          <p:cNvPr id="19" name="tier text T2"/>
          <p:cNvSpPr txBox="1"/>
          <p:nvPr/>
        </p:nvSpPr>
        <p:spPr>
          <a:xfrm>
            <a:off x="5212080" y="3291840"/>
            <a:ext cx="1737360" cy="12801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Cross-built llama.cpp and NEON kernels under QEMU: correctness only</a:t>
            </a:r>
            <a:endParaRPr lang="en-US" sz="1400" dirty="0"/>
          </a:p>
        </p:txBody>
      </p:sp>
      <p:sp>
        <p:nvSpPr>
          <p:cNvPr id="20" name="tier cost T2"/>
          <p:cNvSpPr txBox="1"/>
          <p:nvPr/>
        </p:nvSpPr>
        <p:spPr>
          <a:xfrm>
            <a:off x="5212080" y="4709160"/>
            <a:ext cx="1737360" cy="365760"/>
          </a:xfrm>
          <a:prstGeom prst="rect">
            <a:avLst/>
          </a:prstGeom>
          <a:noFill/>
          <a:ln/>
        </p:spPr>
        <p:txBody>
          <a:bodyPr wrap="square" lIns="0" tIns="0" rIns="0" bIns="0" rtlCol="0" anchor="ctr"/>
          <a:lstStyle/>
          <a:p>
            <a:pPr indent="0" marL="0">
              <a:buNone/>
            </a:pPr>
            <a:r>
              <a:rPr lang="en-US" sz="1400" b="1" dirty="0">
                <a:solidFill>
                  <a:schemeClr val="accent3"/>
                </a:solidFill>
                <a:latin typeface="Calibri" pitchFamily="34" charset="0"/>
                <a:ea typeface="Calibri" pitchFamily="34" charset="-122"/>
                <a:cs typeface="Calibri" pitchFamily="34" charset="-120"/>
              </a:rPr>
              <a:t>free</a:t>
            </a:r>
            <a:endParaRPr lang="en-US" sz="1400" dirty="0"/>
          </a:p>
        </p:txBody>
      </p:sp>
      <p:sp>
        <p:nvSpPr>
          <p:cNvPr id="21" name="tier card T3"/>
          <p:cNvSpPr/>
          <p:nvPr/>
        </p:nvSpPr>
        <p:spPr>
          <a:xfrm>
            <a:off x="7269480" y="1508760"/>
            <a:ext cx="2103120" cy="3749040"/>
          </a:xfrm>
          <a:prstGeom prst="roundRect">
            <a:avLst>
              <a:gd name="adj" fmla="val 3478"/>
            </a:avLst>
          </a:prstGeom>
          <a:solidFill>
            <a:schemeClr val="bg2"/>
          </a:solidFill>
          <a:ln w="12700">
            <a:solidFill>
              <a:schemeClr val="bg2"/>
            </a:solidFill>
            <a:prstDash val="solid"/>
          </a:ln>
        </p:spPr>
      </p:sp>
      <p:sp>
        <p:nvSpPr>
          <p:cNvPr id="22" name="tier badge T3"/>
          <p:cNvSpPr/>
          <p:nvPr/>
        </p:nvSpPr>
        <p:spPr>
          <a:xfrm>
            <a:off x="7452360" y="1691640"/>
            <a:ext cx="777240" cy="777240"/>
          </a:xfrm>
          <a:prstGeom prst="ellipse">
            <a:avLst/>
          </a:prstGeom>
          <a:solidFill>
            <a:schemeClr val="accent3"/>
          </a:solidFill>
          <a:ln w="12700">
            <a:solidFill>
              <a:schemeClr val="accent3"/>
            </a:solidFill>
            <a:prstDash val="solid"/>
          </a:ln>
        </p:spPr>
      </p:sp>
      <p:sp>
        <p:nvSpPr>
          <p:cNvPr id="23" name="tier label T3"/>
          <p:cNvSpPr txBox="1"/>
          <p:nvPr/>
        </p:nvSpPr>
        <p:spPr>
          <a:xfrm>
            <a:off x="7452360" y="1691640"/>
            <a:ext cx="777240" cy="777240"/>
          </a:xfrm>
          <a:prstGeom prst="rect">
            <a:avLst/>
          </a:prstGeom>
          <a:noFill/>
          <a:ln/>
        </p:spPr>
        <p:txBody>
          <a:bodyPr wrap="square" lIns="0" tIns="0" rIns="0" bIns="0" rtlCol="0" anchor="ctr"/>
          <a:lstStyle/>
          <a:p>
            <a:pPr algn="ctr" indent="0" marL="0">
              <a:buNone/>
            </a:pPr>
            <a:r>
              <a:rPr lang="en-US" sz="2000" b="1" dirty="0">
                <a:solidFill>
                  <a:schemeClr val="bg1"/>
                </a:solidFill>
                <a:latin typeface="Calibri" pitchFamily="34" charset="0"/>
                <a:ea typeface="Calibri" pitchFamily="34" charset="-122"/>
                <a:cs typeface="Calibri" pitchFamily="34" charset="-120"/>
              </a:rPr>
              <a:t>T3</a:t>
            </a:r>
            <a:endParaRPr lang="en-US" sz="2000" dirty="0"/>
          </a:p>
        </p:txBody>
      </p:sp>
      <p:sp>
        <p:nvSpPr>
          <p:cNvPr id="24" name="tier name T3"/>
          <p:cNvSpPr txBox="1"/>
          <p:nvPr/>
        </p:nvSpPr>
        <p:spPr>
          <a:xfrm>
            <a:off x="7452360" y="2606040"/>
            <a:ext cx="1737360" cy="640080"/>
          </a:xfrm>
          <a:prstGeom prst="rect">
            <a:avLst/>
          </a:prstGeom>
          <a:noFill/>
          <a:ln/>
        </p:spPr>
        <p:txBody>
          <a:bodyPr wrap="square" lIns="0" tIns="0" rIns="0" bIns="0" rtlCol="0" anchor="t"/>
          <a:lstStyle/>
          <a:p>
            <a:pPr indent="0" marL="0">
              <a:buNone/>
            </a:pPr>
            <a:r>
              <a:rPr lang="en-US" sz="1700" b="1" dirty="0">
                <a:solidFill>
                  <a:schemeClr val="tx2"/>
                </a:solidFill>
                <a:latin typeface="Calibri" pitchFamily="34" charset="0"/>
                <a:ea typeface="Calibri" pitchFamily="34" charset="-122"/>
                <a:cs typeface="Calibri" pitchFamily="34" charset="-120"/>
              </a:rPr>
              <a:t>AWS Graviton3</a:t>
            </a:r>
            <a:endParaRPr lang="en-US" sz="1700" dirty="0"/>
          </a:p>
        </p:txBody>
      </p:sp>
      <p:sp>
        <p:nvSpPr>
          <p:cNvPr id="25" name="tier text T3"/>
          <p:cNvSpPr txBox="1"/>
          <p:nvPr/>
        </p:nvSpPr>
        <p:spPr>
          <a:xfrm>
            <a:off x="7452360" y="3291840"/>
            <a:ext cx="1737360" cy="12801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Native Arm Linux: KleidiAI on/off, roofline, kernels on real hardware</a:t>
            </a:r>
            <a:endParaRPr lang="en-US" sz="1400" dirty="0"/>
          </a:p>
        </p:txBody>
      </p:sp>
      <p:sp>
        <p:nvSpPr>
          <p:cNvPr id="26" name="tier cost T3"/>
          <p:cNvSpPr txBox="1"/>
          <p:nvPr/>
        </p:nvSpPr>
        <p:spPr>
          <a:xfrm>
            <a:off x="7452360" y="4709160"/>
            <a:ext cx="1737360" cy="365760"/>
          </a:xfrm>
          <a:prstGeom prst="rect">
            <a:avLst/>
          </a:prstGeom>
          <a:noFill/>
          <a:ln/>
        </p:spPr>
        <p:txBody>
          <a:bodyPr wrap="square" lIns="0" tIns="0" rIns="0" bIns="0" rtlCol="0" anchor="ctr"/>
          <a:lstStyle/>
          <a:p>
            <a:pPr indent="0" marL="0">
              <a:buNone/>
            </a:pPr>
            <a:r>
              <a:rPr lang="en-US" sz="1400" b="1" dirty="0">
                <a:solidFill>
                  <a:schemeClr val="accent3"/>
                </a:solidFill>
                <a:latin typeface="Calibri" pitchFamily="34" charset="0"/>
                <a:ea typeface="Calibri" pitchFamily="34" charset="-122"/>
                <a:cs typeface="Calibri" pitchFamily="34" charset="-120"/>
              </a:rPr>
              <a:t>done: about $2</a:t>
            </a:r>
            <a:endParaRPr lang="en-US" sz="1400" dirty="0"/>
          </a:p>
        </p:txBody>
      </p:sp>
      <p:sp>
        <p:nvSpPr>
          <p:cNvPr id="27" name="tier card T4"/>
          <p:cNvSpPr/>
          <p:nvPr/>
        </p:nvSpPr>
        <p:spPr>
          <a:xfrm>
            <a:off x="9509760" y="1508760"/>
            <a:ext cx="2103120" cy="3749040"/>
          </a:xfrm>
          <a:prstGeom prst="roundRect">
            <a:avLst>
              <a:gd name="adj" fmla="val 3478"/>
            </a:avLst>
          </a:prstGeom>
          <a:solidFill>
            <a:schemeClr val="bg2"/>
          </a:solidFill>
          <a:ln w="12700">
            <a:solidFill>
              <a:schemeClr val="bg2"/>
            </a:solidFill>
            <a:prstDash val="solid"/>
          </a:ln>
        </p:spPr>
      </p:sp>
      <p:sp>
        <p:nvSpPr>
          <p:cNvPr id="28" name="tier badge T4"/>
          <p:cNvSpPr/>
          <p:nvPr/>
        </p:nvSpPr>
        <p:spPr>
          <a:xfrm>
            <a:off x="9692640" y="1691640"/>
            <a:ext cx="777240" cy="777240"/>
          </a:xfrm>
          <a:prstGeom prst="ellipse">
            <a:avLst/>
          </a:prstGeom>
          <a:solidFill>
            <a:schemeClr val="accent2"/>
          </a:solidFill>
          <a:ln w="12700">
            <a:solidFill>
              <a:schemeClr val="accent2"/>
            </a:solidFill>
            <a:prstDash val="solid"/>
          </a:ln>
        </p:spPr>
      </p:sp>
      <p:sp>
        <p:nvSpPr>
          <p:cNvPr id="29" name="tier label T4"/>
          <p:cNvSpPr txBox="1"/>
          <p:nvPr/>
        </p:nvSpPr>
        <p:spPr>
          <a:xfrm>
            <a:off x="9692640" y="1691640"/>
            <a:ext cx="777240" cy="777240"/>
          </a:xfrm>
          <a:prstGeom prst="rect">
            <a:avLst/>
          </a:prstGeom>
          <a:noFill/>
          <a:ln/>
        </p:spPr>
        <p:txBody>
          <a:bodyPr wrap="square" lIns="0" tIns="0" rIns="0" bIns="0" rtlCol="0" anchor="ctr"/>
          <a:lstStyle/>
          <a:p>
            <a:pPr algn="ctr" indent="0" marL="0">
              <a:buNone/>
            </a:pPr>
            <a:r>
              <a:rPr lang="en-US" sz="2000" b="1" dirty="0">
                <a:solidFill>
                  <a:schemeClr val="bg1"/>
                </a:solidFill>
                <a:latin typeface="Calibri" pitchFamily="34" charset="0"/>
                <a:ea typeface="Calibri" pitchFamily="34" charset="-122"/>
                <a:cs typeface="Calibri" pitchFamily="34" charset="-120"/>
              </a:rPr>
              <a:t>T4</a:t>
            </a:r>
            <a:endParaRPr lang="en-US" sz="2000" dirty="0"/>
          </a:p>
        </p:txBody>
      </p:sp>
      <p:sp>
        <p:nvSpPr>
          <p:cNvPr id="30" name="tier name T4"/>
          <p:cNvSpPr txBox="1"/>
          <p:nvPr/>
        </p:nvSpPr>
        <p:spPr>
          <a:xfrm>
            <a:off x="9692640" y="2606040"/>
            <a:ext cx="1737360" cy="640080"/>
          </a:xfrm>
          <a:prstGeom prst="rect">
            <a:avLst/>
          </a:prstGeom>
          <a:noFill/>
          <a:ln/>
        </p:spPr>
        <p:txBody>
          <a:bodyPr wrap="square" lIns="0" tIns="0" rIns="0" bIns="0" rtlCol="0" anchor="t"/>
          <a:lstStyle/>
          <a:p>
            <a:pPr indent="0" marL="0">
              <a:buNone/>
            </a:pPr>
            <a:r>
              <a:rPr lang="en-US" sz="1700" b="1" dirty="0">
                <a:solidFill>
                  <a:schemeClr val="tx2"/>
                </a:solidFill>
                <a:latin typeface="Calibri" pitchFamily="34" charset="0"/>
                <a:ea typeface="Calibri" pitchFamily="34" charset="-122"/>
                <a:cs typeface="Calibri" pitchFamily="34" charset="-120"/>
              </a:rPr>
              <a:t>AWS Mac, Apple M4</a:t>
            </a:r>
            <a:endParaRPr lang="en-US" sz="1700" dirty="0"/>
          </a:p>
        </p:txBody>
      </p:sp>
      <p:sp>
        <p:nvSpPr>
          <p:cNvPr id="31" name="tier text T4"/>
          <p:cNvSpPr txBox="1"/>
          <p:nvPr/>
        </p:nvSpPr>
        <p:spPr>
          <a:xfrm>
            <a:off x="9692640" y="3291840"/>
            <a:ext cx="1737360" cy="12801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The only source of M4 speed and energy; 24-hour minimum</a:t>
            </a:r>
            <a:endParaRPr lang="en-US" sz="1400" dirty="0"/>
          </a:p>
        </p:txBody>
      </p:sp>
      <p:sp>
        <p:nvSpPr>
          <p:cNvPr id="32" name="tier cost T4"/>
          <p:cNvSpPr txBox="1"/>
          <p:nvPr/>
        </p:nvSpPr>
        <p:spPr>
          <a:xfrm>
            <a:off x="9692640" y="4709160"/>
            <a:ext cx="1737360" cy="365760"/>
          </a:xfrm>
          <a:prstGeom prst="rect">
            <a:avLst/>
          </a:prstGeom>
          <a:noFill/>
          <a:ln/>
        </p:spPr>
        <p:txBody>
          <a:bodyPr wrap="square" lIns="0" tIns="0" rIns="0" bIns="0" rtlCol="0" anchor="ctr"/>
          <a:lstStyle/>
          <a:p>
            <a:pPr indent="0" marL="0">
              <a:buNone/>
            </a:pPr>
            <a:r>
              <a:rPr lang="en-US" sz="1400" b="1" dirty="0">
                <a:solidFill>
                  <a:srgbClr val="9A5B00"/>
                </a:solidFill>
                <a:latin typeface="Calibri" pitchFamily="34" charset="0"/>
                <a:ea typeface="Calibri" pitchFamily="34" charset="-122"/>
                <a:cs typeface="Calibri" pitchFamily="34" charset="-120"/>
              </a:rPr>
              <a:t>about $40 per day</a:t>
            </a:r>
            <a:endParaRPr lang="en-US" sz="1400" dirty="0"/>
          </a:p>
        </p:txBody>
      </p:sp>
      <p:sp>
        <p:nvSpPr>
          <p:cNvPr id="33" name="tier rule"/>
          <p:cNvSpPr txBox="1"/>
          <p:nvPr/>
        </p:nvSpPr>
        <p:spPr>
          <a:xfrm>
            <a:off x="548640" y="5486400"/>
            <a:ext cx="11064240" cy="640080"/>
          </a:xfrm>
          <a:prstGeom prst="rect">
            <a:avLst/>
          </a:prstGeom>
          <a:noFill/>
          <a:ln/>
        </p:spPr>
        <p:txBody>
          <a:bodyPr wrap="square" lIns="0" tIns="0" rIns="0" bIns="0" rtlCol="0" anchor="ctr"/>
          <a:lstStyle/>
          <a:p>
            <a:pPr indent="0" marL="0">
              <a:buNone/>
            </a:pPr>
            <a:r>
              <a:rPr lang="en-US" sz="1600" i="1" dirty="0">
                <a:solidFill>
                  <a:schemeClr val="tx2"/>
                </a:solidFill>
                <a:latin typeface="Calibri" pitchFamily="34" charset="0"/>
                <a:ea typeface="Calibri" pitchFamily="34" charset="-122"/>
                <a:cs typeface="Calibri" pitchFamily="34" charset="-120"/>
              </a:rPr>
              <a:t>Rule: promote a tier only when the one below is green. Anything a cheap tier could have caught is a process failure on the expensive one.</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Perplexity deltas were noise; KL divergence is not</a:t>
            </a:r>
            <a:endParaRPr lang="en-US" sz="2800" dirty="0"/>
          </a:p>
        </p:txBody>
      </p:sp>
      <p:graphicFrame>
        <p:nvGraphicFramePr>
          <p:cNvPr id="3" name="Chart 0" descr=""/>
          <p:cNvGraphicFramePr/>
          <p:nvPr/>
        </p:nvGraphicFramePr>
        <p:xfrm>
          <a:off x="548640" y="1371600"/>
          <a:ext cx="5486400" cy="4663440"/>
        </p:xfrm>
        <a:graphic xmlns:a="http://schemas.openxmlformats.org/drawingml/2006/main">
          <a:graphicData uri="http://schemas.openxmlformats.org/drawingml/2006/chart">
            <c:chart xmlns:c="http://schemas.openxmlformats.org/drawingml/2006/chart" r:id="rId1"/>
          </a:graphicData>
        </a:graphic>
      </p:graphicFrame>
      <p:sp>
        <p:nvSpPr>
          <p:cNvPr id="4" name="metric bullets"/>
          <p:cNvSpPr txBox="1"/>
          <p:nvPr/>
        </p:nvSpPr>
        <p:spPr>
          <a:xfrm>
            <a:off x="6400800" y="1463040"/>
            <a:ext cx="5212080" cy="3383280"/>
          </a:xfrm>
          <a:prstGeom prst="rect">
            <a:avLst/>
          </a:prstGeom>
          <a:noFill/>
          <a:ln/>
        </p:spPr>
        <p:txBody>
          <a:bodyPr wrap="square" lIns="0" tIns="0" rIns="0" bIns="0" rtlCol="0" anchor="t"/>
          <a:lstStyle/>
          <a:p>
            <a:pPr marL="203200" indent="-203200">
              <a:spcAft>
                <a:spcPts val="1000"/>
              </a:spcAft>
              <a:buSzPct val="100000"/>
              <a:buChar char="•"/>
            </a:pPr>
            <a:r>
              <a:rPr lang="en-US" sz="1600" dirty="0">
                <a:solidFill>
                  <a:schemeClr val="tx1"/>
                </a:solidFill>
                <a:latin typeface="Calibri" pitchFamily="34" charset="0"/>
                <a:ea typeface="Calibri" pitchFamily="34" charset="-122"/>
                <a:cs typeface="Calibri" pitchFamily="34" charset="-120"/>
              </a:rPr>
              <a:t>Single-block penalties from perplexity came out negative (quantizing a block "improved" the model)</a:t>
            </a:r>
            <a:endParaRPr lang="en-US" sz="1600" dirty="0"/>
          </a:p>
          <a:p>
            <a:pPr marL="203200" indent="-203200">
              <a:spcAft>
                <a:spcPts val="1000"/>
              </a:spcAft>
              <a:buSzPct val="100000"/>
              <a:buChar char="•"/>
            </a:pPr>
            <a:r>
              <a:rPr lang="en-US" sz="1600" dirty="0">
                <a:solidFill>
                  <a:schemeClr val="tx1"/>
                </a:solidFill>
                <a:latin typeface="Calibri" pitchFamily="34" charset="0"/>
                <a:ea typeface="Calibri" pitchFamily="34" charset="-122"/>
                <a:cs typeface="Calibri" pitchFamily="34" charset="-120"/>
              </a:rPr>
              <a:t>Single-block sums disagreed with the uniform genome, and two backends' profiles did not correlate (Spearman -0.33 / -0.24)</a:t>
            </a:r>
            <a:endParaRPr lang="en-US" sz="1600" dirty="0"/>
          </a:p>
          <a:p>
            <a:pPr marL="203200" indent="-203200">
              <a:spcAft>
                <a:spcPts val="1000"/>
              </a:spcAft>
              <a:buSzPct val="100000"/>
              <a:buChar char="•"/>
            </a:pPr>
            <a:r>
              <a:rPr lang="en-US" sz="1600" dirty="0">
                <a:solidFill>
                  <a:schemeClr val="tx1"/>
                </a:solidFill>
                <a:latin typeface="Calibri" pitchFamily="34" charset="0"/>
                <a:ea typeface="Calibri" pitchFamily="34" charset="-122"/>
                <a:cs typeface="Calibri" pitchFamily="34" charset="-120"/>
              </a:rPr>
              <a:t>KL divergence to the original model's logits: ~5% relative error, noise floor 1e-5 nats</a:t>
            </a:r>
            <a:endParaRPr lang="en-US" sz="1600" dirty="0"/>
          </a:p>
          <a:p>
            <a:pPr marL="203200" indent="-203200">
              <a:spcAft>
                <a:spcPts val="1000"/>
              </a:spcAft>
              <a:buSzPct val="100000"/>
              <a:buChar char="•"/>
            </a:pPr>
            <a:r>
              <a:rPr lang="en-US" sz="1600" dirty="0">
                <a:solidFill>
                  <a:schemeClr val="tx1"/>
                </a:solidFill>
                <a:latin typeface="Calibri" pitchFamily="34" charset="0"/>
                <a:ea typeface="Calibri" pitchFamily="34" charset="-122"/>
                <a:cs typeface="Calibri" pitchFamily="34" charset="-120"/>
              </a:rPr>
              <a:t>The same Q8_0 effect: PPL ratio 1.0038 +/- 0.0023 vs KLD 0.00165 +/- 0.00009</a:t>
            </a:r>
            <a:endParaRPr lang="en-US" sz="1600" dirty="0"/>
          </a:p>
        </p:txBody>
      </p:sp>
      <p:sp>
        <p:nvSpPr>
          <p:cNvPr id="5" name="metric callout"/>
          <p:cNvSpPr/>
          <p:nvPr/>
        </p:nvSpPr>
        <p:spPr>
          <a:xfrm>
            <a:off x="6400800" y="4892040"/>
            <a:ext cx="5212080" cy="1188720"/>
          </a:xfrm>
          <a:prstGeom prst="roundRect">
            <a:avLst>
              <a:gd name="adj" fmla="val 6154"/>
            </a:avLst>
          </a:prstGeom>
          <a:solidFill>
            <a:schemeClr val="tx2"/>
          </a:solidFill>
          <a:ln w="12700">
            <a:solidFill>
              <a:schemeClr val="tx2"/>
            </a:solidFill>
            <a:prstDash val="solid"/>
          </a:ln>
        </p:spPr>
      </p:sp>
      <p:sp>
        <p:nvSpPr>
          <p:cNvPr id="6" name="metric callout text"/>
          <p:cNvSpPr txBox="1"/>
          <p:nvPr/>
        </p:nvSpPr>
        <p:spPr>
          <a:xfrm>
            <a:off x="6583680" y="4937760"/>
            <a:ext cx="4846320" cy="1097280"/>
          </a:xfrm>
          <a:prstGeom prst="rect">
            <a:avLst/>
          </a:prstGeom>
          <a:noFill/>
          <a:ln/>
        </p:spPr>
        <p:txBody>
          <a:bodyPr wrap="square" lIns="0" tIns="0" rIns="0" bIns="0" rtlCol="0" anchor="ctr"/>
          <a:lstStyle/>
          <a:p>
            <a:pPr indent="0" marL="0">
              <a:buNone/>
            </a:pPr>
            <a:r>
              <a:rPr lang="en-US" sz="1500" b="1" dirty="0">
                <a:solidFill>
                  <a:schemeClr val="bg1"/>
                </a:solidFill>
                <a:latin typeface="Calibri" pitchFamily="34" charset="0"/>
                <a:ea typeface="Calibri" pitchFamily="34" charset="-122"/>
                <a:cs typeface="Calibri" pitchFamily="34" charset="-120"/>
              </a:rPr>
              <a:t>Any conclusion drawn from small perplexity differences on one fixed slice carries this noise, and a search can fit it.</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4-bit sensitivity is quantizer-independent; 8-bit is not</a:t>
            </a:r>
            <a:endParaRPr lang="en-US" sz="2800" dirty="0"/>
          </a:p>
        </p:txBody>
      </p:sp>
      <p:graphicFrame>
        <p:nvGraphicFramePr>
          <p:cNvPr id="3" name="Chart 0" descr=""/>
          <p:cNvGraphicFramePr/>
          <p:nvPr/>
        </p:nvGraphicFramePr>
        <p:xfrm>
          <a:off x="548640" y="1371600"/>
          <a:ext cx="6949440" cy="4663440"/>
        </p:xfrm>
        <a:graphic xmlns:a="http://schemas.openxmlformats.org/drawingml/2006/main">
          <a:graphicData uri="http://schemas.openxmlformats.org/drawingml/2006/chart">
            <c:chart xmlns:c="http://schemas.openxmlformats.org/drawingml/2006/chart" r:id="rId1"/>
          </a:graphicData>
        </a:graphic>
      </p:graphicFrame>
      <p:sp>
        <p:nvSpPr>
          <p:cNvPr id="4" name="stat spearman value"/>
          <p:cNvSpPr txBox="1"/>
          <p:nvPr/>
        </p:nvSpPr>
        <p:spPr>
          <a:xfrm>
            <a:off x="7863840" y="1417320"/>
            <a:ext cx="3749040" cy="685800"/>
          </a:xfrm>
          <a:prstGeom prst="rect">
            <a:avLst/>
          </a:prstGeom>
          <a:noFill/>
          <a:ln/>
        </p:spPr>
        <p:txBody>
          <a:bodyPr wrap="square" lIns="0" tIns="0" rIns="0" bIns="0" rtlCol="0" anchor="b"/>
          <a:lstStyle/>
          <a:p>
            <a:pPr indent="0" marL="0">
              <a:buNone/>
            </a:pPr>
            <a:r>
              <a:rPr lang="en-US" sz="4000" b="1" dirty="0">
                <a:solidFill>
                  <a:srgbClr val="2E9E8A"/>
                </a:solidFill>
                <a:latin typeface="Cambria" pitchFamily="34" charset="0"/>
                <a:ea typeface="Cambria" pitchFamily="34" charset="-122"/>
                <a:cs typeface="Cambria" pitchFamily="34" charset="-120"/>
              </a:rPr>
              <a:t>0.976</a:t>
            </a:r>
            <a:endParaRPr lang="en-US" sz="4000" dirty="0"/>
          </a:p>
        </p:txBody>
      </p:sp>
      <p:sp>
        <p:nvSpPr>
          <p:cNvPr id="5" name="stat spearman label"/>
          <p:cNvSpPr txBox="1"/>
          <p:nvPr/>
        </p:nvSpPr>
        <p:spPr>
          <a:xfrm>
            <a:off x="7863840" y="2130552"/>
            <a:ext cx="374904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Spearman correlation of the Q4_0 and NF4 per-block profiles; the last block costs the most in both</a:t>
            </a:r>
            <a:endParaRPr lang="en-US" sz="1400" dirty="0"/>
          </a:p>
        </p:txBody>
      </p:sp>
      <p:sp>
        <p:nvSpPr>
          <p:cNvPr id="6" name="stat int8 spearman value"/>
          <p:cNvSpPr txBox="1"/>
          <p:nvPr/>
        </p:nvSpPr>
        <p:spPr>
          <a:xfrm>
            <a:off x="7863840" y="2926080"/>
            <a:ext cx="3749040" cy="685800"/>
          </a:xfrm>
          <a:prstGeom prst="rect">
            <a:avLst/>
          </a:prstGeom>
          <a:noFill/>
          <a:ln/>
        </p:spPr>
        <p:txBody>
          <a:bodyPr wrap="square" lIns="0" tIns="0" rIns="0" bIns="0" rtlCol="0" anchor="b"/>
          <a:lstStyle/>
          <a:p>
            <a:pPr indent="0" marL="0">
              <a:buNone/>
            </a:pPr>
            <a:r>
              <a:rPr lang="en-US" sz="4000" b="1" dirty="0">
                <a:solidFill>
                  <a:srgbClr val="D1495B"/>
                </a:solidFill>
                <a:latin typeface="Cambria" pitchFamily="34" charset="0"/>
                <a:ea typeface="Cambria" pitchFamily="34" charset="-122"/>
                <a:cs typeface="Cambria" pitchFamily="34" charset="-120"/>
              </a:rPr>
              <a:t>0.35</a:t>
            </a:r>
            <a:endParaRPr lang="en-US" sz="4000" dirty="0"/>
          </a:p>
        </p:txBody>
      </p:sp>
      <p:sp>
        <p:nvSpPr>
          <p:cNvPr id="7" name="stat int8 spearman label"/>
          <p:cNvSpPr txBox="1"/>
          <p:nvPr/>
        </p:nvSpPr>
        <p:spPr>
          <a:xfrm>
            <a:off x="7863840" y="3639312"/>
            <a:ext cx="374904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Spearman for 8-bit: bitsandbytes INT8 is front-loaded, Q8_0 is flat and ~16x cheaper in total</a:t>
            </a:r>
            <a:endParaRPr lang="en-US" sz="1400" dirty="0"/>
          </a:p>
        </p:txBody>
      </p:sp>
      <p:sp>
        <p:nvSpPr>
          <p:cNvPr id="8" name="readme card"/>
          <p:cNvSpPr/>
          <p:nvPr/>
        </p:nvSpPr>
        <p:spPr>
          <a:xfrm>
            <a:off x="7863840" y="4526280"/>
            <a:ext cx="3749040" cy="1554480"/>
          </a:xfrm>
          <a:prstGeom prst="roundRect">
            <a:avLst>
              <a:gd name="adj" fmla="val 4706"/>
            </a:avLst>
          </a:prstGeom>
          <a:solidFill>
            <a:schemeClr val="tx2"/>
          </a:solidFill>
          <a:ln w="12700">
            <a:solidFill>
              <a:schemeClr val="tx2"/>
            </a:solidFill>
            <a:prstDash val="solid"/>
          </a:ln>
        </p:spPr>
      </p:sp>
      <p:sp>
        <p:nvSpPr>
          <p:cNvPr id="9" name="readme text"/>
          <p:cNvSpPr txBox="1"/>
          <p:nvPr/>
        </p:nvSpPr>
        <p:spPr>
          <a:xfrm>
            <a:off x="8046720" y="4572000"/>
            <a:ext cx="3383280" cy="1463040"/>
          </a:xfrm>
          <a:prstGeom prst="rect">
            <a:avLst/>
          </a:prstGeom>
          <a:noFill/>
          <a:ln/>
        </p:spPr>
        <p:txBody>
          <a:bodyPr wrap="square" lIns="0" tIns="0" rIns="0" bIns="0" rtlCol="0" anchor="ctr"/>
          <a:lstStyle/>
          <a:p>
            <a:pPr indent="0" marL="0">
              <a:buNone/>
            </a:pPr>
            <a:r>
              <a:rPr lang="en-US" sz="1400" b="1" dirty="0">
                <a:solidFill>
                  <a:schemeClr val="bg1"/>
                </a:solidFill>
                <a:latin typeface="Calibri" pitchFamily="34" charset="0"/>
                <a:ea typeface="Calibri" pitchFamily="34" charset="-122"/>
                <a:cs typeface="Calibri" pitchFamily="34" charset="-120"/>
              </a:rPr>
              <a:t>README finding 3 revised: block 0 carries about 33% of bnb INT8 cost (3-5x an interior block), not 70% (30x).</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Across models the structure generalizes only partly</a:t>
            </a:r>
            <a:endParaRPr lang="en-US" sz="2800" dirty="0"/>
          </a:p>
        </p:txBody>
      </p:sp>
      <p:graphicFrame>
        <p:nvGraphicFramePr>
          <p:cNvPr id="3" name="Chart 0" descr=""/>
          <p:cNvGraphicFramePr/>
          <p:nvPr/>
        </p:nvGraphicFramePr>
        <p:xfrm>
          <a:off x="548640" y="1371600"/>
          <a:ext cx="6583680" cy="3200400"/>
        </p:xfrm>
        <a:graphic xmlns:a="http://schemas.openxmlformats.org/drawingml/2006/main">
          <a:graphicData uri="http://schemas.openxmlformats.org/drawingml/2006/chart">
            <c:chart xmlns:c="http://schemas.openxmlformats.org/drawingml/2006/chart" r:id="rId1"/>
          </a:graphicData>
        </a:graphic>
      </p:graphicFrame>
      <p:graphicFrame>
        <p:nvGraphicFramePr>
          <p:cNvPr id="9" name="model table"/>
          <p:cNvGraphicFramePr>
            <a:graphicFrameLocks noGrp="1"/>
          </p:cNvGraphicFramePr>
          <p:nvPr>
            <p:extLst>
              <p:ext uri="{D42A27DB-BD31-4B8C-83A1-F6EECF244321}">
                <p14:modId xmlns:p14="http://schemas.microsoft.com/office/powerpoint/2010/main" val="1579011935"/>
              </p:ext>
            </p:extLst>
          </p:nvPr>
        </p:nvGraphicFramePr>
        <p:xfrm>
          <a:off x="548640" y="4709160"/>
          <a:ext cx="6583680" cy="914400"/>
        </p:xfrm>
        <a:graphic>
          <a:graphicData uri="http://schemas.openxmlformats.org/drawingml/2006/table">
            <a:tbl>
              <a:tblPr/>
              <a:tblGrid>
                <a:gridCol w="1554480"/>
                <a:gridCol w="731520"/>
                <a:gridCol w="2011680"/>
                <a:gridCol w="2286000"/>
              </a:tblGrid>
              <a:tr h="274320">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Layers</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Gene alphabet</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Role</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r>
              <a:tr h="274320">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Phi-3-mini</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32</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F16 / Q8_0 / Q4_0</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search target</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274320">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Llama-3.1-8B</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32</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Q8_0 / Q4_0</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scale test (F16 will not fit)</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274320">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SmolLM2-360M</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32</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F16 / Q8_0 / Q4_0</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emulation proxy</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274320">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Llama-3.2-3B</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28</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pending licence</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second 3B-class model</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bl>
          </a:graphicData>
        </a:graphic>
      </p:graphicFrame>
      <p:sp>
        <p:nvSpPr>
          <p:cNvPr id="5" name="stat model spearman value"/>
          <p:cNvSpPr txBox="1"/>
          <p:nvPr/>
        </p:nvSpPr>
        <p:spPr>
          <a:xfrm>
            <a:off x="7498080" y="1417320"/>
            <a:ext cx="4114800" cy="685800"/>
          </a:xfrm>
          <a:prstGeom prst="rect">
            <a:avLst/>
          </a:prstGeom>
          <a:noFill/>
          <a:ln/>
        </p:spPr>
        <p:txBody>
          <a:bodyPr wrap="square" lIns="0" tIns="0" rIns="0" bIns="0" rtlCol="0" anchor="b"/>
          <a:lstStyle/>
          <a:p>
            <a:pPr indent="0" marL="0">
              <a:buNone/>
            </a:pPr>
            <a:r>
              <a:rPr lang="en-US" sz="4000" b="1" dirty="0">
                <a:solidFill>
                  <a:srgbClr val="7B6FB5"/>
                </a:solidFill>
                <a:latin typeface="Cambria" pitchFamily="34" charset="0"/>
                <a:ea typeface="Cambria" pitchFamily="34" charset="-122"/>
                <a:cs typeface="Cambria" pitchFamily="34" charset="-120"/>
              </a:rPr>
              <a:t>0.55</a:t>
            </a:r>
            <a:endParaRPr lang="en-US" sz="4000" dirty="0"/>
          </a:p>
        </p:txBody>
      </p:sp>
      <p:sp>
        <p:nvSpPr>
          <p:cNvPr id="6" name="stat model spearman label"/>
          <p:cNvSpPr txBox="1"/>
          <p:nvPr/>
        </p:nvSpPr>
        <p:spPr>
          <a:xfrm>
            <a:off x="7498080" y="2130552"/>
            <a:ext cx="411480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Spearman between the two Q4_0 profiles: moderate agreement, not high</a:t>
            </a:r>
            <a:endParaRPr lang="en-US" sz="1400" dirty="0"/>
          </a:p>
        </p:txBody>
      </p:sp>
      <p:sp>
        <p:nvSpPr>
          <p:cNvPr id="7" name="model bullets"/>
          <p:cNvSpPr txBox="1"/>
          <p:nvPr/>
        </p:nvSpPr>
        <p:spPr>
          <a:xfrm>
            <a:off x="7498080" y="2971800"/>
            <a:ext cx="4114800" cy="3108960"/>
          </a:xfrm>
          <a:prstGeom prst="rect">
            <a:avLst/>
          </a:prstGeom>
          <a:noFill/>
          <a:ln/>
        </p:spPr>
        <p:txBody>
          <a:bodyPr wrap="square" lIns="0" tIns="0" rIns="0" bIns="0" rtlCol="0" anchor="t"/>
          <a:lstStyle/>
          <a:p>
            <a:pPr marL="203200" indent="-203200">
              <a:spcAft>
                <a:spcPts val="900"/>
              </a:spcAft>
              <a:buSzPct val="100000"/>
              <a:buChar char="•"/>
            </a:pPr>
            <a:r>
              <a:rPr lang="en-US" sz="1500" dirty="0">
                <a:solidFill>
                  <a:schemeClr val="tx1"/>
                </a:solidFill>
                <a:latin typeface="Calibri" pitchFamily="34" charset="0"/>
                <a:ea typeface="Calibri" pitchFamily="34" charset="-122"/>
                <a:cs typeface="Calibri" pitchFamily="34" charset="-120"/>
              </a:rPr>
              <a:t>Last block is top-2 in both models</a:t>
            </a:r>
            <a:endParaRPr lang="en-US" sz="1500" dirty="0"/>
          </a:p>
          <a:p>
            <a:pPr marL="203200" indent="-203200">
              <a:spcAft>
                <a:spcPts val="900"/>
              </a:spcAft>
              <a:buSzPct val="100000"/>
              <a:buChar char="•"/>
            </a:pPr>
            <a:r>
              <a:rPr lang="en-US" sz="1500" dirty="0">
                <a:solidFill>
                  <a:schemeClr val="tx1"/>
                </a:solidFill>
                <a:latin typeface="Calibri" pitchFamily="34" charset="0"/>
                <a:ea typeface="Calibri" pitchFamily="34" charset="-122"/>
                <a:cs typeface="Calibri" pitchFamily="34" charset="-120"/>
              </a:rPr>
              <a:t>Block 0 is the most sensitive in Llama-3.1-8B (26%) but 6th of 8 in Phi-3</a:t>
            </a:r>
            <a:endParaRPr lang="en-US" sz="1500" dirty="0"/>
          </a:p>
          <a:p>
            <a:pPr marL="203200" indent="-203200">
              <a:spcAft>
                <a:spcPts val="900"/>
              </a:spcAft>
              <a:buSzPct val="100000"/>
              <a:buChar char="•"/>
            </a:pPr>
            <a:r>
              <a:rPr lang="en-US" sz="1500" dirty="0">
                <a:solidFill>
                  <a:schemeClr val="tx1"/>
                </a:solidFill>
                <a:latin typeface="Calibri" pitchFamily="34" charset="0"/>
                <a:ea typeface="Calibri" pitchFamily="34" charset="-122"/>
                <a:cs typeface="Calibri" pitchFamily="34" charset="-120"/>
              </a:rPr>
              <a:t>Edge-to-interior ratio: 2.4x (8B), 1.5x (Phi-3)</a:t>
            </a:r>
            <a:endParaRPr lang="en-US" sz="1500" dirty="0"/>
          </a:p>
          <a:p>
            <a:pPr marL="203200" indent="-203200">
              <a:spcAft>
                <a:spcPts val="900"/>
              </a:spcAft>
              <a:buSzPct val="100000"/>
              <a:buChar char="•"/>
            </a:pPr>
            <a:r>
              <a:rPr lang="en-US" sz="1500" dirty="0">
                <a:solidFill>
                  <a:schemeClr val="tx1"/>
                </a:solidFill>
                <a:latin typeface="Calibri" pitchFamily="34" charset="0"/>
                <a:ea typeface="Calibri" pitchFamily="34" charset="-122"/>
                <a:cs typeface="Calibri" pitchFamily="34" charset="-120"/>
              </a:rPr>
              <a:t>So "protect the last block" generalizes; "protect the first" is model dependent</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The GA recovers the true front, and so does a greedy rule</a:t>
            </a:r>
            <a:endParaRPr lang="en-US" sz="2800" dirty="0"/>
          </a:p>
        </p:txBody>
      </p:sp>
      <p:graphicFrame>
        <p:nvGraphicFramePr>
          <p:cNvPr id="3" name="Chart 0" descr=""/>
          <p:cNvGraphicFramePr/>
          <p:nvPr/>
        </p:nvGraphicFramePr>
        <p:xfrm>
          <a:off x="548640" y="1371600"/>
          <a:ext cx="6035040" cy="4663440"/>
        </p:xfrm>
        <a:graphic xmlns:a="http://schemas.openxmlformats.org/drawingml/2006/main">
          <a:graphicData uri="http://schemas.openxmlformats.org/drawingml/2006/chart">
            <c:chart xmlns:c="http://schemas.openxmlformats.org/drawingml/2006/chart" r:id="rId1"/>
          </a:graphicData>
        </a:graphic>
      </p:graphicFrame>
      <p:sp>
        <p:nvSpPr>
          <p:cNvPr id="4" name="stat hv value"/>
          <p:cNvSpPr txBox="1"/>
          <p:nvPr/>
        </p:nvSpPr>
        <p:spPr>
          <a:xfrm>
            <a:off x="6949440" y="1371600"/>
            <a:ext cx="2286000" cy="685800"/>
          </a:xfrm>
          <a:prstGeom prst="rect">
            <a:avLst/>
          </a:prstGeom>
          <a:noFill/>
          <a:ln/>
        </p:spPr>
        <p:txBody>
          <a:bodyPr wrap="square" lIns="0" tIns="0" rIns="0" bIns="0" rtlCol="0" anchor="b"/>
          <a:lstStyle/>
          <a:p>
            <a:pPr indent="0" marL="0">
              <a:buNone/>
            </a:pPr>
            <a:r>
              <a:rPr lang="en-US" sz="4000" b="1" dirty="0">
                <a:solidFill>
                  <a:srgbClr val="2E9E8A"/>
                </a:solidFill>
                <a:latin typeface="Cambria" pitchFamily="34" charset="0"/>
                <a:ea typeface="Cambria" pitchFamily="34" charset="-122"/>
                <a:cs typeface="Cambria" pitchFamily="34" charset="-120"/>
              </a:rPr>
              <a:t>0.9999</a:t>
            </a:r>
            <a:endParaRPr lang="en-US" sz="4000" dirty="0"/>
          </a:p>
        </p:txBody>
      </p:sp>
      <p:sp>
        <p:nvSpPr>
          <p:cNvPr id="5" name="stat hv label"/>
          <p:cNvSpPr txBox="1"/>
          <p:nvPr/>
        </p:nvSpPr>
        <p:spPr>
          <a:xfrm>
            <a:off x="6949440" y="2084832"/>
            <a:ext cx="228600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GA hypervolume ratio vs the exhaustive front (8 of 9 points)</a:t>
            </a:r>
            <a:endParaRPr lang="en-US" sz="1400" dirty="0"/>
          </a:p>
        </p:txBody>
      </p:sp>
      <p:sp>
        <p:nvSpPr>
          <p:cNvPr id="6" name="stat greedy value"/>
          <p:cNvSpPr txBox="1"/>
          <p:nvPr/>
        </p:nvSpPr>
        <p:spPr>
          <a:xfrm>
            <a:off x="9418320" y="1371600"/>
            <a:ext cx="2194560" cy="685800"/>
          </a:xfrm>
          <a:prstGeom prst="rect">
            <a:avLst/>
          </a:prstGeom>
          <a:noFill/>
          <a:ln/>
        </p:spPr>
        <p:txBody>
          <a:bodyPr wrap="square" lIns="0" tIns="0" rIns="0" bIns="0" rtlCol="0" anchor="b"/>
          <a:lstStyle/>
          <a:p>
            <a:pPr indent="0" marL="0">
              <a:buNone/>
            </a:pPr>
            <a:r>
              <a:rPr lang="en-US" sz="4000" b="1" dirty="0">
                <a:solidFill>
                  <a:srgbClr val="0A7EA4"/>
                </a:solidFill>
                <a:latin typeface="Cambria" pitchFamily="34" charset="0"/>
                <a:ea typeface="Cambria" pitchFamily="34" charset="-122"/>
                <a:cs typeface="Cambria" pitchFamily="34" charset="-120"/>
              </a:rPr>
              <a:t>17</a:t>
            </a:r>
            <a:endParaRPr lang="en-US" sz="4000" dirty="0"/>
          </a:p>
        </p:txBody>
      </p:sp>
      <p:sp>
        <p:nvSpPr>
          <p:cNvPr id="7" name="stat greedy label"/>
          <p:cNvSpPr txBox="1"/>
          <p:nvPr/>
        </p:nvSpPr>
        <p:spPr>
          <a:xfrm>
            <a:off x="9418320" y="2084832"/>
            <a:ext cx="219456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measurements: the greedy rule gives the same front</a:t>
            </a:r>
            <a:endParaRPr lang="en-US" sz="1400" dirty="0"/>
          </a:p>
        </p:txBody>
      </p:sp>
      <p:sp>
        <p:nvSpPr>
          <p:cNvPr id="8" name="search honesty card"/>
          <p:cNvSpPr/>
          <p:nvPr/>
        </p:nvSpPr>
        <p:spPr>
          <a:xfrm>
            <a:off x="6949440" y="3200400"/>
            <a:ext cx="4663440" cy="2880360"/>
          </a:xfrm>
          <a:prstGeom prst="roundRect">
            <a:avLst>
              <a:gd name="adj" fmla="val 2540"/>
            </a:avLst>
          </a:prstGeom>
          <a:solidFill>
            <a:schemeClr val="bg2"/>
          </a:solidFill>
          <a:ln w="12700">
            <a:solidFill>
              <a:schemeClr val="bg2"/>
            </a:solidFill>
            <a:prstDash val="solid"/>
          </a:ln>
        </p:spPr>
      </p:sp>
      <p:sp>
        <p:nvSpPr>
          <p:cNvPr id="9" name="honesty head"/>
          <p:cNvSpPr txBox="1"/>
          <p:nvPr/>
        </p:nvSpPr>
        <p:spPr>
          <a:xfrm>
            <a:off x="7132320" y="3291840"/>
            <a:ext cx="4297680" cy="411480"/>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What this does and does not show</a:t>
            </a:r>
            <a:endParaRPr lang="en-US" sz="1800" dirty="0"/>
          </a:p>
        </p:txBody>
      </p:sp>
      <p:sp>
        <p:nvSpPr>
          <p:cNvPr id="10" name="honesty bullets"/>
          <p:cNvSpPr txBox="1"/>
          <p:nvPr/>
        </p:nvSpPr>
        <p:spPr>
          <a:xfrm>
            <a:off x="7132320" y="3749040"/>
            <a:ext cx="4297680" cy="228600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With additive objectives the front is the sensitivity ordering, so the GA is not needed for this model</a:t>
            </a:r>
            <a:endParaRPr lang="en-US" sz="1400" dirty="0"/>
          </a:p>
          <a:p>
            <a:pPr marL="203200" indent="-2032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Scalarized weights collapse: every weighting returns uniform Q4_0; pick points from the front by accuracy budget</a:t>
            </a:r>
            <a:endParaRPr lang="en-US" sz="1400" dirty="0"/>
          </a:p>
          <a:p>
            <a:pPr marL="203200" indent="-2032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The GA's value must come from interactions the table cannot see: next, on measured Arm data</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On Graviton3, KleidiAI's Q8_0 path costs 37x the accuracy</a:t>
            </a:r>
            <a:endParaRPr lang="en-US" sz="2800" dirty="0"/>
          </a:p>
        </p:txBody>
      </p:sp>
      <p:graphicFrame>
        <p:nvGraphicFramePr>
          <p:cNvPr id="3" name="Chart 0" descr=""/>
          <p:cNvGraphicFramePr/>
          <p:nvPr/>
        </p:nvGraphicFramePr>
        <p:xfrm>
          <a:off x="548640" y="1371600"/>
          <a:ext cx="5852160" cy="4663440"/>
        </p:xfrm>
        <a:graphic xmlns:a="http://schemas.openxmlformats.org/drawingml/2006/main">
          <a:graphicData uri="http://schemas.openxmlformats.org/drawingml/2006/chart">
            <c:chart xmlns:c="http://schemas.openxmlformats.org/drawingml/2006/chart" r:id="rId1"/>
          </a:graphicData>
        </a:graphic>
      </p:graphicFrame>
      <p:sp>
        <p:nvSpPr>
          <p:cNvPr id="4" name="cause text"/>
          <p:cNvSpPr txBox="1"/>
          <p:nvPr/>
        </p:nvSpPr>
        <p:spPr>
          <a:xfrm>
            <a:off x="6766560" y="1417320"/>
            <a:ext cx="4846320" cy="109728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Cause (from the source): KleidiAI re-quantizes each Q8_0 weight row to a single per-row scale. Q4_0 is unaffected: bit-identical to the stock path.</a:t>
            </a:r>
            <a:endParaRPr lang="en-US" sz="1500" dirty="0"/>
          </a:p>
        </p:txBody>
      </p:sp>
      <p:sp>
        <p:nvSpPr>
          <p:cNvPr id="5" name="t3 bullets"/>
          <p:cNvSpPr txBox="1"/>
          <p:nvPr/>
        </p:nvSpPr>
        <p:spPr>
          <a:xfrm>
            <a:off x="6766560" y="2560320"/>
            <a:ext cx="4846320" cy="2286000"/>
          </a:xfrm>
          <a:prstGeom prst="rect">
            <a:avLst/>
          </a:prstGeom>
          <a:noFill/>
          <a:ln/>
        </p:spPr>
        <p:txBody>
          <a:bodyPr wrap="square" lIns="0" tIns="0" rIns="0" bIns="0" rtlCol="0" anchor="t"/>
          <a:lstStyle/>
          <a:p>
            <a:pPr marL="203200" indent="-203200">
              <a:spcAft>
                <a:spcPts val="700"/>
              </a:spcAft>
              <a:buSzPct val="100000"/>
              <a:buChar char="•"/>
            </a:pPr>
            <a:r>
              <a:rPr lang="en-US" sz="1400" dirty="0">
                <a:solidFill>
                  <a:schemeClr val="tx1"/>
                </a:solidFill>
                <a:latin typeface="Calibri" pitchFamily="34" charset="0"/>
                <a:ea typeface="Calibri" pitchFamily="34" charset="-122"/>
                <a:cs typeface="Calibri" pitchFamily="34" charset="-120"/>
              </a:rPr>
              <a:t>Against the stock Arm path KleidiAI adds no decode speed (0.94-1.05x) and no Q4_0 prefill; Q8_0 prefill +1.34-1.47x</a:t>
            </a:r>
            <a:endParaRPr lang="en-US" sz="1400" dirty="0"/>
          </a:p>
          <a:p>
            <a:pPr marL="203200" indent="-203200">
              <a:spcAft>
                <a:spcPts val="700"/>
              </a:spcAft>
              <a:buSzPct val="100000"/>
              <a:buChar char="•"/>
            </a:pPr>
            <a:r>
              <a:rPr lang="en-US" sz="1400" dirty="0">
                <a:solidFill>
                  <a:schemeClr val="tx1"/>
                </a:solidFill>
                <a:latin typeface="Calibri" pitchFamily="34" charset="0"/>
                <a:ea typeface="Calibri" pitchFamily="34" charset="-122"/>
                <a:cs typeface="Calibri" pitchFamily="34" charset="-120"/>
              </a:rPr>
              <a:t>The 360M proxy under QEMU showed 8x; Phi-3 on real silicon shows 37x</a:t>
            </a:r>
            <a:endParaRPr lang="en-US" sz="1400" dirty="0"/>
          </a:p>
          <a:p>
            <a:pPr marL="203200" indent="-203200">
              <a:spcAft>
                <a:spcPts val="700"/>
              </a:spcAft>
              <a:buSzPct val="100000"/>
              <a:buChar char="•"/>
            </a:pPr>
            <a:r>
              <a:rPr lang="en-US" sz="1400" dirty="0">
                <a:solidFill>
                  <a:schemeClr val="tx1"/>
                </a:solidFill>
                <a:latin typeface="Calibri" pitchFamily="34" charset="0"/>
                <a:ea typeface="Calibri" pitchFamily="34" charset="-122"/>
                <a:cs typeface="Calibri" pitchFamily="34" charset="-120"/>
              </a:rPr>
              <a:t>Fair baseline matters: --no-repack makes KleidiAI look 2.3x faster</a:t>
            </a:r>
            <a:endParaRPr lang="en-US" sz="1400" dirty="0"/>
          </a:p>
        </p:txBody>
      </p:sp>
      <p:sp>
        <p:nvSpPr>
          <p:cNvPr id="6" name="sme card"/>
          <p:cNvSpPr/>
          <p:nvPr/>
        </p:nvSpPr>
        <p:spPr>
          <a:xfrm>
            <a:off x="6766560" y="4892040"/>
            <a:ext cx="4846320" cy="1188720"/>
          </a:xfrm>
          <a:prstGeom prst="roundRect">
            <a:avLst>
              <a:gd name="adj" fmla="val 6154"/>
            </a:avLst>
          </a:prstGeom>
          <a:solidFill>
            <a:schemeClr val="tx2"/>
          </a:solidFill>
          <a:ln w="12700">
            <a:solidFill>
              <a:schemeClr val="tx2"/>
            </a:solidFill>
            <a:prstDash val="solid"/>
          </a:ln>
        </p:spPr>
      </p:sp>
      <p:sp>
        <p:nvSpPr>
          <p:cNvPr id="7" name="sme warn circle"/>
          <p:cNvSpPr/>
          <p:nvPr/>
        </p:nvSpPr>
        <p:spPr>
          <a:xfrm>
            <a:off x="6903720" y="5102352"/>
            <a:ext cx="685800" cy="685800"/>
          </a:xfrm>
          <a:prstGeom prst="ellipse">
            <a:avLst/>
          </a:prstGeom>
          <a:solidFill>
            <a:srgbClr val="D1495B"/>
          </a:solidFill>
          <a:ln w="12700">
            <a:solidFill>
              <a:srgbClr val="D1495B"/>
            </a:solidFill>
            <a:prstDash val="solid"/>
          </a:ln>
        </p:spPr>
      </p:sp>
      <p:pic>
        <p:nvPicPr>
          <p:cNvPr id="8" name="sme warn icon" descr="preencoded.png">    </p:cNvPr>
          <p:cNvPicPr>
            <a:picLocks noChangeAspect="1"/>
          </p:cNvPicPr>
          <p:nvPr/>
        </p:nvPicPr>
        <p:blipFill>
          <a:blip r:embed="rId2"/>
          <a:stretch>
            <a:fillRect/>
          </a:stretch>
        </p:blipFill>
        <p:spPr>
          <a:xfrm>
            <a:off x="7075170" y="5273802"/>
            <a:ext cx="342900" cy="342900"/>
          </a:xfrm>
          <a:prstGeom prst="rect">
            <a:avLst/>
          </a:prstGeom>
        </p:spPr>
      </p:pic>
      <p:sp>
        <p:nvSpPr>
          <p:cNvPr id="9" name="sme text"/>
          <p:cNvSpPr txBox="1"/>
          <p:nvPr/>
        </p:nvSpPr>
        <p:spPr>
          <a:xfrm>
            <a:off x="7726680" y="4937760"/>
            <a:ext cx="3794760" cy="1097280"/>
          </a:xfrm>
          <a:prstGeom prst="rect">
            <a:avLst/>
          </a:prstGeom>
          <a:noFill/>
          <a:ln/>
        </p:spPr>
        <p:txBody>
          <a:bodyPr wrap="square" lIns="0" tIns="0" rIns="0" bIns="0" rtlCol="0" anchor="ctr"/>
          <a:lstStyle/>
          <a:p>
            <a:pPr indent="0" marL="0">
              <a:buNone/>
            </a:pPr>
            <a:r>
              <a:rPr lang="en-US" sz="1400" b="1" dirty="0">
                <a:solidFill>
                  <a:schemeClr val="bg1"/>
                </a:solidFill>
                <a:latin typeface="Calibri" pitchFamily="34" charset="0"/>
                <a:ea typeface="Calibri" pitchFamily="34" charset="-122"/>
                <a:cs typeface="Calibri" pitchFamily="34" charset="-120"/>
              </a:rPr>
              <a:t>SME kernels give garbage under QEMU 8.2.2 (KLD 23-27). It becomes a selftest gate before any Mac run.</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Kernels bit-exact on Graviton3; the roofline shows where speed remains</a:t>
            </a:r>
            <a:endParaRPr lang="en-US" sz="2800" dirty="0"/>
          </a:p>
        </p:txBody>
      </p:sp>
      <p:graphicFrame>
        <p:nvGraphicFramePr>
          <p:cNvPr id="3" name="Chart 0" descr=""/>
          <p:cNvGraphicFramePr/>
          <p:nvPr/>
        </p:nvGraphicFramePr>
        <p:xfrm>
          <a:off x="548640" y="1325880"/>
          <a:ext cx="5486400" cy="2926080"/>
        </p:xfrm>
        <a:graphic xmlns:a="http://schemas.openxmlformats.org/drawingml/2006/main">
          <a:graphicData uri="http://schemas.openxmlformats.org/drawingml/2006/chart">
            <c:chart xmlns:c="http://schemas.openxmlformats.org/drawingml/2006/chart" r:id="rId1"/>
          </a:graphicData>
        </a:graphic>
      </p:graphicFrame>
      <p:sp>
        <p:nvSpPr>
          <p:cNvPr id="4" name="roof bullets"/>
          <p:cNvSpPr txBox="1"/>
          <p:nvPr/>
        </p:nvSpPr>
        <p:spPr>
          <a:xfrm>
            <a:off x="548640" y="4389120"/>
            <a:ext cx="5486400" cy="1737360"/>
          </a:xfrm>
          <a:prstGeom prst="rect">
            <a:avLst/>
          </a:prstGeom>
          <a:noFill/>
          <a:ln/>
        </p:spPr>
        <p:txBody>
          <a:bodyPr wrap="square" lIns="0" tIns="0" rIns="0" bIns="0" rtlCol="0" anchor="t"/>
          <a:lstStyle/>
          <a:p>
            <a:pPr marL="203200" indent="-203200">
              <a:spcAft>
                <a:spcPts val="500"/>
              </a:spcAft>
              <a:buSzPct val="100000"/>
              <a:buChar char="•"/>
            </a:pPr>
            <a:r>
              <a:rPr lang="en-US" sz="1300" dirty="0">
                <a:solidFill>
                  <a:schemeClr val="tx1"/>
                </a:solidFill>
                <a:latin typeface="Calibri" pitchFamily="34" charset="0"/>
                <a:ea typeface="Calibri" pitchFamily="34" charset="-122"/>
                <a:cs typeface="Calibri" pitchFamily="34" charset="-120"/>
              </a:rPr>
              <a:t>Q8_0 decode is on the roof (95%): only moving fewer bytes helps</a:t>
            </a:r>
            <a:endParaRPr lang="en-US" sz="1300" dirty="0"/>
          </a:p>
          <a:p>
            <a:pPr marL="203200" indent="-203200">
              <a:spcAft>
                <a:spcPts val="500"/>
              </a:spcAft>
              <a:buSzPct val="100000"/>
              <a:buChar char="•"/>
            </a:pPr>
            <a:r>
              <a:rPr lang="en-US" sz="1300" dirty="0">
                <a:solidFill>
                  <a:schemeClr val="tx1"/>
                </a:solidFill>
                <a:latin typeface="Calibri" pitchFamily="34" charset="0"/>
                <a:ea typeface="Calibri" pitchFamily="34" charset="-122"/>
                <a:cs typeface="Calibri" pitchFamily="34" charset="-120"/>
              </a:rPr>
              <a:t>Q4_0 reaches 72%: nibble unpacking limits it (up to ~1.3x left)</a:t>
            </a:r>
            <a:endParaRPr lang="en-US" sz="1300" dirty="0"/>
          </a:p>
          <a:p>
            <a:pPr marL="203200" indent="-203200">
              <a:spcAft>
                <a:spcPts val="500"/>
              </a:spcAft>
              <a:buSzPct val="100000"/>
              <a:buChar char="•"/>
            </a:pPr>
            <a:r>
              <a:rPr lang="en-US" sz="1300" dirty="0">
                <a:solidFill>
                  <a:schemeClr val="tx1"/>
                </a:solidFill>
                <a:latin typeface="Calibri" pitchFamily="34" charset="0"/>
                <a:ea typeface="Calibri" pitchFamily="34" charset="-122"/>
                <a:cs typeface="Calibri" pitchFamily="34" charset="-120"/>
              </a:rPr>
              <a:t>F16 has no optimized kernel (48%): a poor baseline that inflates speedups</a:t>
            </a:r>
            <a:endParaRPr lang="en-US" sz="1300" dirty="0"/>
          </a:p>
          <a:p>
            <a:pPr marL="203200" indent="-203200">
              <a:spcAft>
                <a:spcPts val="500"/>
              </a:spcAft>
              <a:buSzPct val="100000"/>
              <a:buChar char="•"/>
            </a:pPr>
            <a:r>
              <a:rPr lang="en-US" sz="1300" dirty="0">
                <a:solidFill>
                  <a:schemeClr val="tx1"/>
                </a:solidFill>
                <a:latin typeface="Calibri" pitchFamily="34" charset="0"/>
                <a:ea typeface="Calibri" pitchFamily="34" charset="-122"/>
                <a:cs typeface="Calibri" pitchFamily="34" charset="-120"/>
              </a:rPr>
              <a:t>Smaller is faster at decode: Q4_0 = 1.4-1.5x Q8_0 (opposite of the GPU)</a:t>
            </a:r>
            <a:endParaRPr lang="en-US" sz="1300" dirty="0"/>
          </a:p>
        </p:txBody>
      </p:sp>
      <p:sp>
        <p:nvSpPr>
          <p:cNvPr id="5" name="stat cases value"/>
          <p:cNvSpPr txBox="1"/>
          <p:nvPr/>
        </p:nvSpPr>
        <p:spPr>
          <a:xfrm>
            <a:off x="6400800" y="1417320"/>
            <a:ext cx="2560320" cy="685800"/>
          </a:xfrm>
          <a:prstGeom prst="rect">
            <a:avLst/>
          </a:prstGeom>
          <a:noFill/>
          <a:ln/>
        </p:spPr>
        <p:txBody>
          <a:bodyPr wrap="square" lIns="0" tIns="0" rIns="0" bIns="0" rtlCol="0" anchor="b"/>
          <a:lstStyle/>
          <a:p>
            <a:pPr indent="0" marL="0">
              <a:buNone/>
            </a:pPr>
            <a:r>
              <a:rPr lang="en-US" sz="4000" b="1" dirty="0">
                <a:solidFill>
                  <a:srgbClr val="2E9E8A"/>
                </a:solidFill>
                <a:latin typeface="Cambria" pitchFamily="34" charset="0"/>
                <a:ea typeface="Cambria" pitchFamily="34" charset="-122"/>
                <a:cs typeface="Cambria" pitchFamily="34" charset="-120"/>
              </a:rPr>
              <a:t>108</a:t>
            </a:r>
            <a:endParaRPr lang="en-US" sz="4000" dirty="0"/>
          </a:p>
        </p:txBody>
      </p:sp>
      <p:sp>
        <p:nvSpPr>
          <p:cNvPr id="6" name="stat cases label"/>
          <p:cNvSpPr txBox="1"/>
          <p:nvPr/>
        </p:nvSpPr>
        <p:spPr>
          <a:xfrm>
            <a:off x="6400800" y="2130552"/>
            <a:ext cx="256032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cases bit-identical to the reference, on real Graviton3 and under emulation</a:t>
            </a:r>
            <a:endParaRPr lang="en-US" sz="1400" dirty="0"/>
          </a:p>
        </p:txBody>
      </p:sp>
      <p:sp>
        <p:nvSpPr>
          <p:cNvPr id="7" name="stat mutation value"/>
          <p:cNvSpPr txBox="1"/>
          <p:nvPr/>
        </p:nvSpPr>
        <p:spPr>
          <a:xfrm>
            <a:off x="9144000" y="1417320"/>
            <a:ext cx="2468880" cy="685800"/>
          </a:xfrm>
          <a:prstGeom prst="rect">
            <a:avLst/>
          </a:prstGeom>
          <a:noFill/>
          <a:ln/>
        </p:spPr>
        <p:txBody>
          <a:bodyPr wrap="square" lIns="0" tIns="0" rIns="0" bIns="0" rtlCol="0" anchor="b"/>
          <a:lstStyle/>
          <a:p>
            <a:pPr indent="0" marL="0">
              <a:buNone/>
            </a:pPr>
            <a:r>
              <a:rPr lang="en-US" sz="4000" b="1" dirty="0">
                <a:solidFill>
                  <a:srgbClr val="D1495B"/>
                </a:solidFill>
                <a:latin typeface="Cambria" pitchFamily="34" charset="0"/>
                <a:ea typeface="Cambria" pitchFamily="34" charset="-122"/>
                <a:cs typeface="Cambria" pitchFamily="34" charset="-120"/>
              </a:rPr>
              <a:t>1,710</a:t>
            </a:r>
            <a:endParaRPr lang="en-US" sz="4000" dirty="0"/>
          </a:p>
        </p:txBody>
      </p:sp>
      <p:sp>
        <p:nvSpPr>
          <p:cNvPr id="8" name="stat mutation label"/>
          <p:cNvSpPr txBox="1"/>
          <p:nvPr/>
        </p:nvSpPr>
        <p:spPr>
          <a:xfrm>
            <a:off x="9144000" y="2130552"/>
            <a:ext cx="246888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failures caught when the nibble offset is deliberately broken</a:t>
            </a:r>
            <a:endParaRPr lang="en-US" sz="1400" dirty="0"/>
          </a:p>
        </p:txBody>
      </p:sp>
      <p:sp>
        <p:nvSpPr>
          <p:cNvPr id="9" name="stat kernel speed value"/>
          <p:cNvSpPr txBox="1"/>
          <p:nvPr/>
        </p:nvSpPr>
        <p:spPr>
          <a:xfrm>
            <a:off x="6400800" y="2926080"/>
            <a:ext cx="5212080" cy="685800"/>
          </a:xfrm>
          <a:prstGeom prst="rect">
            <a:avLst/>
          </a:prstGeom>
          <a:noFill/>
          <a:ln/>
        </p:spPr>
        <p:txBody>
          <a:bodyPr wrap="square" lIns="0" tIns="0" rIns="0" bIns="0" rtlCol="0" anchor="b"/>
          <a:lstStyle/>
          <a:p>
            <a:pPr indent="0" marL="0">
              <a:buNone/>
            </a:pPr>
            <a:r>
              <a:rPr lang="en-US" sz="4000" b="1" dirty="0">
                <a:solidFill>
                  <a:srgbClr val="7B6FB5"/>
                </a:solidFill>
                <a:latin typeface="Cambria" pitchFamily="34" charset="0"/>
                <a:ea typeface="Cambria" pitchFamily="34" charset="-122"/>
                <a:cs typeface="Cambria" pitchFamily="34" charset="-120"/>
              </a:rPr>
              <a:t>47% / 31%</a:t>
            </a:r>
            <a:endParaRPr lang="en-US" sz="4000" dirty="0"/>
          </a:p>
        </p:txBody>
      </p:sp>
      <p:sp>
        <p:nvSpPr>
          <p:cNvPr id="10" name="stat kernel speed label"/>
          <p:cNvSpPr txBox="1"/>
          <p:nvPr/>
        </p:nvSpPr>
        <p:spPr>
          <a:xfrm>
            <a:off x="6400800" y="3639312"/>
            <a:ext cx="521208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of llama.cpp's single-thread bandwidth reached by my SDOT kernels (Q8_0 / Q4_0): correct, not yet fast</a:t>
            </a:r>
            <a:endParaRPr lang="en-US" sz="1400" dirty="0"/>
          </a:p>
        </p:txBody>
      </p:sp>
      <p:sp>
        <p:nvSpPr>
          <p:cNvPr id="11" name="kernel next"/>
          <p:cNvSpPr/>
          <p:nvPr/>
        </p:nvSpPr>
        <p:spPr>
          <a:xfrm>
            <a:off x="6400800" y="4572000"/>
            <a:ext cx="5212080" cy="1508760"/>
          </a:xfrm>
          <a:prstGeom prst="roundRect">
            <a:avLst>
              <a:gd name="adj" fmla="val 4848"/>
            </a:avLst>
          </a:prstGeom>
          <a:solidFill>
            <a:schemeClr val="tx2"/>
          </a:solidFill>
          <a:ln w="12700">
            <a:solidFill>
              <a:schemeClr val="tx2"/>
            </a:solidFill>
            <a:prstDash val="solid"/>
          </a:ln>
        </p:spPr>
      </p:sp>
      <p:sp>
        <p:nvSpPr>
          <p:cNvPr id="12" name="kernel next text"/>
          <p:cNvSpPr txBox="1"/>
          <p:nvPr/>
        </p:nvSpPr>
        <p:spPr>
          <a:xfrm>
            <a:off x="6583680" y="4617720"/>
            <a:ext cx="4846320" cy="1417320"/>
          </a:xfrm>
          <a:prstGeom prst="rect">
            <a:avLst/>
          </a:prstGeom>
          <a:noFill/>
          <a:ln/>
        </p:spPr>
        <p:txBody>
          <a:bodyPr wrap="square" lIns="0" tIns="0" rIns="0" bIns="0" rtlCol="0" anchor="ctr"/>
          <a:lstStyle/>
          <a:p>
            <a:pPr indent="0" marL="0">
              <a:buNone/>
            </a:pPr>
            <a:r>
              <a:rPr lang="en-US" sz="1400" b="1" dirty="0">
                <a:solidFill>
                  <a:schemeClr val="bg1"/>
                </a:solidFill>
                <a:latin typeface="Calibri" pitchFamily="34" charset="0"/>
                <a:ea typeface="Calibri" pitchFamily="34" charset="-122"/>
                <a:cs typeface="Calibri" pitchFamily="34" charset="-120"/>
              </a:rPr>
              <a:t>Next: vector accumulation across blocks, several rows per pass, a repacked layout with SMMLA; then SME2 and a Triton/CUDA counterpart.</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bg1"/>
                </a:solidFill>
                <a:latin typeface="+mj-lt" pitchFamily="34" charset="0"/>
                <a:ea typeface="+mj-lt" pitchFamily="34" charset="-122"/>
                <a:cs typeface="+mj-lt" pitchFamily="34" charset="-120"/>
              </a:rPr>
              <a:t>Lessons learned, and what comes next</a:t>
            </a:r>
            <a:endParaRPr lang="en-US" sz="2800" dirty="0"/>
          </a:p>
        </p:txBody>
      </p:sp>
      <p:sp>
        <p:nvSpPr>
          <p:cNvPr id="3" name="lesson badge 1"/>
          <p:cNvSpPr/>
          <p:nvPr/>
        </p:nvSpPr>
        <p:spPr>
          <a:xfrm>
            <a:off x="548640" y="1481328"/>
            <a:ext cx="548640" cy="548640"/>
          </a:xfrm>
          <a:prstGeom prst="ellipse">
            <a:avLst/>
          </a:prstGeom>
          <a:solidFill>
            <a:schemeClr val="accent2"/>
          </a:solidFill>
          <a:ln w="12700">
            <a:solidFill>
              <a:schemeClr val="accent2"/>
            </a:solidFill>
            <a:prstDash val="solid"/>
          </a:ln>
        </p:spPr>
      </p:sp>
      <p:sp>
        <p:nvSpPr>
          <p:cNvPr id="4" name="lesson number 1"/>
          <p:cNvSpPr txBox="1"/>
          <p:nvPr/>
        </p:nvSpPr>
        <p:spPr>
          <a:xfrm>
            <a:off x="548640" y="1481328"/>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latin typeface="Calibri" pitchFamily="34" charset="0"/>
                <a:ea typeface="Calibri" pitchFamily="34" charset="-122"/>
                <a:cs typeface="Calibri" pitchFamily="34" charset="-120"/>
              </a:rPr>
              <a:t>1</a:t>
            </a:r>
            <a:endParaRPr lang="en-US" sz="1800" dirty="0"/>
          </a:p>
        </p:txBody>
      </p:sp>
      <p:sp>
        <p:nvSpPr>
          <p:cNvPr id="5" name="lesson head 1"/>
          <p:cNvSpPr txBox="1"/>
          <p:nvPr/>
        </p:nvSpPr>
        <p:spPr>
          <a:xfrm>
            <a:off x="1280160" y="1371600"/>
            <a:ext cx="4754880" cy="411480"/>
          </a:xfrm>
          <a:prstGeom prst="rect">
            <a:avLst/>
          </a:prstGeom>
          <a:noFill/>
          <a:ln/>
        </p:spPr>
        <p:txBody>
          <a:bodyPr wrap="square" lIns="0" tIns="0" rIns="0" bIns="0" rtlCol="0" anchor="ctr"/>
          <a:lstStyle/>
          <a:p>
            <a:pPr indent="0" marL="0">
              <a:buNone/>
            </a:pPr>
            <a:r>
              <a:rPr lang="en-US" sz="1700" b="1" dirty="0">
                <a:solidFill>
                  <a:schemeClr val="bg1"/>
                </a:solidFill>
                <a:latin typeface="Calibri" pitchFamily="34" charset="0"/>
                <a:ea typeface="Calibri" pitchFamily="34" charset="-122"/>
                <a:cs typeface="Calibri" pitchFamily="34" charset="-120"/>
              </a:rPr>
              <a:t>Validate the cost model on the target</a:t>
            </a:r>
            <a:endParaRPr lang="en-US" sz="1700" dirty="0"/>
          </a:p>
        </p:txBody>
      </p:sp>
      <p:sp>
        <p:nvSpPr>
          <p:cNvPr id="6" name="lesson text 1"/>
          <p:cNvSpPr txBox="1"/>
          <p:nvPr/>
        </p:nvSpPr>
        <p:spPr>
          <a:xfrm>
            <a:off x="1280160" y="1783080"/>
            <a:ext cx="4754880" cy="731520"/>
          </a:xfrm>
          <a:prstGeom prst="rect">
            <a:avLst/>
          </a:prstGeom>
          <a:noFill/>
          <a:ln/>
        </p:spPr>
        <p:txBody>
          <a:bodyPr wrap="square" lIns="0" tIns="0" rIns="0" bIns="0" rtlCol="0" anchor="t"/>
          <a:lstStyle/>
          <a:p>
            <a:pPr indent="0" marL="0">
              <a:buNone/>
            </a:pPr>
            <a:r>
              <a:rPr lang="en-US" sz="1300" dirty="0">
                <a:solidFill>
                  <a:schemeClr val="bg2"/>
                </a:solidFill>
                <a:latin typeface="Calibri" pitchFamily="34" charset="0"/>
                <a:ea typeface="Calibri" pitchFamily="34" charset="-122"/>
                <a:cs typeface="Calibri" pitchFamily="34" charset="-120"/>
              </a:rPr>
              <a:t>Bytes did not predict latency, and perplexity did not resolve sensitivity. The metric is part of the result.</a:t>
            </a:r>
            <a:endParaRPr lang="en-US" sz="1300" dirty="0"/>
          </a:p>
        </p:txBody>
      </p:sp>
      <p:sp>
        <p:nvSpPr>
          <p:cNvPr id="7" name="lesson badge 2"/>
          <p:cNvSpPr/>
          <p:nvPr/>
        </p:nvSpPr>
        <p:spPr>
          <a:xfrm>
            <a:off x="548640" y="2670048"/>
            <a:ext cx="548640" cy="548640"/>
          </a:xfrm>
          <a:prstGeom prst="ellipse">
            <a:avLst/>
          </a:prstGeom>
          <a:solidFill>
            <a:schemeClr val="accent2"/>
          </a:solidFill>
          <a:ln w="12700">
            <a:solidFill>
              <a:schemeClr val="accent2"/>
            </a:solidFill>
            <a:prstDash val="solid"/>
          </a:ln>
        </p:spPr>
      </p:sp>
      <p:sp>
        <p:nvSpPr>
          <p:cNvPr id="8" name="lesson number 2"/>
          <p:cNvSpPr txBox="1"/>
          <p:nvPr/>
        </p:nvSpPr>
        <p:spPr>
          <a:xfrm>
            <a:off x="548640" y="2670048"/>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latin typeface="Calibri" pitchFamily="34" charset="0"/>
                <a:ea typeface="Calibri" pitchFamily="34" charset="-122"/>
                <a:cs typeface="Calibri" pitchFamily="34" charset="-120"/>
              </a:rPr>
              <a:t>2</a:t>
            </a:r>
            <a:endParaRPr lang="en-US" sz="1800" dirty="0"/>
          </a:p>
        </p:txBody>
      </p:sp>
      <p:sp>
        <p:nvSpPr>
          <p:cNvPr id="9" name="lesson head 2"/>
          <p:cNvSpPr txBox="1"/>
          <p:nvPr/>
        </p:nvSpPr>
        <p:spPr>
          <a:xfrm>
            <a:off x="1280160" y="2560320"/>
            <a:ext cx="4754880" cy="411480"/>
          </a:xfrm>
          <a:prstGeom prst="rect">
            <a:avLst/>
          </a:prstGeom>
          <a:noFill/>
          <a:ln/>
        </p:spPr>
        <p:txBody>
          <a:bodyPr wrap="square" lIns="0" tIns="0" rIns="0" bIns="0" rtlCol="0" anchor="ctr"/>
          <a:lstStyle/>
          <a:p>
            <a:pPr indent="0" marL="0">
              <a:buNone/>
            </a:pPr>
            <a:r>
              <a:rPr lang="en-US" sz="1700" b="1" dirty="0">
                <a:solidFill>
                  <a:schemeClr val="bg1"/>
                </a:solidFill>
                <a:latin typeface="Calibri" pitchFamily="34" charset="0"/>
                <a:ea typeface="Calibri" pitchFamily="34" charset="-122"/>
                <a:cs typeface="Calibri" pitchFamily="34" charset="-120"/>
              </a:rPr>
              <a:t>Report revised and null results</a:t>
            </a:r>
            <a:endParaRPr lang="en-US" sz="1700" dirty="0"/>
          </a:p>
        </p:txBody>
      </p:sp>
      <p:sp>
        <p:nvSpPr>
          <p:cNvPr id="10" name="lesson text 2"/>
          <p:cNvSpPr txBox="1"/>
          <p:nvPr/>
        </p:nvSpPr>
        <p:spPr>
          <a:xfrm>
            <a:off x="1280160" y="2971800"/>
            <a:ext cx="4754880" cy="731520"/>
          </a:xfrm>
          <a:prstGeom prst="rect">
            <a:avLst/>
          </a:prstGeom>
          <a:noFill/>
          <a:ln/>
        </p:spPr>
        <p:txBody>
          <a:bodyPr wrap="square" lIns="0" tIns="0" rIns="0" bIns="0" rtlCol="0" anchor="t"/>
          <a:lstStyle/>
          <a:p>
            <a:pPr indent="0" marL="0">
              <a:buNone/>
            </a:pPr>
            <a:r>
              <a:rPr lang="en-US" sz="1300" dirty="0">
                <a:solidFill>
                  <a:schemeClr val="bg2"/>
                </a:solidFill>
                <a:latin typeface="Calibri" pitchFamily="34" charset="0"/>
                <a:ea typeface="Calibri" pitchFamily="34" charset="-122"/>
                <a:cs typeface="Calibri" pitchFamily="34" charset="-120"/>
              </a:rPr>
              <a:t>The GA ties a greedy rule under additive objectives; an earlier per-block claim shrank from 70% to 33%.</a:t>
            </a:r>
            <a:endParaRPr lang="en-US" sz="1300" dirty="0"/>
          </a:p>
        </p:txBody>
      </p:sp>
      <p:sp>
        <p:nvSpPr>
          <p:cNvPr id="11" name="lesson badge 3"/>
          <p:cNvSpPr/>
          <p:nvPr/>
        </p:nvSpPr>
        <p:spPr>
          <a:xfrm>
            <a:off x="548640" y="3858768"/>
            <a:ext cx="548640" cy="548640"/>
          </a:xfrm>
          <a:prstGeom prst="ellipse">
            <a:avLst/>
          </a:prstGeom>
          <a:solidFill>
            <a:schemeClr val="accent2"/>
          </a:solidFill>
          <a:ln w="12700">
            <a:solidFill>
              <a:schemeClr val="accent2"/>
            </a:solidFill>
            <a:prstDash val="solid"/>
          </a:ln>
        </p:spPr>
      </p:sp>
      <p:sp>
        <p:nvSpPr>
          <p:cNvPr id="12" name="lesson number 3"/>
          <p:cNvSpPr txBox="1"/>
          <p:nvPr/>
        </p:nvSpPr>
        <p:spPr>
          <a:xfrm>
            <a:off x="548640" y="3858768"/>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latin typeface="Calibri" pitchFamily="34" charset="0"/>
                <a:ea typeface="Calibri" pitchFamily="34" charset="-122"/>
                <a:cs typeface="Calibri" pitchFamily="34" charset="-120"/>
              </a:rPr>
              <a:t>3</a:t>
            </a:r>
            <a:endParaRPr lang="en-US" sz="1800" dirty="0"/>
          </a:p>
        </p:txBody>
      </p:sp>
      <p:sp>
        <p:nvSpPr>
          <p:cNvPr id="13" name="lesson head 3"/>
          <p:cNvSpPr txBox="1"/>
          <p:nvPr/>
        </p:nvSpPr>
        <p:spPr>
          <a:xfrm>
            <a:off x="1280160" y="3749040"/>
            <a:ext cx="4754880" cy="411480"/>
          </a:xfrm>
          <a:prstGeom prst="rect">
            <a:avLst/>
          </a:prstGeom>
          <a:noFill/>
          <a:ln/>
        </p:spPr>
        <p:txBody>
          <a:bodyPr wrap="square" lIns="0" tIns="0" rIns="0" bIns="0" rtlCol="0" anchor="ctr"/>
          <a:lstStyle/>
          <a:p>
            <a:pPr indent="0" marL="0">
              <a:buNone/>
            </a:pPr>
            <a:r>
              <a:rPr lang="en-US" sz="1700" b="1" dirty="0">
                <a:solidFill>
                  <a:schemeClr val="bg1"/>
                </a:solidFill>
                <a:latin typeface="Calibri" pitchFamily="34" charset="0"/>
                <a:ea typeface="Calibri" pitchFamily="34" charset="-122"/>
                <a:cs typeface="Calibri" pitchFamily="34" charset="-120"/>
              </a:rPr>
              <a:t>Hardware decides accuracy, not just speed</a:t>
            </a:r>
            <a:endParaRPr lang="en-US" sz="1700" dirty="0"/>
          </a:p>
        </p:txBody>
      </p:sp>
      <p:sp>
        <p:nvSpPr>
          <p:cNvPr id="14" name="lesson text 3"/>
          <p:cNvSpPr txBox="1"/>
          <p:nvPr/>
        </p:nvSpPr>
        <p:spPr>
          <a:xfrm>
            <a:off x="1280160" y="4160520"/>
            <a:ext cx="4754880" cy="731520"/>
          </a:xfrm>
          <a:prstGeom prst="rect">
            <a:avLst/>
          </a:prstGeom>
          <a:noFill/>
          <a:ln/>
        </p:spPr>
        <p:txBody>
          <a:bodyPr wrap="square" lIns="0" tIns="0" rIns="0" bIns="0" rtlCol="0" anchor="t"/>
          <a:lstStyle/>
          <a:p>
            <a:pPr indent="0" marL="0">
              <a:buNone/>
            </a:pPr>
            <a:r>
              <a:rPr lang="en-US" sz="1300" dirty="0">
                <a:solidFill>
                  <a:schemeClr val="bg2"/>
                </a:solidFill>
                <a:latin typeface="Calibri" pitchFamily="34" charset="0"/>
                <a:ea typeface="Calibri" pitchFamily="34" charset="-122"/>
                <a:cs typeface="Calibri" pitchFamily="34" charset="-120"/>
              </a:rPr>
              <a:t>KleidiAI's Q8_0 re-quantization costs 37x accuracy on Phi-3 and adds no decode speed over the stock path.</a:t>
            </a:r>
            <a:endParaRPr lang="en-US" sz="1300" dirty="0"/>
          </a:p>
        </p:txBody>
      </p:sp>
      <p:sp>
        <p:nvSpPr>
          <p:cNvPr id="15" name="lesson badge 4"/>
          <p:cNvSpPr/>
          <p:nvPr/>
        </p:nvSpPr>
        <p:spPr>
          <a:xfrm>
            <a:off x="548640" y="5047488"/>
            <a:ext cx="548640" cy="548640"/>
          </a:xfrm>
          <a:prstGeom prst="ellipse">
            <a:avLst/>
          </a:prstGeom>
          <a:solidFill>
            <a:schemeClr val="accent2"/>
          </a:solidFill>
          <a:ln w="12700">
            <a:solidFill>
              <a:schemeClr val="accent2"/>
            </a:solidFill>
            <a:prstDash val="solid"/>
          </a:ln>
        </p:spPr>
      </p:sp>
      <p:sp>
        <p:nvSpPr>
          <p:cNvPr id="16" name="lesson number 4"/>
          <p:cNvSpPr txBox="1"/>
          <p:nvPr/>
        </p:nvSpPr>
        <p:spPr>
          <a:xfrm>
            <a:off x="548640" y="5047488"/>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latin typeface="Calibri" pitchFamily="34" charset="0"/>
                <a:ea typeface="Calibri" pitchFamily="34" charset="-122"/>
                <a:cs typeface="Calibri" pitchFamily="34" charset="-120"/>
              </a:rPr>
              <a:t>4</a:t>
            </a:r>
            <a:endParaRPr lang="en-US" sz="1800" dirty="0"/>
          </a:p>
        </p:txBody>
      </p:sp>
      <p:sp>
        <p:nvSpPr>
          <p:cNvPr id="17" name="lesson head 4"/>
          <p:cNvSpPr txBox="1"/>
          <p:nvPr/>
        </p:nvSpPr>
        <p:spPr>
          <a:xfrm>
            <a:off x="1280160" y="4937760"/>
            <a:ext cx="4754880" cy="411480"/>
          </a:xfrm>
          <a:prstGeom prst="rect">
            <a:avLst/>
          </a:prstGeom>
          <a:noFill/>
          <a:ln/>
        </p:spPr>
        <p:txBody>
          <a:bodyPr wrap="square" lIns="0" tIns="0" rIns="0" bIns="0" rtlCol="0" anchor="ctr"/>
          <a:lstStyle/>
          <a:p>
            <a:pPr indent="0" marL="0">
              <a:buNone/>
            </a:pPr>
            <a:r>
              <a:rPr lang="en-US" sz="1700" b="1" dirty="0">
                <a:solidFill>
                  <a:schemeClr val="bg1"/>
                </a:solidFill>
                <a:latin typeface="Calibri" pitchFamily="34" charset="0"/>
                <a:ea typeface="Calibri" pitchFamily="34" charset="-122"/>
                <a:cs typeface="Calibri" pitchFamily="34" charset="-120"/>
              </a:rPr>
              <a:t>Build cheap tiers and gates</a:t>
            </a:r>
            <a:endParaRPr lang="en-US" sz="1700" dirty="0"/>
          </a:p>
        </p:txBody>
      </p:sp>
      <p:sp>
        <p:nvSpPr>
          <p:cNvPr id="18" name="lesson text 4"/>
          <p:cNvSpPr txBox="1"/>
          <p:nvPr/>
        </p:nvSpPr>
        <p:spPr>
          <a:xfrm>
            <a:off x="1280160" y="5349240"/>
            <a:ext cx="4754880" cy="731520"/>
          </a:xfrm>
          <a:prstGeom prst="rect">
            <a:avLst/>
          </a:prstGeom>
          <a:noFill/>
          <a:ln/>
        </p:spPr>
        <p:txBody>
          <a:bodyPr wrap="square" lIns="0" tIns="0" rIns="0" bIns="0" rtlCol="0" anchor="t"/>
          <a:lstStyle/>
          <a:p>
            <a:pPr indent="0" marL="0">
              <a:buNone/>
            </a:pPr>
            <a:r>
              <a:rPr lang="en-US" sz="1300" dirty="0">
                <a:solidFill>
                  <a:schemeClr val="bg2"/>
                </a:solidFill>
                <a:latin typeface="Calibri" pitchFamily="34" charset="0"/>
                <a:ea typeface="Calibri" pitchFamily="34" charset="-122"/>
                <a:cs typeface="Calibri" pitchFamily="34" charset="-120"/>
              </a:rPr>
              <a:t>Emulation and a $2 Graviton run found three issues before the 24-hour Mac block.</a:t>
            </a:r>
            <a:endParaRPr lang="en-US" sz="1300" dirty="0"/>
          </a:p>
        </p:txBody>
      </p:sp>
      <p:sp>
        <p:nvSpPr>
          <p:cNvPr id="19" name="next card"/>
          <p:cNvSpPr/>
          <p:nvPr/>
        </p:nvSpPr>
        <p:spPr>
          <a:xfrm>
            <a:off x="6492240" y="1371600"/>
            <a:ext cx="5120640" cy="4709160"/>
          </a:xfrm>
          <a:prstGeom prst="roundRect">
            <a:avLst>
              <a:gd name="adj" fmla="val 1553"/>
            </a:avLst>
          </a:prstGeom>
          <a:solidFill>
            <a:schemeClr val="tx1"/>
          </a:solidFill>
          <a:ln w="12700">
            <a:solidFill>
              <a:schemeClr val="tx1"/>
            </a:solidFill>
            <a:prstDash val="solid"/>
          </a:ln>
        </p:spPr>
      </p:sp>
      <p:sp>
        <p:nvSpPr>
          <p:cNvPr id="20" name="next head"/>
          <p:cNvSpPr txBox="1"/>
          <p:nvPr/>
        </p:nvSpPr>
        <p:spPr>
          <a:xfrm>
            <a:off x="6720840" y="1508760"/>
            <a:ext cx="4663440" cy="457200"/>
          </a:xfrm>
          <a:prstGeom prst="rect">
            <a:avLst/>
          </a:prstGeom>
          <a:noFill/>
          <a:ln/>
        </p:spPr>
        <p:txBody>
          <a:bodyPr wrap="square" lIns="0" tIns="0" rIns="0" bIns="0" rtlCol="0" anchor="ctr"/>
          <a:lstStyle/>
          <a:p>
            <a:pPr indent="0" marL="0">
              <a:buNone/>
            </a:pPr>
            <a:r>
              <a:rPr lang="en-US" sz="2200" b="1" dirty="0">
                <a:solidFill>
                  <a:schemeClr val="accent2"/>
                </a:solidFill>
                <a:latin typeface="Calibri" pitchFamily="34" charset="0"/>
                <a:ea typeface="Calibri" pitchFamily="34" charset="-122"/>
                <a:cs typeface="Calibri" pitchFamily="34" charset="-120"/>
              </a:rPr>
              <a:t>Next steps</a:t>
            </a:r>
            <a:endParaRPr lang="en-US" sz="2200" dirty="0"/>
          </a:p>
        </p:txBody>
      </p:sp>
      <p:sp>
        <p:nvSpPr>
          <p:cNvPr id="21" name="next bullets"/>
          <p:cNvSpPr txBox="1"/>
          <p:nvPr/>
        </p:nvSpPr>
        <p:spPr>
          <a:xfrm>
            <a:off x="6720840" y="2057400"/>
            <a:ext cx="4663440" cy="3931920"/>
          </a:xfrm>
          <a:prstGeom prst="rect">
            <a:avLst/>
          </a:prstGeom>
          <a:noFill/>
          <a:ln/>
        </p:spPr>
        <p:txBody>
          <a:bodyPr wrap="square" lIns="0" tIns="0" rIns="0" bIns="0" rtlCol="0" anchor="t"/>
          <a:lstStyle/>
          <a:p>
            <a:pPr marL="203200" indent="-203200">
              <a:spcAft>
                <a:spcPts val="900"/>
              </a:spcAft>
              <a:buSzPct val="100000"/>
              <a:buChar char="•"/>
            </a:pPr>
            <a:r>
              <a:rPr lang="en-US" sz="1400" dirty="0">
                <a:solidFill>
                  <a:schemeClr val="bg1"/>
                </a:solidFill>
                <a:latin typeface="Calibri" pitchFamily="34" charset="0"/>
                <a:ea typeface="Calibri" pitchFamily="34" charset="-122"/>
                <a:cs typeface="Calibri" pitchFamily="34" charset="-120"/>
              </a:rPr>
              <a:t>T4, Apple M4: selftest gates (KleidiAI vs stock vs SME), thread scan, Pareto runs on two models; judge KleidiAI SME2 against a stock build</a:t>
            </a:r>
            <a:endParaRPr lang="en-US" sz="1400" dirty="0"/>
          </a:p>
          <a:p>
            <a:pPr marL="203200" indent="-203200">
              <a:spcAft>
                <a:spcPts val="900"/>
              </a:spcAft>
              <a:buSzPct val="100000"/>
              <a:buChar char="•"/>
            </a:pPr>
            <a:r>
              <a:rPr lang="en-US" sz="1400" dirty="0">
                <a:solidFill>
                  <a:schemeClr val="bg1"/>
                </a:solidFill>
                <a:latin typeface="Calibri" pitchFamily="34" charset="0"/>
                <a:ea typeface="Calibri" pitchFamily="34" charset="-122"/>
                <a:cs typeface="Calibri" pitchFamily="34" charset="-120"/>
              </a:rPr>
              <a:t>Replace simulated speed and energy in the searches with measurements; compare the GA with the sensitivity-greedy baseline</a:t>
            </a:r>
            <a:endParaRPr lang="en-US" sz="1400" dirty="0"/>
          </a:p>
          <a:p>
            <a:pPr marL="203200" indent="-203200">
              <a:spcAft>
                <a:spcPts val="900"/>
              </a:spcAft>
              <a:buSzPct val="100000"/>
              <a:buChar char="•"/>
            </a:pPr>
            <a:r>
              <a:rPr lang="en-US" sz="1400" dirty="0">
                <a:solidFill>
                  <a:schemeClr val="bg1"/>
                </a:solidFill>
                <a:latin typeface="Calibri" pitchFamily="34" charset="0"/>
                <a:ea typeface="Calibri" pitchFamily="34" charset="-122"/>
                <a:cs typeface="Calibri" pitchFamily="34" charset="-120"/>
              </a:rPr>
              <a:t>Optimize the Q4_0 kernel toward the memory roof; SME2 and Triton/CUDA variants</a:t>
            </a:r>
            <a:endParaRPr lang="en-US" sz="1400" dirty="0"/>
          </a:p>
          <a:p>
            <a:pPr marL="203200" indent="-203200">
              <a:spcAft>
                <a:spcPts val="900"/>
              </a:spcAft>
              <a:buSzPct val="100000"/>
              <a:buChar char="•"/>
            </a:pPr>
            <a:r>
              <a:rPr lang="en-US" sz="1400" dirty="0">
                <a:solidFill>
                  <a:schemeClr val="bg1"/>
                </a:solidFill>
                <a:latin typeface="Calibri" pitchFamily="34" charset="0"/>
                <a:ea typeface="Calibri" pitchFamily="34" charset="-122"/>
                <a:cs typeface="Calibri" pitchFamily="34" charset="-120"/>
              </a:rPr>
              <a:t>Report the Q8_0 finding upstream; third model once licence access is granted</a:t>
            </a:r>
            <a:endParaRPr lang="en-US" sz="1400" dirty="0"/>
          </a:p>
          <a:p>
            <a:pPr marL="203200" indent="-203200">
              <a:spcAft>
                <a:spcPts val="900"/>
              </a:spcAft>
              <a:buSzPct val="100000"/>
              <a:buChar char="•"/>
            </a:pPr>
            <a:r>
              <a:rPr lang="en-US" sz="1400" dirty="0">
                <a:solidFill>
                  <a:schemeClr val="bg1"/>
                </a:solidFill>
                <a:latin typeface="Calibri" pitchFamily="34" charset="0"/>
                <a:ea typeface="Calibri" pitchFamily="34" charset="-122"/>
                <a:cs typeface="Calibri" pitchFamily="34" charset="-120"/>
              </a:rPr>
              <a:t>Honest limits today: search speed and energy are simulated (calibrated to Graviton3, not M4); SME2 untested; no power data yet</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2"/>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ArmPerf">
  <a:themeElements>
    <a:clrScheme name="ArmPerf">
      <a:dk1>
        <a:srgbClr val="10212B"/>
      </a:dk1>
      <a:lt1>
        <a:srgbClr val="FFFFFF"/>
      </a:lt1>
      <a:dk2>
        <a:srgbClr val="0B3C4F"/>
      </a:dk2>
      <a:lt2>
        <a:srgbClr val="EDF2F5"/>
      </a:lt2>
      <a:accent1>
        <a:srgbClr val="0A7EA4"/>
      </a:accent1>
      <a:accent2>
        <a:srgbClr val="F2A541"/>
      </a:accent2>
      <a:accent3>
        <a:srgbClr val="2E9E8A"/>
      </a:accent3>
      <a:accent4>
        <a:srgbClr val="D1495B"/>
      </a:accent4>
      <a:accent5>
        <a:srgbClr val="6C7A89"/>
      </a:accent5>
      <a:accent6>
        <a:srgbClr val="7B6FB5"/>
      </a:accent6>
      <a:hlink>
        <a:srgbClr val="0A7EA4"/>
      </a:hlink>
      <a:folHlink>
        <a:srgbClr val="6C7A89"/>
      </a:folHlink>
    </a:clrScheme>
    <a:fontScheme name="ArmPerf">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Evol_inference on Arm (mac-m4)</dc:title>
  <dc:subject>PptxGenJS Presentation</dc:subject>
  <dc:creator>Nikolaus Almassy</dc:creator>
  <cp:lastModifiedBy>Nikolaus Almassy</cp:lastModifiedBy>
  <cp:revision>1</cp:revision>
  <dcterms:created xsi:type="dcterms:W3CDTF">2026-10-03T04:05:17Z</dcterms:created>
  <dcterms:modified xsi:type="dcterms:W3CDTF">2026-10-03T04:05:17Z</dcterms:modified>
</cp:coreProperties>
</file>