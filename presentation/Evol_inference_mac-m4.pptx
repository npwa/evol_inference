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f7feb9a9-3736-61a4-db5d-0390a3b76591}">
          <p14:sldIdLst>
            <p14:sldId id="256"/>
            <p14:sldId id="257"/>
            <p14:sldId id="258"/>
          </p14:sldIdLst>
        </p14:section>
        <p14:section name="Method" id="{0cea7062-47e2-b2e8-06ed-ac8e81684603}">
          <p14:sldIdLst>
            <p14:sldId id="259"/>
            <p14:sldId id="260"/>
          </p14:sldIdLst>
        </p14:section>
        <p14:section name="Results" id="{5e0705cc-3703-109c-1c98-41dae6f04ad6}">
          <p14:sldIdLst>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Relative error of the effect estimate (%), Q8_0 on 1023 tokens</a:t>
            </a:r>
          </a:p>
        </c:rich>
      </c:tx>
      <c:layout/>
      <c:overlay val="0"/>
    </c:title>
    <c:autoTitleDeleted val="0"/>
    <c:plotArea>
      <c:layout/>
      <c:barChart>
        <c:barDir val="col"/>
        <c:grouping val="clustered"/>
        <c:varyColors val="0"/>
        <c:ser>
          <c:idx val="0"/>
          <c:order val="0"/>
          <c:tx>
            <c:strRef>
              <c:f>Sheet1!$B$1</c:f>
              <c:strCache>
                <c:ptCount val="1"/>
                <c:pt idx="0">
                  <c:v>Relative standard error of the measured effect</c:v>
                </c:pt>
              </c:strCache>
            </c:strRef>
          </c:tx>
          <c:spPr>
            <a:solidFill>
              <a:srgbClr val="D1495B"/>
            </a:solidFill>
            <a:effectLst/>
          </c:spPr>
          <c:invertIfNegative val="0"/>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1495B"/>
              </a:solidFill>
              <a:effectLst/>
            </c:spPr>
          </c:dPt>
          <c:dPt>
            <c:idx val="1"/>
            <c:invertIfNegative val="0"/>
            <c:bubble3D val="0"/>
            <c:spPr>
              <a:solidFill>
                <a:srgbClr val="2E9E8A"/>
              </a:solidFill>
              <a:effectLst/>
            </c:spPr>
          </c:dPt>
          <c:cat>
            <c:multiLvlStrRef>
              <c:f>Sheet1!$A$2:$A$3</c:f>
              <c:multiLvlStrCache>
                <c:ptCount val="2"/>
                <c:lvl>
                  <c:pt idx="0">
                    <c:v>Perplexity ratio</c:v>
                  </c:pt>
                  <c:pt idx="1">
                    <c:v>KL divergence</c:v>
                  </c:pt>
                </c:lvl>
              </c:multiLvlStrCache>
            </c:multiLvlStrRef>
          </c:cat>
          <c:val>
            <c:numRef>
              <c:f>Sheet1!$B$2:$B$3</c:f>
              <c:numCache>
                <c:formatCode>General</c:formatCode>
                <c:ptCount val="2"/>
                <c:pt idx="0">
                  <c:v>61</c:v>
                </c:pt>
                <c:pt idx="1">
                  <c:v>5.3</c:v>
                </c:pt>
              </c:numCache>
            </c:numRef>
          </c:val>
        </c:ser>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accuracy cost of quantizing one block to 4 bits (%)</a:t>
            </a:r>
          </a:p>
        </c:rich>
      </c:tx>
      <c:layout/>
      <c:overlay val="0"/>
    </c:title>
    <c:autoTitleDeleted val="0"/>
    <c:plotArea>
      <c:layout/>
      <c:barChart>
        <c:barDir val="col"/>
        <c:grouping val="clustered"/>
        <c:varyColors val="0"/>
        <c:ser>
          <c:idx val="0"/>
          <c:order val="0"/>
          <c:tx>
            <c:strRef>
              <c:f>Sheet1!$B$1</c:f>
              <c:strCache>
                <c:ptCount val="1"/>
                <c:pt idx="0">
                  <c:v>Q4_0 (llama.cpp)</c:v>
                </c:pt>
              </c:strCache>
            </c:strRef>
          </c:tx>
          <c:spPr>
            <a:solidFill>
              <a:srgbClr val="0A7EA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0.566</c:v>
                </c:pt>
                <c:pt idx="1">
                  <c:v>0.656</c:v>
                </c:pt>
                <c:pt idx="2">
                  <c:v>0.739</c:v>
                </c:pt>
                <c:pt idx="3">
                  <c:v>0.96</c:v>
                </c:pt>
                <c:pt idx="4">
                  <c:v>0.654</c:v>
                </c:pt>
                <c:pt idx="5">
                  <c:v>0.502</c:v>
                </c:pt>
                <c:pt idx="6">
                  <c:v>0.42</c:v>
                </c:pt>
                <c:pt idx="7">
                  <c:v>1.431</c:v>
                </c:pt>
              </c:numCache>
            </c:numRef>
          </c:val>
        </c:ser>
        <c:ser>
          <c:idx val="1"/>
          <c:order val="1"/>
          <c:tx>
            <c:strRef>
              <c:f>Sheet1!$C$1</c:f>
              <c:strCache>
                <c:ptCount val="1"/>
                <c:pt idx="0">
                  <c:v>NF4 (bitsandbytes)</c:v>
                </c:pt>
              </c:strCache>
            </c:strRef>
          </c:tx>
          <c:spPr>
            <a:solidFill>
              <a:srgbClr val="F2A54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0.544</c:v>
                </c:pt>
                <c:pt idx="1">
                  <c:v>0.612</c:v>
                </c:pt>
                <c:pt idx="2">
                  <c:v>0.763</c:v>
                </c:pt>
                <c:pt idx="3">
                  <c:v>0.808</c:v>
                </c:pt>
                <c:pt idx="4">
                  <c:v>0.525</c:v>
                </c:pt>
                <c:pt idx="5">
                  <c:v>0.523</c:v>
                </c:pt>
                <c:pt idx="6">
                  <c:v>0.422</c:v>
                </c:pt>
                <c:pt idx="7">
                  <c:v>1.284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super-block (0 = nearest the input)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Q4_0 cost share per block (% of the summed single-block cost)</a:t>
            </a:r>
          </a:p>
        </c:rich>
      </c:tx>
      <c:layout/>
      <c:overlay val="0"/>
    </c:title>
    <c:autoTitleDeleted val="0"/>
    <c:plotArea>
      <c:layout/>
      <c:lineChart>
        <c:varyColors val="0"/>
        <c:ser>
          <c:idx val="0"/>
          <c:order val="0"/>
          <c:tx>
            <c:strRef>
              <c:f>Sheet1!$B$1</c:f>
              <c:strCache>
                <c:ptCount val="1"/>
                <c:pt idx="0">
                  <c:v>Phi-3-mini 3.8B (vs F16)</c:v>
                </c:pt>
              </c:strCache>
            </c:strRef>
          </c:tx>
          <c:spPr>
            <a:solidFill>
              <a:srgbClr val="0A7EA4"/>
            </a:solidFill>
            <a:ln w="381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0A7EA4"/>
              </a:solidFill>
              <a:ln w="9525" cap="flat">
                <a:solidFill>
                  <a:srgbClr val="0A7EA4"/>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9.5</c:v>
                </c:pt>
                <c:pt idx="1">
                  <c:v>11.1</c:v>
                </c:pt>
                <c:pt idx="2">
                  <c:v>12.5</c:v>
                </c:pt>
                <c:pt idx="3">
                  <c:v>16.2</c:v>
                </c:pt>
                <c:pt idx="4">
                  <c:v>11</c:v>
                </c:pt>
                <c:pt idx="5">
                  <c:v>8.5</c:v>
                </c:pt>
                <c:pt idx="6">
                  <c:v>7.1</c:v>
                </c:pt>
                <c:pt idx="7">
                  <c:v>24.1</c:v>
                </c:pt>
              </c:numCache>
            </c:numRef>
          </c:val>
          <c:smooth val="0"/>
        </c:ser>
        <c:ser>
          <c:idx val="1"/>
          <c:order val="1"/>
          <c:tx>
            <c:strRef>
              <c:f>Sheet1!$C$1</c:f>
              <c:strCache>
                <c:ptCount val="1"/>
                <c:pt idx="0">
                  <c:v>Llama-3.1-8B (vs Q8_0)</c:v>
                </c:pt>
              </c:strCache>
            </c:strRef>
          </c:tx>
          <c:spPr>
            <a:solidFill>
              <a:srgbClr val="D1495B"/>
            </a:solidFill>
            <a:ln w="381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D1495B"/>
              </a:solidFill>
              <a:ln w="9525" cap="flat">
                <a:solidFill>
                  <a:srgbClr val="D1495B"/>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26.2</c:v>
                </c:pt>
                <c:pt idx="1">
                  <c:v>9.2</c:v>
                </c:pt>
                <c:pt idx="2">
                  <c:v>9.9</c:v>
                </c:pt>
                <c:pt idx="3">
                  <c:v>11.3</c:v>
                </c:pt>
                <c:pt idx="4">
                  <c:v>10</c:v>
                </c:pt>
                <c:pt idx="5">
                  <c:v>7.4</c:v>
                </c:pt>
                <c:pt idx="6">
                  <c:v>7.6</c:v>
                </c:pt>
                <c:pt idx="7">
                  <c:v>18.4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Llama-3.1-8B exhaustive front (speed simulated)</a:t>
            </a:r>
          </a:p>
        </c:rich>
      </c:tx>
      <c:layout/>
      <c:overlay val="0"/>
    </c:title>
    <c:autoTitleDeleted val="0"/>
    <c:plotArea>
      <c:layout/>
      <c:scatterChart>
        <c:scatterStyle val="lineMarker"/>
        <c:varyColors val="0"/>
        <c:ser>
          <c:idx val="0"/>
          <c:order val="0"/>
          <c:tx>
            <c:strRef>
              <c:f>Sheet1!$B$1</c:f>
              <c:strCache>
                <c:ptCount val="1"/>
                <c:pt idx="0">
                  <c:v>True Pareto front (all 256 genomes)</c:v>
                </c:pt>
              </c:strCache>
            </c:strRef>
          </c:tx>
          <c:spPr>
            <a:solidFill>
              <a:srgbClr val="0A7EA4"/>
            </a:solidFill>
            <a:ln w="25400" cap="flat">
              <a:solidFill>
                <a:srgbClr val="0A7EA4"/>
              </a:solidFill>
              <a:prstDash val="solid"/>
              <a:round/>
            </a:ln>
            <a:effectLst/>
          </c:spPr>
          <c:marker>
            <c:symbol val="circle"/>
            <c:size val="10"/>
            <c:spPr>
              <a:solidFill>
                <a:srgbClr val="0A7EA4"/>
              </a:solidFill>
              <a:ln w="9525" cap="flat">
                <a:solidFill>
                  <a:srgbClr val="0A7EA4"/>
                </a:solidFill>
                <a:prstDash val="solid"/>
                <a:round/>
              </a:ln>
              <a:effectLst/>
            </c:spPr>
          </c:marker>
          <c:xVal>
            <c:numRef>
              <c:f>Sheet1!$A$2:$A$10</c:f>
              <c:numCache>
                <c:formatCode>General</c:formatCode>
                <c:ptCount val="9"/>
                <c:pt idx="0">
                  <c:v>0</c:v>
                </c:pt>
                <c:pt idx="1">
                  <c:v>0.346</c:v>
                </c:pt>
                <c:pt idx="2">
                  <c:v>0.698</c:v>
                </c:pt>
                <c:pt idx="3">
                  <c:v>1.116</c:v>
                </c:pt>
                <c:pt idx="4">
                  <c:v>1.565</c:v>
                </c:pt>
                <c:pt idx="5">
                  <c:v>2.038</c:v>
                </c:pt>
                <c:pt idx="6">
                  <c:v>2.581</c:v>
                </c:pt>
                <c:pt idx="7">
                  <c:v>3.38</c:v>
                </c:pt>
                <c:pt idx="8">
                  <c:v>4.371</c:v>
                </c:pt>
              </c:numCache>
            </c:numRef>
          </c:xVal>
          <c:yVal>
            <c:numRef>
              <c:f>Sheet1!$B$2:$B$10</c:f>
              <c:numCache>
                <c:formatCode>General</c:formatCode>
                <c:ptCount val="9"/>
                <c:pt idx="0">
                  <c:v>0</c:v>
                </c:pt>
                <c:pt idx="1">
                  <c:v>5.2</c:v>
                </c:pt>
                <c:pt idx="2">
                  <c:v>10.9</c:v>
                </c:pt>
                <c:pt idx="3">
                  <c:v>17.2</c:v>
                </c:pt>
                <c:pt idx="4">
                  <c:v>24.4</c:v>
                </c:pt>
                <c:pt idx="5">
                  <c:v>32.5</c:v>
                </c:pt>
                <c:pt idx="6">
                  <c:v>41.7</c:v>
                </c:pt>
                <c:pt idx="7">
                  <c:v>52.2</c:v>
                </c:pt>
                <c:pt idx="8">
                  <c:v>64.5</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 perplexity increase, measured)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simulated decode gain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SmolLM2-360M Q8_0 under QEMU: KL divergence (nats)</a:t>
            </a:r>
          </a:p>
        </c:rich>
      </c:tx>
      <c:layout/>
      <c:overlay val="0"/>
    </c:title>
    <c:autoTitleDeleted val="0"/>
    <c:plotArea>
      <c:layout/>
      <c:barChart>
        <c:barDir val="col"/>
        <c:grouping val="clustered"/>
        <c:varyColors val="0"/>
        <c:ser>
          <c:idx val="0"/>
          <c:order val="0"/>
          <c:tx>
            <c:strRef>
              <c:f>Sheet1!$B$1</c:f>
              <c:strCache>
                <c:ptCount val="1"/>
                <c:pt idx="0">
                  <c:v>Q8_0 KL divergence vs x86 F16 logits</c:v>
                </c:pt>
              </c:strCache>
            </c:strRef>
          </c:tx>
          <c:spPr>
            <a:solidFill>
              <a:srgbClr val="6C7A89"/>
            </a:solidFill>
            <a:effectLst/>
          </c:spPr>
          <c:invertIfNegative val="0"/>
          <c:dLbls>
            <c:numFmt formatCode="0.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6C7A89"/>
              </a:solidFill>
              <a:effectLst/>
            </c:spPr>
          </c:dPt>
          <c:dPt>
            <c:idx val="2"/>
            <c:invertIfNegative val="0"/>
            <c:bubble3D val="0"/>
            <c:spPr>
              <a:solidFill>
                <a:srgbClr val="6C7A89"/>
              </a:solidFill>
              <a:effectLst/>
            </c:spPr>
          </c:dPt>
          <c:dPt>
            <c:idx val="3"/>
            <c:invertIfNegative val="0"/>
            <c:bubble3D val="0"/>
            <c:spPr>
              <a:solidFill>
                <a:srgbClr val="6C7A89"/>
              </a:solidFill>
              <a:effectLst/>
            </c:spPr>
          </c:dPt>
          <c:dPt>
            <c:idx val="4"/>
            <c:invertIfNegative val="0"/>
            <c:bubble3D val="0"/>
            <c:spPr>
              <a:solidFill>
                <a:srgbClr val="D1495B"/>
              </a:solidFill>
              <a:effectLst/>
            </c:spPr>
          </c:dPt>
          <c:cat>
            <c:multiLvlStrRef>
              <c:f>Sheet1!$A$2:$A$6</c:f>
              <c:multiLvlStrCache>
                <c:ptCount val="5"/>
                <c:lvl>
                  <c:pt idx="0">
                    <c:v>x86 AVX512</c:v>
                  </c:pt>
                  <c:pt idx="1">
                    <c:v>NEON generic</c:v>
                  </c:pt>
                  <c:pt idx="2">
                    <c:v>+I8MM</c:v>
                  </c:pt>
                  <c:pt idx="3">
                    <c:v>+SVE</c:v>
                  </c:pt>
                  <c:pt idx="4">
                    <c:v>KleidiAI</c:v>
                  </c:pt>
                </c:lvl>
              </c:multiLvlStrCache>
            </c:multiLvlStrRef>
          </c:cat>
          <c:val>
            <c:numRef>
              <c:f>Sheet1!$B$2:$B$6</c:f>
              <c:numCache>
                <c:formatCode>General</c:formatCode>
                <c:ptCount val="5"/>
                <c:pt idx="0">
                  <c:v>0.00389</c:v>
                </c:pt>
                <c:pt idx="1">
                  <c:v>0.00403</c:v>
                </c:pt>
                <c:pt idx="2">
                  <c:v>0.00383</c:v>
                </c:pt>
                <c:pt idx="3">
                  <c:v>0.00435</c:v>
                </c:pt>
                <c:pt idx="4">
                  <c:v>0.03268</c:v>
                </c:pt>
              </c:numCache>
            </c:numRef>
          </c:val>
        </c:ser>
        <c:dLbls>
          <c:numFmt formatCode="0.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Arm port of the evolutionary quantization project: what was built, what was measured, what was learned. Tiers T0-T2 (free) are done; Graviton (T3) and Apple M4 (T4) are the next paid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the target role's requirements to what the project demonstrates. Profiling and the real power measurements are the parts still to be done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from the base project on the RTX 3080 with bitsandbytes. The last box is an honest correction made during this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genome keeps the same shape as the GPU project, so the search machinery carried over. The GGUF assembler replaces bitsandbytes module substitution because bitsandbytes does not run on Arm or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badges are complete. The Mac is $40/day with a 24-hour minimum, so every check that does not need M4 hardware was moved to the desktop, the 3080 or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sensitivity sweep used perplexity differences and was unusable. Switching to KL divergence (llama-perplexity --kl-divergence) fixed it. Accuracy penalty is defined as exp(KLD) - 1, the expected fractional perplexity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KL-divergence sensitivity tables. Q8_0 is almost exactly additive (single-block sum 0.068% vs uniform 0.067%). Q4_0 is mildly super-additive. The CPU build reproduces the CUDA Q4_0 profile with Spearman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similarity criteria: edge blocks most sensitive in each model (partly met), profile rank correlation (0.55, moderate). The Pareto-front and genome-shape criteria need the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256 genomes of the 8B model were measured (real KL-divergence accuracy), giving the exact Pareto front. Speed and energy in these dry runs come from a simulated Arm model driven by real tensor sizes and are not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Cross-compiled aarch64 llama.cpp builds run under QEMU user-mode; correctness only. The M4 build uses KleidiAI by default, so Q8_0 accuracy must be measured on the target with KleidiAI on. SME2 could not be tested because QEMU 8.2.2 lacks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is checked against an independent double-precision oracle with the standard rounding-error bound. The NEON kernels are then required to match the reference exactly. The mutation check proves the test can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four lessons and the concrete next steps. The limits are stated explicitly so the results are not over-read.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rtlCol="0"/>
          <a:lstStyle>
            <a:lvl1pPr algn="l" indent="0" marL="0">
              <a:buNone/>
              <a:defRPr lang="en-US" sz="2000" dirty="0">
                <a:solidFill>
                  <a:schemeClr val="bg2"/>
                </a:solidFill>
                <a:latin typeface="+mn-lt" pitchFamily="34" charset="0"/>
                <a:ea typeface="+mn-lt" pitchFamily="34" charset="-122"/>
                <a:cs typeface="+mn-lt"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2"/>
                </a:solidFill>
                <a:latin typeface="+mj-lt" pitchFamily="34" charset="0"/>
                <a:ea typeface="+mj-lt" pitchFamily="34" charset="-122"/>
                <a:cs typeface="+mj-lt" pitchFamily="34" charset="-120"/>
              </a:defRPr>
            </a:lvl1pPr>
          </a:lstStyle>
          <a:p>
            <a:pPr algn="l" indent="0" marL="0">
              <a:buNone/>
            </a:pPr>
            <a:endParaRPr lang="en-US" sz="28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Evol_inference  |  Arm port (branch mac-m4)</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latin typeface="+mj-lt" pitchFamily="34" charset="0"/>
                <a:ea typeface="+mj-lt" pitchFamily="34" charset="-122"/>
                <a:cs typeface="+mj-lt"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lIns="0" tIns="0" rIns="0" bIns="0" rtlCol="0" anchor="t"/>
          <a:lstStyle/>
          <a:p>
            <a:pPr algn="l" indent="0" marL="0">
              <a:buNone/>
            </a:pPr>
            <a:r>
              <a:rPr lang="en-US" sz="4400" b="1" dirty="0">
                <a:solidFill>
                  <a:schemeClr val="bg1"/>
                </a:solidFill>
                <a:latin typeface="+mj-lt" pitchFamily="34" charset="0"/>
                <a:ea typeface="+mj-lt" pitchFamily="34" charset="-122"/>
                <a:cs typeface="+mj-lt" pitchFamily="34" charset="-120"/>
              </a:rPr>
              <a:t>Evol_inference on Arm</a:t>
            </a: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lIns="0" tIns="0" rIns="0" bIns="0" rtlCol="0" anchor="t"/>
          <a:lstStyle/>
          <a:p>
            <a:pPr algn="l" indent="0" marL="0">
              <a:buNone/>
            </a:pPr>
            <a:r>
              <a:rPr lang="en-US" sz="2000" dirty="0">
                <a:solidFill>
                  <a:schemeClr val="bg2"/>
                </a:solidFill>
                <a:latin typeface="+mn-lt" pitchFamily="34" charset="0"/>
                <a:ea typeface="+mn-lt" pitchFamily="34" charset="-122"/>
                <a:cs typeface="+mn-lt" pitchFamily="34" charset="-120"/>
              </a:rPr>
              <a:t>Multi-objective quantization search for LLM inference: accuracy, speed and power on Arm CPUs</a:t>
            </a:r>
            <a:endParaRPr lang="en-US" sz="2000" dirty="0"/>
          </a:p>
        </p:txBody>
      </p:sp>
      <p:sp>
        <p:nvSpPr>
          <p:cNvPr id="4" name="status line"/>
          <p:cNvSpPr txBox="1"/>
          <p:nvPr/>
        </p:nvSpPr>
        <p:spPr>
          <a:xfrm>
            <a:off x="731520" y="5760720"/>
            <a:ext cx="8686800" cy="457200"/>
          </a:xfrm>
          <a:prstGeom prst="rect">
            <a:avLst/>
          </a:prstGeom>
          <a:noFill/>
          <a:ln/>
        </p:spPr>
        <p:txBody>
          <a:bodyPr wrap="square" lIns="0" tIns="0" rIns="0" bIns="0" rtlCol="0" anchor="ctr"/>
          <a:lstStyle/>
          <a:p>
            <a:pPr indent="0" marL="0">
              <a:buNone/>
            </a:pPr>
            <a:r>
              <a:rPr lang="en-US" sz="1400" dirty="0">
                <a:solidFill>
                  <a:schemeClr val="accent2"/>
                </a:solidFill>
                <a:latin typeface="Calibri" pitchFamily="34" charset="0"/>
                <a:ea typeface="Calibri" pitchFamily="34" charset="-122"/>
                <a:cs typeface="Calibri" pitchFamily="34" charset="-120"/>
              </a:rPr>
              <a:t>Branch mac-m4  |  tiers T0-T2 complete (desktop, RTX 3080, aarch64 emulation)  |  AWS Graviton and Apple M4 runs pending</a:t>
            </a:r>
            <a:endParaRPr lang="en-US" sz="1400" dirty="0"/>
          </a:p>
        </p:txBody>
      </p:sp>
      <p:sp>
        <p:nvSpPr>
          <p:cNvPr id="5" name="title motif circle"/>
          <p:cNvSpPr/>
          <p:nvPr/>
        </p:nvSpPr>
        <p:spPr>
          <a:xfrm>
            <a:off x="9052560" y="1554480"/>
            <a:ext cx="2743200" cy="2743200"/>
          </a:xfrm>
          <a:prstGeom prst="ellipse">
            <a:avLst/>
          </a:prstGeom>
          <a:solidFill>
            <a:schemeClr val="accent1"/>
          </a:solidFill>
          <a:ln w="12700">
            <a:solidFill>
              <a:schemeClr val="accent1"/>
            </a:solidFill>
            <a:prstDash val="solid"/>
          </a:ln>
        </p:spPr>
      </p:sp>
      <p:pic>
        <p:nvPicPr>
          <p:cNvPr id="6" name="title motif chip" descr="preencoded.png">    </p:cNvPr>
          <p:cNvPicPr>
            <a:picLocks noChangeAspect="1"/>
          </p:cNvPicPr>
          <p:nvPr/>
        </p:nvPicPr>
        <p:blipFill>
          <a:blip r:embed="rId1"/>
          <a:stretch>
            <a:fillRect/>
          </a:stretch>
        </p:blipFill>
        <p:spPr>
          <a:xfrm>
            <a:off x="9646920" y="2148840"/>
            <a:ext cx="1554480" cy="1554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goal: tune LLM inference on Arm, and prove it with measurements</a:t>
            </a:r>
            <a:endParaRPr lang="en-US" sz="2800" dirty="0"/>
          </a:p>
        </p:txBody>
      </p:sp>
      <p:sp>
        <p:nvSpPr>
          <p:cNvPr id="3" name="row card 1"/>
          <p:cNvSpPr/>
          <p:nvPr/>
        </p:nvSpPr>
        <p:spPr>
          <a:xfrm>
            <a:off x="548640" y="1417320"/>
            <a:ext cx="11064240" cy="822960"/>
          </a:xfrm>
          <a:prstGeom prst="roundRect">
            <a:avLst>
              <a:gd name="adj" fmla="val 8889"/>
            </a:avLst>
          </a:prstGeom>
          <a:solidFill>
            <a:schemeClr val="bg2"/>
          </a:solidFill>
          <a:ln w="12700">
            <a:solidFill>
              <a:schemeClr val="bg2"/>
            </a:solidFill>
            <a:prstDash val="solid"/>
          </a:ln>
        </p:spPr>
      </p:sp>
      <p:sp>
        <p:nvSpPr>
          <p:cNvPr id="4" name="row 1 circle"/>
          <p:cNvSpPr/>
          <p:nvPr/>
        </p:nvSpPr>
        <p:spPr>
          <a:xfrm>
            <a:off x="731520" y="1527048"/>
            <a:ext cx="603504" cy="603504"/>
          </a:xfrm>
          <a:prstGeom prst="ellipse">
            <a:avLst/>
          </a:prstGeom>
          <a:solidFill>
            <a:srgbClr val="0A7EA4"/>
          </a:solidFill>
          <a:ln w="12700">
            <a:solidFill>
              <a:srgbClr val="0A7EA4"/>
            </a:solidFill>
            <a:prstDash val="solid"/>
          </a:ln>
        </p:spPr>
      </p:sp>
      <p:pic>
        <p:nvPicPr>
          <p:cNvPr id="5" name="row 1 icon" descr="preencoded.png">    </p:cNvPr>
          <p:cNvPicPr>
            <a:picLocks noChangeAspect="1"/>
          </p:cNvPicPr>
          <p:nvPr/>
        </p:nvPicPr>
        <p:blipFill>
          <a:blip r:embed="rId1"/>
          <a:stretch>
            <a:fillRect/>
          </a:stretch>
        </p:blipFill>
        <p:spPr>
          <a:xfrm>
            <a:off x="882396" y="1677924"/>
            <a:ext cx="301752" cy="301752"/>
          </a:xfrm>
          <a:prstGeom prst="rect">
            <a:avLst/>
          </a:prstGeom>
        </p:spPr>
      </p:pic>
      <p:sp>
        <p:nvSpPr>
          <p:cNvPr id="6" name="row 1 head"/>
          <p:cNvSpPr txBox="1"/>
          <p:nvPr/>
        </p:nvSpPr>
        <p:spPr>
          <a:xfrm>
            <a:off x="1600200" y="149047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Kernel-level optimization</a:t>
            </a:r>
            <a:endParaRPr lang="en-US" sz="1800" dirty="0"/>
          </a:p>
        </p:txBody>
      </p:sp>
      <p:sp>
        <p:nvSpPr>
          <p:cNvPr id="7" name="row 1 body"/>
          <p:cNvSpPr txBox="1"/>
          <p:nvPr/>
        </p:nvSpPr>
        <p:spPr>
          <a:xfrm>
            <a:off x="4937760" y="149047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Hand-written NEON SDOT and SMMLA dot-product kernels for the Q8_0 and Q4_0 formats the search chooses between</a:t>
            </a:r>
            <a:endParaRPr lang="en-US" sz="1500" dirty="0"/>
          </a:p>
        </p:txBody>
      </p:sp>
      <p:sp>
        <p:nvSpPr>
          <p:cNvPr id="8" name="row card 2"/>
          <p:cNvSpPr/>
          <p:nvPr/>
        </p:nvSpPr>
        <p:spPr>
          <a:xfrm>
            <a:off x="548640" y="2377440"/>
            <a:ext cx="11064240" cy="822960"/>
          </a:xfrm>
          <a:prstGeom prst="roundRect">
            <a:avLst>
              <a:gd name="adj" fmla="val 8889"/>
            </a:avLst>
          </a:prstGeom>
          <a:solidFill>
            <a:schemeClr val="bg2"/>
          </a:solidFill>
          <a:ln w="12700">
            <a:solidFill>
              <a:schemeClr val="bg2"/>
            </a:solidFill>
            <a:prstDash val="solid"/>
          </a:ln>
        </p:spPr>
      </p:sp>
      <p:sp>
        <p:nvSpPr>
          <p:cNvPr id="9" name="row 2 circle"/>
          <p:cNvSpPr/>
          <p:nvPr/>
        </p:nvSpPr>
        <p:spPr>
          <a:xfrm>
            <a:off x="731520" y="2487168"/>
            <a:ext cx="603504" cy="603504"/>
          </a:xfrm>
          <a:prstGeom prst="ellipse">
            <a:avLst/>
          </a:prstGeom>
          <a:solidFill>
            <a:srgbClr val="2E9E8A"/>
          </a:solidFill>
          <a:ln w="12700">
            <a:solidFill>
              <a:srgbClr val="2E9E8A"/>
            </a:solidFill>
            <a:prstDash val="solid"/>
          </a:ln>
        </p:spPr>
      </p:sp>
      <p:pic>
        <p:nvPicPr>
          <p:cNvPr id="10" name="row 2 icon" descr="preencoded.png">    </p:cNvPr>
          <p:cNvPicPr>
            <a:picLocks noChangeAspect="1"/>
          </p:cNvPicPr>
          <p:nvPr/>
        </p:nvPicPr>
        <p:blipFill>
          <a:blip r:embed="rId2"/>
          <a:stretch>
            <a:fillRect/>
          </a:stretch>
        </p:blipFill>
        <p:spPr>
          <a:xfrm>
            <a:off x="882396" y="2638044"/>
            <a:ext cx="301752" cy="301752"/>
          </a:xfrm>
          <a:prstGeom prst="rect">
            <a:avLst/>
          </a:prstGeom>
        </p:spPr>
      </p:pic>
      <p:sp>
        <p:nvSpPr>
          <p:cNvPr id="11" name="row 2 head"/>
          <p:cNvSpPr txBox="1"/>
          <p:nvPr/>
        </p:nvSpPr>
        <p:spPr>
          <a:xfrm>
            <a:off x="1600200" y="245059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Arm AI software stack</a:t>
            </a:r>
            <a:endParaRPr lang="en-US" sz="1800" dirty="0"/>
          </a:p>
        </p:txBody>
      </p:sp>
      <p:sp>
        <p:nvSpPr>
          <p:cNvPr id="12" name="row 2 body"/>
          <p:cNvSpPr txBox="1"/>
          <p:nvPr/>
        </p:nvSpPr>
        <p:spPr>
          <a:xfrm>
            <a:off x="4937760" y="245059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llama.cpp with KleidiAI micro-kernels; NEON, dotprod, I8MM, SVE and SME code paths identified per run</a:t>
            </a:r>
            <a:endParaRPr lang="en-US" sz="1500" dirty="0"/>
          </a:p>
        </p:txBody>
      </p:sp>
      <p:sp>
        <p:nvSpPr>
          <p:cNvPr id="13" name="row card 3"/>
          <p:cNvSpPr/>
          <p:nvPr/>
        </p:nvSpPr>
        <p:spPr>
          <a:xfrm>
            <a:off x="548640" y="3337560"/>
            <a:ext cx="11064240" cy="822960"/>
          </a:xfrm>
          <a:prstGeom prst="roundRect">
            <a:avLst>
              <a:gd name="adj" fmla="val 8889"/>
            </a:avLst>
          </a:prstGeom>
          <a:solidFill>
            <a:schemeClr val="bg2"/>
          </a:solidFill>
          <a:ln w="12700">
            <a:solidFill>
              <a:schemeClr val="bg2"/>
            </a:solidFill>
            <a:prstDash val="solid"/>
          </a:ln>
        </p:spPr>
      </p:sp>
      <p:sp>
        <p:nvSpPr>
          <p:cNvPr id="14" name="row 3 circle"/>
          <p:cNvSpPr/>
          <p:nvPr/>
        </p:nvSpPr>
        <p:spPr>
          <a:xfrm>
            <a:off x="731520" y="3447288"/>
            <a:ext cx="603504" cy="603504"/>
          </a:xfrm>
          <a:prstGeom prst="ellipse">
            <a:avLst/>
          </a:prstGeom>
          <a:solidFill>
            <a:srgbClr val="F2A541"/>
          </a:solidFill>
          <a:ln w="12700">
            <a:solidFill>
              <a:srgbClr val="F2A541"/>
            </a:solidFill>
            <a:prstDash val="solid"/>
          </a:ln>
        </p:spPr>
      </p:sp>
      <p:pic>
        <p:nvPicPr>
          <p:cNvPr id="15" name="row 3 icon" descr="preencoded.png">    </p:cNvPr>
          <p:cNvPicPr>
            <a:picLocks noChangeAspect="1"/>
          </p:cNvPicPr>
          <p:nvPr/>
        </p:nvPicPr>
        <p:blipFill>
          <a:blip r:embed="rId3"/>
          <a:stretch>
            <a:fillRect/>
          </a:stretch>
        </p:blipFill>
        <p:spPr>
          <a:xfrm>
            <a:off x="882396" y="3598164"/>
            <a:ext cx="301752" cy="301752"/>
          </a:xfrm>
          <a:prstGeom prst="rect">
            <a:avLst/>
          </a:prstGeom>
        </p:spPr>
      </p:pic>
      <p:sp>
        <p:nvSpPr>
          <p:cNvPr id="16" name="row 3 head"/>
          <p:cNvSpPr txBox="1"/>
          <p:nvPr/>
        </p:nvSpPr>
        <p:spPr>
          <a:xfrm>
            <a:off x="1600200" y="341071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Performance and power together</a:t>
            </a:r>
            <a:endParaRPr lang="en-US" sz="1800" dirty="0"/>
          </a:p>
        </p:txBody>
      </p:sp>
      <p:sp>
        <p:nvSpPr>
          <p:cNvPr id="17" name="row 3 body"/>
          <p:cNvSpPr txBox="1"/>
          <p:nvPr/>
        </p:nvSpPr>
        <p:spPr>
          <a:xfrm>
            <a:off x="4937760" y="341071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Three objectives: accuracy loss, decode speed, energy per token, searched as a Pareto front</a:t>
            </a:r>
            <a:endParaRPr lang="en-US" sz="1500" dirty="0"/>
          </a:p>
        </p:txBody>
      </p:sp>
      <p:sp>
        <p:nvSpPr>
          <p:cNvPr id="18" name="row card 4"/>
          <p:cNvSpPr/>
          <p:nvPr/>
        </p:nvSpPr>
        <p:spPr>
          <a:xfrm>
            <a:off x="548640" y="4297680"/>
            <a:ext cx="11064240" cy="822960"/>
          </a:xfrm>
          <a:prstGeom prst="roundRect">
            <a:avLst>
              <a:gd name="adj" fmla="val 8889"/>
            </a:avLst>
          </a:prstGeom>
          <a:solidFill>
            <a:schemeClr val="bg2"/>
          </a:solidFill>
          <a:ln w="12700">
            <a:solidFill>
              <a:schemeClr val="bg2"/>
            </a:solidFill>
            <a:prstDash val="solid"/>
          </a:ln>
        </p:spPr>
      </p:sp>
      <p:sp>
        <p:nvSpPr>
          <p:cNvPr id="19" name="row 4 circle"/>
          <p:cNvSpPr/>
          <p:nvPr/>
        </p:nvSpPr>
        <p:spPr>
          <a:xfrm>
            <a:off x="731520" y="4407408"/>
            <a:ext cx="603504" cy="603504"/>
          </a:xfrm>
          <a:prstGeom prst="ellipse">
            <a:avLst/>
          </a:prstGeom>
          <a:solidFill>
            <a:srgbClr val="7B6FB5"/>
          </a:solidFill>
          <a:ln w="12700">
            <a:solidFill>
              <a:srgbClr val="7B6FB5"/>
            </a:solidFill>
            <a:prstDash val="solid"/>
          </a:ln>
        </p:spPr>
      </p:sp>
      <p:pic>
        <p:nvPicPr>
          <p:cNvPr id="20" name="row 4 icon" descr="preencoded.png">    </p:cNvPr>
          <p:cNvPicPr>
            <a:picLocks noChangeAspect="1"/>
          </p:cNvPicPr>
          <p:nvPr/>
        </p:nvPicPr>
        <p:blipFill>
          <a:blip r:embed="rId4"/>
          <a:stretch>
            <a:fillRect/>
          </a:stretch>
        </p:blipFill>
        <p:spPr>
          <a:xfrm>
            <a:off x="882396" y="4558284"/>
            <a:ext cx="301752" cy="301752"/>
          </a:xfrm>
          <a:prstGeom prst="rect">
            <a:avLst/>
          </a:prstGeom>
        </p:spPr>
      </p:pic>
      <p:sp>
        <p:nvSpPr>
          <p:cNvPr id="21" name="row 4 head"/>
          <p:cNvSpPr txBox="1"/>
          <p:nvPr/>
        </p:nvSpPr>
        <p:spPr>
          <a:xfrm>
            <a:off x="1600200" y="437083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Profiling and analysis</a:t>
            </a:r>
            <a:endParaRPr lang="en-US" sz="1800" dirty="0"/>
          </a:p>
        </p:txBody>
      </p:sp>
      <p:sp>
        <p:nvSpPr>
          <p:cNvPr id="22" name="row 4 body"/>
          <p:cNvSpPr txBox="1"/>
          <p:nvPr/>
        </p:nvSpPr>
        <p:spPr>
          <a:xfrm>
            <a:off x="4937760" y="437083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Roofline, perf counters and powermetrics planned for the Graviton and M4 runs</a:t>
            </a:r>
            <a:endParaRPr lang="en-US" sz="1500" dirty="0"/>
          </a:p>
        </p:txBody>
      </p:sp>
      <p:sp>
        <p:nvSpPr>
          <p:cNvPr id="23" name="row card 5"/>
          <p:cNvSpPr/>
          <p:nvPr/>
        </p:nvSpPr>
        <p:spPr>
          <a:xfrm>
            <a:off x="548640" y="5257800"/>
            <a:ext cx="11064240" cy="822960"/>
          </a:xfrm>
          <a:prstGeom prst="roundRect">
            <a:avLst>
              <a:gd name="adj" fmla="val 8889"/>
            </a:avLst>
          </a:prstGeom>
          <a:solidFill>
            <a:schemeClr val="bg2"/>
          </a:solidFill>
          <a:ln w="12700">
            <a:solidFill>
              <a:schemeClr val="bg2"/>
            </a:solidFill>
            <a:prstDash val="solid"/>
          </a:ln>
        </p:spPr>
      </p:sp>
      <p:sp>
        <p:nvSpPr>
          <p:cNvPr id="24" name="row 5 circle"/>
          <p:cNvSpPr/>
          <p:nvPr/>
        </p:nvSpPr>
        <p:spPr>
          <a:xfrm>
            <a:off x="731520" y="5367528"/>
            <a:ext cx="603504" cy="603504"/>
          </a:xfrm>
          <a:prstGeom prst="ellipse">
            <a:avLst/>
          </a:prstGeom>
          <a:solidFill>
            <a:srgbClr val="6C7A89"/>
          </a:solidFill>
          <a:ln w="12700">
            <a:solidFill>
              <a:srgbClr val="6C7A89"/>
            </a:solidFill>
            <a:prstDash val="solid"/>
          </a:ln>
        </p:spPr>
      </p:sp>
      <p:pic>
        <p:nvPicPr>
          <p:cNvPr id="25" name="row 5 icon" descr="preencoded.png">    </p:cNvPr>
          <p:cNvPicPr>
            <a:picLocks noChangeAspect="1"/>
          </p:cNvPicPr>
          <p:nvPr/>
        </p:nvPicPr>
        <p:blipFill>
          <a:blip r:embed="rId5"/>
          <a:stretch>
            <a:fillRect/>
          </a:stretch>
        </p:blipFill>
        <p:spPr>
          <a:xfrm>
            <a:off x="882396" y="5518404"/>
            <a:ext cx="301752" cy="301752"/>
          </a:xfrm>
          <a:prstGeom prst="rect">
            <a:avLst/>
          </a:prstGeom>
        </p:spPr>
      </p:pic>
      <p:sp>
        <p:nvSpPr>
          <p:cNvPr id="26" name="row 5 head"/>
          <p:cNvSpPr txBox="1"/>
          <p:nvPr/>
        </p:nvSpPr>
        <p:spPr>
          <a:xfrm>
            <a:off x="1600200" y="533095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Clear communication</a:t>
            </a:r>
            <a:endParaRPr lang="en-US" sz="1800" dirty="0"/>
          </a:p>
        </p:txBody>
      </p:sp>
      <p:sp>
        <p:nvSpPr>
          <p:cNvPr id="27" name="row 5 body"/>
          <p:cNvSpPr txBox="1"/>
          <p:nvPr/>
        </p:nvSpPr>
        <p:spPr>
          <a:xfrm>
            <a:off x="4937760" y="533095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Reproducible harness, a decision log with null and revised results, and this deck</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Starting point: on the GPU, the proxy metric pointed the wrong way</a:t>
            </a:r>
            <a:endParaRPr lang="en-US" sz="2800" dirty="0"/>
          </a:p>
        </p:txBody>
      </p:sp>
      <p:sp>
        <p:nvSpPr>
          <p:cNvPr id="3" name="stat int4 value"/>
          <p:cNvSpPr txBox="1"/>
          <p:nvPr/>
        </p:nvSpPr>
        <p:spPr>
          <a:xfrm>
            <a:off x="548640" y="1463040"/>
            <a:ext cx="33832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-4.5%</a:t>
            </a:r>
            <a:endParaRPr lang="en-US" sz="4000" dirty="0"/>
          </a:p>
        </p:txBody>
      </p:sp>
      <p:sp>
        <p:nvSpPr>
          <p:cNvPr id="4" name="stat int4 label"/>
          <p:cNvSpPr txBox="1"/>
          <p:nvPr/>
        </p:nvSpPr>
        <p:spPr>
          <a:xfrm>
            <a:off x="5486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INT4 is the smallest model yet 4.5% slower than FP16 on the RTX 3080 (batch 1)</a:t>
            </a:r>
            <a:endParaRPr lang="en-US" sz="1400" dirty="0"/>
          </a:p>
        </p:txBody>
      </p:sp>
      <p:sp>
        <p:nvSpPr>
          <p:cNvPr id="5" name="stat int8 value"/>
          <p:cNvSpPr txBox="1"/>
          <p:nvPr/>
        </p:nvSpPr>
        <p:spPr>
          <a:xfrm>
            <a:off x="4206240" y="1463040"/>
            <a:ext cx="33832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+22%</a:t>
            </a:r>
            <a:endParaRPr lang="en-US" sz="4000" dirty="0"/>
          </a:p>
        </p:txBody>
      </p:sp>
      <p:sp>
        <p:nvSpPr>
          <p:cNvPr id="6" name="stat int8 label"/>
          <p:cNvSpPr txBox="1"/>
          <p:nvPr/>
        </p:nvSpPr>
        <p:spPr>
          <a:xfrm>
            <a:off x="42062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uniform INT8 is 22% faster than FP16: bytes saved did not predict latency</a:t>
            </a:r>
            <a:endParaRPr lang="en-US" sz="1400" dirty="0"/>
          </a:p>
        </p:txBody>
      </p:sp>
      <p:sp>
        <p:nvSpPr>
          <p:cNvPr id="7" name="stat weight value"/>
          <p:cNvSpPr txBox="1"/>
          <p:nvPr/>
        </p:nvSpPr>
        <p:spPr>
          <a:xfrm>
            <a:off x="7863840" y="1463040"/>
            <a:ext cx="37490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w &gt;= 0.8</a:t>
            </a:r>
            <a:endParaRPr lang="en-US" sz="4000" dirty="0"/>
          </a:p>
        </p:txBody>
      </p:sp>
      <p:sp>
        <p:nvSpPr>
          <p:cNvPr id="8" name="stat weight label"/>
          <p:cNvSpPr txBox="1"/>
          <p:nvPr/>
        </p:nvSpPr>
        <p:spPr>
          <a:xfrm>
            <a:off x="7863840" y="217627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accuracy weight at which the search first preferred a mixed genome over uniform INT8</a:t>
            </a:r>
            <a:endParaRPr lang="en-US" sz="1400" dirty="0"/>
          </a:p>
        </p:txBody>
      </p:sp>
      <p:sp>
        <p:nvSpPr>
          <p:cNvPr id="9" name="carry card"/>
          <p:cNvSpPr/>
          <p:nvPr/>
        </p:nvSpPr>
        <p:spPr>
          <a:xfrm>
            <a:off x="548640" y="3429000"/>
            <a:ext cx="5486400" cy="2651760"/>
          </a:xfrm>
          <a:prstGeom prst="roundRect">
            <a:avLst>
              <a:gd name="adj" fmla="val 2759"/>
            </a:avLst>
          </a:prstGeom>
          <a:solidFill>
            <a:schemeClr val="bg2"/>
          </a:solidFill>
          <a:ln w="12700">
            <a:solidFill>
              <a:schemeClr val="bg2"/>
            </a:solidFill>
            <a:prstDash val="solid"/>
          </a:ln>
        </p:spPr>
      </p:sp>
      <p:sp>
        <p:nvSpPr>
          <p:cNvPr id="10" name="carry head"/>
          <p:cNvSpPr txBox="1"/>
          <p:nvPr/>
        </p:nvSpPr>
        <p:spPr>
          <a:xfrm>
            <a:off x="777240" y="3566160"/>
            <a:ext cx="5029200" cy="41148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Carried over to Arm</a:t>
            </a:r>
            <a:endParaRPr lang="en-US" sz="2000" dirty="0"/>
          </a:p>
        </p:txBody>
      </p:sp>
      <p:sp>
        <p:nvSpPr>
          <p:cNvPr id="11" name="carry bullets"/>
          <p:cNvSpPr txBox="1"/>
          <p:nvPr/>
        </p:nvSpPr>
        <p:spPr>
          <a:xfrm>
            <a:off x="777240" y="4069080"/>
            <a:ext cx="5029200" cy="18288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Measure the cost model on the target silicon; never assume it</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fitness a pure function of the genome, normalized to a fixed baseline</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the asynchronous steady-state GA design</a:t>
            </a:r>
            <a:endParaRPr lang="en-US" sz="1600" dirty="0"/>
          </a:p>
        </p:txBody>
      </p:sp>
      <p:sp>
        <p:nvSpPr>
          <p:cNvPr id="12" name="revised card"/>
          <p:cNvSpPr/>
          <p:nvPr/>
        </p:nvSpPr>
        <p:spPr>
          <a:xfrm>
            <a:off x="6309360" y="3429000"/>
            <a:ext cx="5303520" cy="2651760"/>
          </a:xfrm>
          <a:prstGeom prst="roundRect">
            <a:avLst>
              <a:gd name="adj" fmla="val 2759"/>
            </a:avLst>
          </a:prstGeom>
          <a:solidFill>
            <a:schemeClr val="tx2"/>
          </a:solidFill>
          <a:ln w="12700">
            <a:solidFill>
              <a:schemeClr val="tx2"/>
            </a:solidFill>
            <a:prstDash val="solid"/>
          </a:ln>
        </p:spPr>
      </p:sp>
      <p:sp>
        <p:nvSpPr>
          <p:cNvPr id="13" name="revised head"/>
          <p:cNvSpPr txBox="1"/>
          <p:nvPr/>
        </p:nvSpPr>
        <p:spPr>
          <a:xfrm>
            <a:off x="6537960" y="3566160"/>
            <a:ext cx="484632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libri" pitchFamily="34" charset="0"/>
                <a:ea typeface="Calibri" pitchFamily="34" charset="-122"/>
                <a:cs typeface="Calibri" pitchFamily="34" charset="-120"/>
              </a:rPr>
              <a:t>Revised since</a:t>
            </a:r>
            <a:endParaRPr lang="en-US" sz="2000" dirty="0"/>
          </a:p>
        </p:txBody>
      </p:sp>
      <p:sp>
        <p:nvSpPr>
          <p:cNvPr id="14" name="revised text"/>
          <p:cNvSpPr txBox="1"/>
          <p:nvPr/>
        </p:nvSpPr>
        <p:spPr>
          <a:xfrm>
            <a:off x="6537960" y="4069080"/>
            <a:ext cx="4846320" cy="18288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The per-block magnitudes in the GPU write-up (block 0 carrying 70% of INT8 cost) came from perplexity deltas that proved noisy at this scale. The corrected values are on slides 6 and 7.</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Approach: search per-block precision against three objectives</a:t>
            </a:r>
            <a:endParaRPr lang="en-US" sz="2800" dirty="0"/>
          </a:p>
        </p:txBody>
      </p:sp>
      <p:sp>
        <p:nvSpPr>
          <p:cNvPr id="3" name="pipeline box 1"/>
          <p:cNvSpPr/>
          <p:nvPr/>
        </p:nvSpPr>
        <p:spPr>
          <a:xfrm>
            <a:off x="548640" y="1554480"/>
            <a:ext cx="2057400" cy="2377440"/>
          </a:xfrm>
          <a:prstGeom prst="roundRect">
            <a:avLst>
              <a:gd name="adj" fmla="val 3556"/>
            </a:avLst>
          </a:prstGeom>
          <a:solidFill>
            <a:srgbClr val="0A7EA4"/>
          </a:solidFill>
          <a:ln w="12700">
            <a:solidFill>
              <a:srgbClr val="0A7EA4"/>
            </a:solidFill>
            <a:prstDash val="solid"/>
          </a:ln>
        </p:spPr>
      </p:sp>
      <p:sp>
        <p:nvSpPr>
          <p:cNvPr id="4" name="pipeline head 1"/>
          <p:cNvSpPr txBox="1"/>
          <p:nvPr/>
        </p:nvSpPr>
        <p:spPr>
          <a:xfrm>
            <a:off x="68580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Genome</a:t>
            </a:r>
            <a:endParaRPr lang="en-US" sz="1900" dirty="0"/>
          </a:p>
        </p:txBody>
      </p:sp>
      <p:sp>
        <p:nvSpPr>
          <p:cNvPr id="5" name="pipeline text 1"/>
          <p:cNvSpPr txBox="1"/>
          <p:nvPr/>
        </p:nvSpPr>
        <p:spPr>
          <a:xfrm>
            <a:off x="68580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8 genes, one per super-block of layers. Each gene: F16, Q8_0 or Q4_0</a:t>
            </a:r>
            <a:endParaRPr lang="en-US" sz="1400" dirty="0"/>
          </a:p>
        </p:txBody>
      </p:sp>
      <p:sp>
        <p:nvSpPr>
          <p:cNvPr id="6" name="pipeline arrow 1"/>
          <p:cNvSpPr/>
          <p:nvPr/>
        </p:nvSpPr>
        <p:spPr>
          <a:xfrm>
            <a:off x="2615184" y="2743200"/>
            <a:ext cx="164592" cy="0"/>
          </a:xfrm>
          <a:prstGeom prst="line">
            <a:avLst/>
          </a:prstGeom>
          <a:noFill/>
          <a:ln w="25400">
            <a:solidFill>
              <a:srgbClr val="10212B"/>
            </a:solidFill>
            <a:prstDash val="solid"/>
            <a:tailEnd type="triangle"/>
          </a:ln>
        </p:spPr>
      </p:sp>
      <p:sp>
        <p:nvSpPr>
          <p:cNvPr id="7" name="pipeline box 2"/>
          <p:cNvSpPr/>
          <p:nvPr/>
        </p:nvSpPr>
        <p:spPr>
          <a:xfrm>
            <a:off x="2788920" y="1554480"/>
            <a:ext cx="2057400" cy="2377440"/>
          </a:xfrm>
          <a:prstGeom prst="roundRect">
            <a:avLst>
              <a:gd name="adj" fmla="val 3556"/>
            </a:avLst>
          </a:prstGeom>
          <a:solidFill>
            <a:srgbClr val="2E9E8A"/>
          </a:solidFill>
          <a:ln w="12700">
            <a:solidFill>
              <a:srgbClr val="2E9E8A"/>
            </a:solidFill>
            <a:prstDash val="solid"/>
          </a:ln>
        </p:spPr>
      </p:sp>
      <p:sp>
        <p:nvSpPr>
          <p:cNvPr id="8" name="pipeline head 2"/>
          <p:cNvSpPr txBox="1"/>
          <p:nvPr/>
        </p:nvSpPr>
        <p:spPr>
          <a:xfrm>
            <a:off x="292608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Assembler</a:t>
            </a:r>
            <a:endParaRPr lang="en-US" sz="1900" dirty="0"/>
          </a:p>
        </p:txBody>
      </p:sp>
      <p:sp>
        <p:nvSpPr>
          <p:cNvPr id="9" name="pipeline text 2"/>
          <p:cNvSpPr txBox="1"/>
          <p:nvPr/>
        </p:nvSpPr>
        <p:spPr>
          <a:xfrm>
            <a:off x="292608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Splices pre-quantized GGUF tensors into one file; bit-identical to llama-quantize</a:t>
            </a:r>
            <a:endParaRPr lang="en-US" sz="1400" dirty="0"/>
          </a:p>
        </p:txBody>
      </p:sp>
      <p:sp>
        <p:nvSpPr>
          <p:cNvPr id="10" name="pipeline arrow 2"/>
          <p:cNvSpPr/>
          <p:nvPr/>
        </p:nvSpPr>
        <p:spPr>
          <a:xfrm>
            <a:off x="4855464" y="2743200"/>
            <a:ext cx="164592" cy="0"/>
          </a:xfrm>
          <a:prstGeom prst="line">
            <a:avLst/>
          </a:prstGeom>
          <a:noFill/>
          <a:ln w="25400">
            <a:solidFill>
              <a:srgbClr val="10212B"/>
            </a:solidFill>
            <a:prstDash val="solid"/>
            <a:tailEnd type="triangle"/>
          </a:ln>
        </p:spPr>
      </p:sp>
      <p:sp>
        <p:nvSpPr>
          <p:cNvPr id="11" name="pipeline box 3"/>
          <p:cNvSpPr/>
          <p:nvPr/>
        </p:nvSpPr>
        <p:spPr>
          <a:xfrm>
            <a:off x="5029200" y="1554480"/>
            <a:ext cx="2057400" cy="2377440"/>
          </a:xfrm>
          <a:prstGeom prst="roundRect">
            <a:avLst>
              <a:gd name="adj" fmla="val 3556"/>
            </a:avLst>
          </a:prstGeom>
          <a:solidFill>
            <a:srgbClr val="F2A541"/>
          </a:solidFill>
          <a:ln w="12700">
            <a:solidFill>
              <a:srgbClr val="F2A541"/>
            </a:solidFill>
            <a:prstDash val="solid"/>
          </a:ln>
        </p:spPr>
      </p:sp>
      <p:sp>
        <p:nvSpPr>
          <p:cNvPr id="12" name="pipeline head 3"/>
          <p:cNvSpPr txBox="1"/>
          <p:nvPr/>
        </p:nvSpPr>
        <p:spPr>
          <a:xfrm>
            <a:off x="5166360" y="1691640"/>
            <a:ext cx="1783080" cy="457200"/>
          </a:xfrm>
          <a:prstGeom prst="rect">
            <a:avLst/>
          </a:prstGeom>
          <a:noFill/>
          <a:ln/>
        </p:spPr>
        <p:txBody>
          <a:bodyPr wrap="square" lIns="0" tIns="0" rIns="0" bIns="0" rtlCol="0" anchor="ctr"/>
          <a:lstStyle/>
          <a:p>
            <a:pPr indent="0" marL="0">
              <a:buNone/>
            </a:pPr>
            <a:r>
              <a:rPr lang="en-US" sz="1900" b="1" dirty="0">
                <a:solidFill>
                  <a:schemeClr val="tx1"/>
                </a:solidFill>
                <a:latin typeface="Calibri" pitchFamily="34" charset="0"/>
                <a:ea typeface="Calibri" pitchFamily="34" charset="-122"/>
                <a:cs typeface="Calibri" pitchFamily="34" charset="-120"/>
              </a:rPr>
              <a:t>Probes</a:t>
            </a:r>
            <a:endParaRPr lang="en-US" sz="1900" dirty="0"/>
          </a:p>
        </p:txBody>
      </p:sp>
      <p:sp>
        <p:nvSpPr>
          <p:cNvPr id="13" name="pipeline text 3"/>
          <p:cNvSpPr txBox="1"/>
          <p:nvPr/>
        </p:nvSpPr>
        <p:spPr>
          <a:xfrm>
            <a:off x="5166360" y="2194560"/>
            <a:ext cx="17830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KL divergence (accuracy), llama-bench decode tok/s, energy per token</a:t>
            </a:r>
            <a:endParaRPr lang="en-US" sz="1400" dirty="0"/>
          </a:p>
        </p:txBody>
      </p:sp>
      <p:sp>
        <p:nvSpPr>
          <p:cNvPr id="14" name="pipeline arrow 3"/>
          <p:cNvSpPr/>
          <p:nvPr/>
        </p:nvSpPr>
        <p:spPr>
          <a:xfrm>
            <a:off x="7095744" y="2743200"/>
            <a:ext cx="164592" cy="0"/>
          </a:xfrm>
          <a:prstGeom prst="line">
            <a:avLst/>
          </a:prstGeom>
          <a:noFill/>
          <a:ln w="25400">
            <a:solidFill>
              <a:srgbClr val="10212B"/>
            </a:solidFill>
            <a:prstDash val="solid"/>
            <a:tailEnd type="triangle"/>
          </a:ln>
        </p:spPr>
      </p:sp>
      <p:sp>
        <p:nvSpPr>
          <p:cNvPr id="15" name="pipeline box 4"/>
          <p:cNvSpPr/>
          <p:nvPr/>
        </p:nvSpPr>
        <p:spPr>
          <a:xfrm>
            <a:off x="7269480" y="1554480"/>
            <a:ext cx="2057400" cy="2377440"/>
          </a:xfrm>
          <a:prstGeom prst="roundRect">
            <a:avLst>
              <a:gd name="adj" fmla="val 3556"/>
            </a:avLst>
          </a:prstGeom>
          <a:solidFill>
            <a:srgbClr val="7B6FB5"/>
          </a:solidFill>
          <a:ln w="12700">
            <a:solidFill>
              <a:srgbClr val="7B6FB5"/>
            </a:solidFill>
            <a:prstDash val="solid"/>
          </a:ln>
        </p:spPr>
      </p:sp>
      <p:sp>
        <p:nvSpPr>
          <p:cNvPr id="16" name="pipeline head 4"/>
          <p:cNvSpPr txBox="1"/>
          <p:nvPr/>
        </p:nvSpPr>
        <p:spPr>
          <a:xfrm>
            <a:off x="740664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Pareto GA</a:t>
            </a:r>
            <a:endParaRPr lang="en-US" sz="1900" dirty="0"/>
          </a:p>
        </p:txBody>
      </p:sp>
      <p:sp>
        <p:nvSpPr>
          <p:cNvPr id="17" name="pipeline text 4"/>
          <p:cNvSpPr txBox="1"/>
          <p:nvPr/>
        </p:nvSpPr>
        <p:spPr>
          <a:xfrm>
            <a:off x="740664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Steady-state, NSGA-II ranking; cache holds raw objective vectors only</a:t>
            </a:r>
            <a:endParaRPr lang="en-US" sz="1400" dirty="0"/>
          </a:p>
        </p:txBody>
      </p:sp>
      <p:sp>
        <p:nvSpPr>
          <p:cNvPr id="18" name="pipeline arrow 4"/>
          <p:cNvSpPr/>
          <p:nvPr/>
        </p:nvSpPr>
        <p:spPr>
          <a:xfrm>
            <a:off x="9336024" y="2743200"/>
            <a:ext cx="164592" cy="0"/>
          </a:xfrm>
          <a:prstGeom prst="line">
            <a:avLst/>
          </a:prstGeom>
          <a:noFill/>
          <a:ln w="25400">
            <a:solidFill>
              <a:srgbClr val="10212B"/>
            </a:solidFill>
            <a:prstDash val="solid"/>
            <a:tailEnd type="triangle"/>
          </a:ln>
        </p:spPr>
      </p:sp>
      <p:sp>
        <p:nvSpPr>
          <p:cNvPr id="19" name="pipeline box 5"/>
          <p:cNvSpPr/>
          <p:nvPr/>
        </p:nvSpPr>
        <p:spPr>
          <a:xfrm>
            <a:off x="9509760" y="1554480"/>
            <a:ext cx="2057400" cy="2377440"/>
          </a:xfrm>
          <a:prstGeom prst="roundRect">
            <a:avLst>
              <a:gd name="adj" fmla="val 3556"/>
            </a:avLst>
          </a:prstGeom>
          <a:solidFill>
            <a:srgbClr val="0B3C4F"/>
          </a:solidFill>
          <a:ln w="12700">
            <a:solidFill>
              <a:srgbClr val="0B3C4F"/>
            </a:solidFill>
            <a:prstDash val="solid"/>
          </a:ln>
        </p:spPr>
      </p:sp>
      <p:sp>
        <p:nvSpPr>
          <p:cNvPr id="20" name="pipeline head 5"/>
          <p:cNvSpPr txBox="1"/>
          <p:nvPr/>
        </p:nvSpPr>
        <p:spPr>
          <a:xfrm>
            <a:off x="964692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Front</a:t>
            </a:r>
            <a:endParaRPr lang="en-US" sz="1900" dirty="0"/>
          </a:p>
        </p:txBody>
      </p:sp>
      <p:sp>
        <p:nvSpPr>
          <p:cNvPr id="21" name="pipeline text 5"/>
          <p:cNvSpPr txBox="1"/>
          <p:nvPr/>
        </p:nvSpPr>
        <p:spPr>
          <a:xfrm>
            <a:off x="964692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Pick an operating point by accuracy budget, not by weights</a:t>
            </a:r>
            <a:endParaRPr lang="en-US" sz="1400" dirty="0"/>
          </a:p>
        </p:txBody>
      </p:sp>
      <p:sp>
        <p:nvSpPr>
          <p:cNvPr id="22" name="objective card 1"/>
          <p:cNvSpPr/>
          <p:nvPr/>
        </p:nvSpPr>
        <p:spPr>
          <a:xfrm>
            <a:off x="548640" y="4251960"/>
            <a:ext cx="3566160" cy="1828800"/>
          </a:xfrm>
          <a:prstGeom prst="roundRect">
            <a:avLst>
              <a:gd name="adj" fmla="val 4000"/>
            </a:avLst>
          </a:prstGeom>
          <a:solidFill>
            <a:schemeClr val="bg2"/>
          </a:solidFill>
          <a:ln w="12700">
            <a:solidFill>
              <a:schemeClr val="bg2"/>
            </a:solidFill>
            <a:prstDash val="solid"/>
          </a:ln>
        </p:spPr>
      </p:sp>
      <p:sp>
        <p:nvSpPr>
          <p:cNvPr id="23" name="objective name 1"/>
          <p:cNvSpPr txBox="1"/>
          <p:nvPr/>
        </p:nvSpPr>
        <p:spPr>
          <a:xfrm>
            <a:off x="731520" y="4343400"/>
            <a:ext cx="3200400" cy="365760"/>
          </a:xfrm>
          <a:prstGeom prst="rect">
            <a:avLst/>
          </a:prstGeom>
          <a:noFill/>
          <a:ln/>
        </p:spPr>
        <p:txBody>
          <a:bodyPr wrap="square" lIns="0" tIns="0" rIns="0" bIns="0" rtlCol="0" anchor="ctr"/>
          <a:lstStyle/>
          <a:p>
            <a:pPr indent="0" marL="0">
              <a:buNone/>
            </a:pPr>
            <a:r>
              <a:rPr lang="en-US" sz="1700" b="1" dirty="0">
                <a:solidFill>
                  <a:srgbClr val="D1495B"/>
                </a:solidFill>
                <a:latin typeface="Calibri" pitchFamily="34" charset="0"/>
                <a:ea typeface="Calibri" pitchFamily="34" charset="-122"/>
                <a:cs typeface="Calibri" pitchFamily="34" charset="-120"/>
              </a:rPr>
              <a:t>accuracy_penalty</a:t>
            </a:r>
            <a:endParaRPr lang="en-US" sz="1700" dirty="0"/>
          </a:p>
        </p:txBody>
      </p:sp>
      <p:sp>
        <p:nvSpPr>
          <p:cNvPr id="24" name="objective formula 1"/>
          <p:cNvSpPr txBox="1"/>
          <p:nvPr/>
        </p:nvSpPr>
        <p:spPr>
          <a:xfrm>
            <a:off x="73152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exp(KLD) - 1</a:t>
            </a:r>
            <a:endParaRPr lang="en-US" sz="1500" dirty="0"/>
          </a:p>
        </p:txBody>
      </p:sp>
      <p:sp>
        <p:nvSpPr>
          <p:cNvPr id="25" name="objective text 1"/>
          <p:cNvSpPr txBox="1"/>
          <p:nvPr/>
        </p:nvSpPr>
        <p:spPr>
          <a:xfrm>
            <a:off x="73152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expected perplexity increase, measured against the original model's logits</a:t>
            </a:r>
            <a:endParaRPr lang="en-US" sz="1400" dirty="0"/>
          </a:p>
        </p:txBody>
      </p:sp>
      <p:sp>
        <p:nvSpPr>
          <p:cNvPr id="26" name="objective card 2"/>
          <p:cNvSpPr/>
          <p:nvPr/>
        </p:nvSpPr>
        <p:spPr>
          <a:xfrm>
            <a:off x="4297680" y="4251960"/>
            <a:ext cx="3566160" cy="1828800"/>
          </a:xfrm>
          <a:prstGeom prst="roundRect">
            <a:avLst>
              <a:gd name="adj" fmla="val 4000"/>
            </a:avLst>
          </a:prstGeom>
          <a:solidFill>
            <a:schemeClr val="bg2"/>
          </a:solidFill>
          <a:ln w="12700">
            <a:solidFill>
              <a:schemeClr val="bg2"/>
            </a:solidFill>
            <a:prstDash val="solid"/>
          </a:ln>
        </p:spPr>
      </p:sp>
      <p:sp>
        <p:nvSpPr>
          <p:cNvPr id="27" name="objective name 2"/>
          <p:cNvSpPr txBox="1"/>
          <p:nvPr/>
        </p:nvSpPr>
        <p:spPr>
          <a:xfrm>
            <a:off x="4480560" y="4343400"/>
            <a:ext cx="3200400" cy="365760"/>
          </a:xfrm>
          <a:prstGeom prst="rect">
            <a:avLst/>
          </a:prstGeom>
          <a:noFill/>
          <a:ln/>
        </p:spPr>
        <p:txBody>
          <a:bodyPr wrap="square" lIns="0" tIns="0" rIns="0" bIns="0" rtlCol="0" anchor="ctr"/>
          <a:lstStyle/>
          <a:p>
            <a:pPr indent="0" marL="0">
              <a:buNone/>
            </a:pPr>
            <a:r>
              <a:rPr lang="en-US" sz="1700" b="1" dirty="0">
                <a:solidFill>
                  <a:srgbClr val="2E9E8A"/>
                </a:solidFill>
                <a:latin typeface="Calibri" pitchFamily="34" charset="0"/>
                <a:ea typeface="Calibri" pitchFamily="34" charset="-122"/>
                <a:cs typeface="Calibri" pitchFamily="34" charset="-120"/>
              </a:rPr>
              <a:t>speed_gain</a:t>
            </a:r>
            <a:endParaRPr lang="en-US" sz="1700" dirty="0"/>
          </a:p>
        </p:txBody>
      </p:sp>
      <p:sp>
        <p:nvSpPr>
          <p:cNvPr id="28" name="objective formula 2"/>
          <p:cNvSpPr txBox="1"/>
          <p:nvPr/>
        </p:nvSpPr>
        <p:spPr>
          <a:xfrm>
            <a:off x="448056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decode tok/s / baseline - 1</a:t>
            </a:r>
            <a:endParaRPr lang="en-US" sz="1500" dirty="0"/>
          </a:p>
        </p:txBody>
      </p:sp>
      <p:sp>
        <p:nvSpPr>
          <p:cNvPr id="29" name="objective text 2"/>
          <p:cNvSpPr txBox="1"/>
          <p:nvPr/>
        </p:nvSpPr>
        <p:spPr>
          <a:xfrm>
            <a:off x="448056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decode is bandwidth-bound and what users feel on an edge device</a:t>
            </a:r>
            <a:endParaRPr lang="en-US" sz="1400" dirty="0"/>
          </a:p>
        </p:txBody>
      </p:sp>
      <p:sp>
        <p:nvSpPr>
          <p:cNvPr id="30" name="objective card 3"/>
          <p:cNvSpPr/>
          <p:nvPr/>
        </p:nvSpPr>
        <p:spPr>
          <a:xfrm>
            <a:off x="8046720" y="4251960"/>
            <a:ext cx="3566160" cy="1828800"/>
          </a:xfrm>
          <a:prstGeom prst="roundRect">
            <a:avLst>
              <a:gd name="adj" fmla="val 4000"/>
            </a:avLst>
          </a:prstGeom>
          <a:solidFill>
            <a:schemeClr val="bg2"/>
          </a:solidFill>
          <a:ln w="12700">
            <a:solidFill>
              <a:schemeClr val="bg2"/>
            </a:solidFill>
            <a:prstDash val="solid"/>
          </a:ln>
        </p:spPr>
      </p:sp>
      <p:sp>
        <p:nvSpPr>
          <p:cNvPr id="31" name="objective name 3"/>
          <p:cNvSpPr txBox="1"/>
          <p:nvPr/>
        </p:nvSpPr>
        <p:spPr>
          <a:xfrm>
            <a:off x="8229600" y="4343400"/>
            <a:ext cx="3200400" cy="365760"/>
          </a:xfrm>
          <a:prstGeom prst="rect">
            <a:avLst/>
          </a:prstGeom>
          <a:noFill/>
          <a:ln/>
        </p:spPr>
        <p:txBody>
          <a:bodyPr wrap="square" lIns="0" tIns="0" rIns="0" bIns="0" rtlCol="0" anchor="ctr"/>
          <a:lstStyle/>
          <a:p>
            <a:pPr indent="0" marL="0">
              <a:buNone/>
            </a:pPr>
            <a:r>
              <a:rPr lang="en-US" sz="1700" b="1" dirty="0">
                <a:solidFill>
                  <a:srgbClr val="9A5B00"/>
                </a:solidFill>
                <a:latin typeface="Calibri" pitchFamily="34" charset="0"/>
                <a:ea typeface="Calibri" pitchFamily="34" charset="-122"/>
                <a:cs typeface="Calibri" pitchFamily="34" charset="-120"/>
              </a:rPr>
              <a:t>energy_gain</a:t>
            </a:r>
            <a:endParaRPr lang="en-US" sz="1700" dirty="0"/>
          </a:p>
        </p:txBody>
      </p:sp>
      <p:sp>
        <p:nvSpPr>
          <p:cNvPr id="32" name="objective formula 3"/>
          <p:cNvSpPr txBox="1"/>
          <p:nvPr/>
        </p:nvSpPr>
        <p:spPr>
          <a:xfrm>
            <a:off x="822960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1 - J/token / baseline</a:t>
            </a:r>
            <a:endParaRPr lang="en-US" sz="1500" dirty="0"/>
          </a:p>
        </p:txBody>
      </p:sp>
      <p:sp>
        <p:nvSpPr>
          <p:cNvPr id="33" name="objective text 3"/>
          <p:cNvSpPr txBox="1"/>
          <p:nvPr/>
        </p:nvSpPr>
        <p:spPr>
          <a:xfrm>
            <a:off x="822960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net of idle power, from the same run as the speed measurement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Strategy: spend Mac dollars only on what only the Mac can answer</a:t>
            </a:r>
            <a:endParaRPr lang="en-US" sz="2800" dirty="0"/>
          </a:p>
        </p:txBody>
      </p:sp>
      <p:sp>
        <p:nvSpPr>
          <p:cNvPr id="3" name="tier card T0"/>
          <p:cNvSpPr/>
          <p:nvPr/>
        </p:nvSpPr>
        <p:spPr>
          <a:xfrm>
            <a:off x="548640" y="1508760"/>
            <a:ext cx="2103120" cy="3749040"/>
          </a:xfrm>
          <a:prstGeom prst="roundRect">
            <a:avLst>
              <a:gd name="adj" fmla="val 3478"/>
            </a:avLst>
          </a:prstGeom>
          <a:solidFill>
            <a:schemeClr val="bg2"/>
          </a:solidFill>
          <a:ln w="12700">
            <a:solidFill>
              <a:schemeClr val="bg2"/>
            </a:solidFill>
            <a:prstDash val="solid"/>
          </a:ln>
        </p:spPr>
      </p:sp>
      <p:sp>
        <p:nvSpPr>
          <p:cNvPr id="4" name="tier badge T0"/>
          <p:cNvSpPr/>
          <p:nvPr/>
        </p:nvSpPr>
        <p:spPr>
          <a:xfrm>
            <a:off x="731520" y="1691640"/>
            <a:ext cx="777240" cy="777240"/>
          </a:xfrm>
          <a:prstGeom prst="ellipse">
            <a:avLst/>
          </a:prstGeom>
          <a:solidFill>
            <a:schemeClr val="accent3"/>
          </a:solidFill>
          <a:ln w="12700">
            <a:solidFill>
              <a:schemeClr val="accent3"/>
            </a:solidFill>
            <a:prstDash val="solid"/>
          </a:ln>
        </p:spPr>
      </p:sp>
      <p:sp>
        <p:nvSpPr>
          <p:cNvPr id="5" name="tier label T0"/>
          <p:cNvSpPr txBox="1"/>
          <p:nvPr/>
        </p:nvSpPr>
        <p:spPr>
          <a:xfrm>
            <a:off x="73152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T0</a:t>
            </a:r>
            <a:endParaRPr lang="en-US" sz="2000" dirty="0"/>
          </a:p>
        </p:txBody>
      </p:sp>
      <p:sp>
        <p:nvSpPr>
          <p:cNvPr id="6" name="tier name T0"/>
          <p:cNvSpPr txBox="1"/>
          <p:nvPr/>
        </p:nvSpPr>
        <p:spPr>
          <a:xfrm>
            <a:off x="73152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no GPU</a:t>
            </a:r>
            <a:endParaRPr lang="en-US" sz="1700" dirty="0"/>
          </a:p>
        </p:txBody>
      </p:sp>
      <p:sp>
        <p:nvSpPr>
          <p:cNvPr id="7" name="tier text T0"/>
          <p:cNvSpPr txBox="1"/>
          <p:nvPr/>
        </p:nvSpPr>
        <p:spPr>
          <a:xfrm>
            <a:off x="73152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Unit tests, GA, GGUF assembler, parsers, energy-meter backends</a:t>
            </a:r>
            <a:endParaRPr lang="en-US" sz="1400" dirty="0"/>
          </a:p>
        </p:txBody>
      </p:sp>
      <p:sp>
        <p:nvSpPr>
          <p:cNvPr id="8" name="tier cost T0"/>
          <p:cNvSpPr txBox="1"/>
          <p:nvPr/>
        </p:nvSpPr>
        <p:spPr>
          <a:xfrm>
            <a:off x="73152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9" name="tier card T1"/>
          <p:cNvSpPr/>
          <p:nvPr/>
        </p:nvSpPr>
        <p:spPr>
          <a:xfrm>
            <a:off x="2788920" y="1508760"/>
            <a:ext cx="2103120" cy="3749040"/>
          </a:xfrm>
          <a:prstGeom prst="roundRect">
            <a:avLst>
              <a:gd name="adj" fmla="val 3478"/>
            </a:avLst>
          </a:prstGeom>
          <a:solidFill>
            <a:schemeClr val="bg2"/>
          </a:solidFill>
          <a:ln w="12700">
            <a:solidFill>
              <a:schemeClr val="bg2"/>
            </a:solidFill>
            <a:prstDash val="solid"/>
          </a:ln>
        </p:spPr>
      </p:sp>
      <p:sp>
        <p:nvSpPr>
          <p:cNvPr id="10" name="tier badge T1"/>
          <p:cNvSpPr/>
          <p:nvPr/>
        </p:nvSpPr>
        <p:spPr>
          <a:xfrm>
            <a:off x="2971800" y="1691640"/>
            <a:ext cx="777240" cy="777240"/>
          </a:xfrm>
          <a:prstGeom prst="ellipse">
            <a:avLst/>
          </a:prstGeom>
          <a:solidFill>
            <a:schemeClr val="accent3"/>
          </a:solidFill>
          <a:ln w="12700">
            <a:solidFill>
              <a:schemeClr val="accent3"/>
            </a:solidFill>
            <a:prstDash val="solid"/>
          </a:ln>
        </p:spPr>
      </p:sp>
      <p:sp>
        <p:nvSpPr>
          <p:cNvPr id="11" name="tier label T1"/>
          <p:cNvSpPr txBox="1"/>
          <p:nvPr/>
        </p:nvSpPr>
        <p:spPr>
          <a:xfrm>
            <a:off x="297180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T1</a:t>
            </a:r>
            <a:endParaRPr lang="en-US" sz="2000" dirty="0"/>
          </a:p>
        </p:txBody>
      </p:sp>
      <p:sp>
        <p:nvSpPr>
          <p:cNvPr id="12" name="tier name T1"/>
          <p:cNvSpPr txBox="1"/>
          <p:nvPr/>
        </p:nvSpPr>
        <p:spPr>
          <a:xfrm>
            <a:off x="297180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 RTX 3080</a:t>
            </a:r>
            <a:endParaRPr lang="en-US" sz="1700" dirty="0"/>
          </a:p>
        </p:txBody>
      </p:sp>
      <p:sp>
        <p:nvSpPr>
          <p:cNvPr id="13" name="tier text T1"/>
          <p:cNvSpPr txBox="1"/>
          <p:nvPr/>
        </p:nvSpPr>
        <p:spPr>
          <a:xfrm>
            <a:off x="297180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Real models, real accuracy, 3 models, dry-run searches</a:t>
            </a:r>
            <a:endParaRPr lang="en-US" sz="1400" dirty="0"/>
          </a:p>
        </p:txBody>
      </p:sp>
      <p:sp>
        <p:nvSpPr>
          <p:cNvPr id="14" name="tier cost T1"/>
          <p:cNvSpPr txBox="1"/>
          <p:nvPr/>
        </p:nvSpPr>
        <p:spPr>
          <a:xfrm>
            <a:off x="297180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15" name="tier card T2"/>
          <p:cNvSpPr/>
          <p:nvPr/>
        </p:nvSpPr>
        <p:spPr>
          <a:xfrm>
            <a:off x="5029200" y="1508760"/>
            <a:ext cx="2103120" cy="3749040"/>
          </a:xfrm>
          <a:prstGeom prst="roundRect">
            <a:avLst>
              <a:gd name="adj" fmla="val 3478"/>
            </a:avLst>
          </a:prstGeom>
          <a:solidFill>
            <a:schemeClr val="bg2"/>
          </a:solidFill>
          <a:ln w="12700">
            <a:solidFill>
              <a:schemeClr val="bg2"/>
            </a:solidFill>
            <a:prstDash val="solid"/>
          </a:ln>
        </p:spPr>
      </p:sp>
      <p:sp>
        <p:nvSpPr>
          <p:cNvPr id="16" name="tier badge T2"/>
          <p:cNvSpPr/>
          <p:nvPr/>
        </p:nvSpPr>
        <p:spPr>
          <a:xfrm>
            <a:off x="5212080" y="1691640"/>
            <a:ext cx="777240" cy="777240"/>
          </a:xfrm>
          <a:prstGeom prst="ellipse">
            <a:avLst/>
          </a:prstGeom>
          <a:solidFill>
            <a:schemeClr val="accent3"/>
          </a:solidFill>
          <a:ln w="12700">
            <a:solidFill>
              <a:schemeClr val="accent3"/>
            </a:solidFill>
            <a:prstDash val="solid"/>
          </a:ln>
        </p:spPr>
      </p:sp>
      <p:sp>
        <p:nvSpPr>
          <p:cNvPr id="17" name="tier label T2"/>
          <p:cNvSpPr txBox="1"/>
          <p:nvPr/>
        </p:nvSpPr>
        <p:spPr>
          <a:xfrm>
            <a:off x="521208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T2</a:t>
            </a:r>
            <a:endParaRPr lang="en-US" sz="2000" dirty="0"/>
          </a:p>
        </p:txBody>
      </p:sp>
      <p:sp>
        <p:nvSpPr>
          <p:cNvPr id="18" name="tier name T2"/>
          <p:cNvSpPr txBox="1"/>
          <p:nvPr/>
        </p:nvSpPr>
        <p:spPr>
          <a:xfrm>
            <a:off x="521208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aarch64 emulation</a:t>
            </a:r>
            <a:endParaRPr lang="en-US" sz="1700" dirty="0"/>
          </a:p>
        </p:txBody>
      </p:sp>
      <p:sp>
        <p:nvSpPr>
          <p:cNvPr id="19" name="tier text T2"/>
          <p:cNvSpPr txBox="1"/>
          <p:nvPr/>
        </p:nvSpPr>
        <p:spPr>
          <a:xfrm>
            <a:off x="521208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Cross-built llama.cpp and NEON kernels under QEMU: correctness only</a:t>
            </a:r>
            <a:endParaRPr lang="en-US" sz="1400" dirty="0"/>
          </a:p>
        </p:txBody>
      </p:sp>
      <p:sp>
        <p:nvSpPr>
          <p:cNvPr id="20" name="tier cost T2"/>
          <p:cNvSpPr txBox="1"/>
          <p:nvPr/>
        </p:nvSpPr>
        <p:spPr>
          <a:xfrm>
            <a:off x="521208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21" name="tier card T3"/>
          <p:cNvSpPr/>
          <p:nvPr/>
        </p:nvSpPr>
        <p:spPr>
          <a:xfrm>
            <a:off x="7269480" y="1508760"/>
            <a:ext cx="2103120" cy="3749040"/>
          </a:xfrm>
          <a:prstGeom prst="roundRect">
            <a:avLst>
              <a:gd name="adj" fmla="val 3478"/>
            </a:avLst>
          </a:prstGeom>
          <a:solidFill>
            <a:schemeClr val="bg2"/>
          </a:solidFill>
          <a:ln w="12700">
            <a:solidFill>
              <a:schemeClr val="bg2"/>
            </a:solidFill>
            <a:prstDash val="solid"/>
          </a:ln>
        </p:spPr>
      </p:sp>
      <p:sp>
        <p:nvSpPr>
          <p:cNvPr id="22" name="tier badge T3"/>
          <p:cNvSpPr/>
          <p:nvPr/>
        </p:nvSpPr>
        <p:spPr>
          <a:xfrm>
            <a:off x="7452360" y="1691640"/>
            <a:ext cx="777240" cy="777240"/>
          </a:xfrm>
          <a:prstGeom prst="ellipse">
            <a:avLst/>
          </a:prstGeom>
          <a:solidFill>
            <a:schemeClr val="accent2"/>
          </a:solidFill>
          <a:ln w="12700">
            <a:solidFill>
              <a:schemeClr val="accent2"/>
            </a:solidFill>
            <a:prstDash val="solid"/>
          </a:ln>
        </p:spPr>
      </p:sp>
      <p:sp>
        <p:nvSpPr>
          <p:cNvPr id="23" name="tier label T3"/>
          <p:cNvSpPr txBox="1"/>
          <p:nvPr/>
        </p:nvSpPr>
        <p:spPr>
          <a:xfrm>
            <a:off x="745236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T3</a:t>
            </a:r>
            <a:endParaRPr lang="en-US" sz="2000" dirty="0"/>
          </a:p>
        </p:txBody>
      </p:sp>
      <p:sp>
        <p:nvSpPr>
          <p:cNvPr id="24" name="tier name T3"/>
          <p:cNvSpPr txBox="1"/>
          <p:nvPr/>
        </p:nvSpPr>
        <p:spPr>
          <a:xfrm>
            <a:off x="745236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Graviton</a:t>
            </a:r>
            <a:endParaRPr lang="en-US" sz="1700" dirty="0"/>
          </a:p>
        </p:txBody>
      </p:sp>
      <p:sp>
        <p:nvSpPr>
          <p:cNvPr id="25" name="tier text T3"/>
          <p:cNvSpPr txBox="1"/>
          <p:nvPr/>
        </p:nvSpPr>
        <p:spPr>
          <a:xfrm>
            <a:off x="745236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Native Arm Linux: KleidiAI on/off, kernel timing, perf counters</a:t>
            </a:r>
            <a:endParaRPr lang="en-US" sz="1400" dirty="0"/>
          </a:p>
        </p:txBody>
      </p:sp>
      <p:sp>
        <p:nvSpPr>
          <p:cNvPr id="26" name="tier cost T3"/>
          <p:cNvSpPr txBox="1"/>
          <p:nvPr/>
        </p:nvSpPr>
        <p:spPr>
          <a:xfrm>
            <a:off x="7452360" y="4709160"/>
            <a:ext cx="1737360" cy="365760"/>
          </a:xfrm>
          <a:prstGeom prst="rect">
            <a:avLst/>
          </a:prstGeom>
          <a:noFill/>
          <a:ln/>
        </p:spPr>
        <p:txBody>
          <a:bodyPr wrap="square" lIns="0" tIns="0" rIns="0" bIns="0" rtlCol="0" anchor="ctr"/>
          <a:lstStyle/>
          <a:p>
            <a:pPr indent="0" marL="0">
              <a:buNone/>
            </a:pPr>
            <a:r>
              <a:rPr lang="en-US" sz="1400" b="1" dirty="0">
                <a:solidFill>
                  <a:srgbClr val="9A5B00"/>
                </a:solidFill>
                <a:latin typeface="Calibri" pitchFamily="34" charset="0"/>
                <a:ea typeface="Calibri" pitchFamily="34" charset="-122"/>
                <a:cs typeface="Calibri" pitchFamily="34" charset="-120"/>
              </a:rPr>
              <a:t>cents to dollars</a:t>
            </a:r>
            <a:endParaRPr lang="en-US" sz="1400" dirty="0"/>
          </a:p>
        </p:txBody>
      </p:sp>
      <p:sp>
        <p:nvSpPr>
          <p:cNvPr id="27" name="tier card T4"/>
          <p:cNvSpPr/>
          <p:nvPr/>
        </p:nvSpPr>
        <p:spPr>
          <a:xfrm>
            <a:off x="9509760" y="1508760"/>
            <a:ext cx="2103120" cy="3749040"/>
          </a:xfrm>
          <a:prstGeom prst="roundRect">
            <a:avLst>
              <a:gd name="adj" fmla="val 3478"/>
            </a:avLst>
          </a:prstGeom>
          <a:solidFill>
            <a:schemeClr val="bg2"/>
          </a:solidFill>
          <a:ln w="12700">
            <a:solidFill>
              <a:schemeClr val="bg2"/>
            </a:solidFill>
            <a:prstDash val="solid"/>
          </a:ln>
        </p:spPr>
      </p:sp>
      <p:sp>
        <p:nvSpPr>
          <p:cNvPr id="28" name="tier badge T4"/>
          <p:cNvSpPr/>
          <p:nvPr/>
        </p:nvSpPr>
        <p:spPr>
          <a:xfrm>
            <a:off x="9692640" y="1691640"/>
            <a:ext cx="777240" cy="777240"/>
          </a:xfrm>
          <a:prstGeom prst="ellipse">
            <a:avLst/>
          </a:prstGeom>
          <a:solidFill>
            <a:schemeClr val="accent2"/>
          </a:solidFill>
          <a:ln w="12700">
            <a:solidFill>
              <a:schemeClr val="accent2"/>
            </a:solidFill>
            <a:prstDash val="solid"/>
          </a:ln>
        </p:spPr>
      </p:sp>
      <p:sp>
        <p:nvSpPr>
          <p:cNvPr id="29" name="tier label T4"/>
          <p:cNvSpPr txBox="1"/>
          <p:nvPr/>
        </p:nvSpPr>
        <p:spPr>
          <a:xfrm>
            <a:off x="969264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T4</a:t>
            </a:r>
            <a:endParaRPr lang="en-US" sz="2000" dirty="0"/>
          </a:p>
        </p:txBody>
      </p:sp>
      <p:sp>
        <p:nvSpPr>
          <p:cNvPr id="30" name="tier name T4"/>
          <p:cNvSpPr txBox="1"/>
          <p:nvPr/>
        </p:nvSpPr>
        <p:spPr>
          <a:xfrm>
            <a:off x="969264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Mac, Apple M4</a:t>
            </a:r>
            <a:endParaRPr lang="en-US" sz="1700" dirty="0"/>
          </a:p>
        </p:txBody>
      </p:sp>
      <p:sp>
        <p:nvSpPr>
          <p:cNvPr id="31" name="tier text T4"/>
          <p:cNvSpPr txBox="1"/>
          <p:nvPr/>
        </p:nvSpPr>
        <p:spPr>
          <a:xfrm>
            <a:off x="969264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only source of M4 speed and energy; 24-hour minimum</a:t>
            </a:r>
            <a:endParaRPr lang="en-US" sz="1400" dirty="0"/>
          </a:p>
        </p:txBody>
      </p:sp>
      <p:sp>
        <p:nvSpPr>
          <p:cNvPr id="32" name="tier cost T4"/>
          <p:cNvSpPr txBox="1"/>
          <p:nvPr/>
        </p:nvSpPr>
        <p:spPr>
          <a:xfrm>
            <a:off x="9692640" y="4709160"/>
            <a:ext cx="1737360" cy="365760"/>
          </a:xfrm>
          <a:prstGeom prst="rect">
            <a:avLst/>
          </a:prstGeom>
          <a:noFill/>
          <a:ln/>
        </p:spPr>
        <p:txBody>
          <a:bodyPr wrap="square" lIns="0" tIns="0" rIns="0" bIns="0" rtlCol="0" anchor="ctr"/>
          <a:lstStyle/>
          <a:p>
            <a:pPr indent="0" marL="0">
              <a:buNone/>
            </a:pPr>
            <a:r>
              <a:rPr lang="en-US" sz="1400" b="1" dirty="0">
                <a:solidFill>
                  <a:srgbClr val="9A5B00"/>
                </a:solidFill>
                <a:latin typeface="Calibri" pitchFamily="34" charset="0"/>
                <a:ea typeface="Calibri" pitchFamily="34" charset="-122"/>
                <a:cs typeface="Calibri" pitchFamily="34" charset="-120"/>
              </a:rPr>
              <a:t>about $40 per day</a:t>
            </a:r>
            <a:endParaRPr lang="en-US" sz="1400" dirty="0"/>
          </a:p>
        </p:txBody>
      </p:sp>
      <p:sp>
        <p:nvSpPr>
          <p:cNvPr id="33" name="tier rule"/>
          <p:cNvSpPr txBox="1"/>
          <p:nvPr/>
        </p:nvSpPr>
        <p:spPr>
          <a:xfrm>
            <a:off x="548640" y="5486400"/>
            <a:ext cx="11064240" cy="640080"/>
          </a:xfrm>
          <a:prstGeom prst="rect">
            <a:avLst/>
          </a:prstGeom>
          <a:noFill/>
          <a:ln/>
        </p:spPr>
        <p:txBody>
          <a:bodyPr wrap="square" lIns="0" tIns="0" rIns="0" bIns="0" rtlCol="0" anchor="ctr"/>
          <a:lstStyle/>
          <a:p>
            <a:pPr indent="0" marL="0">
              <a:buNone/>
            </a:pPr>
            <a:r>
              <a:rPr lang="en-US" sz="1600" i="1" dirty="0">
                <a:solidFill>
                  <a:schemeClr val="tx2"/>
                </a:solidFill>
                <a:latin typeface="Calibri" pitchFamily="34" charset="0"/>
                <a:ea typeface="Calibri" pitchFamily="34" charset="-122"/>
                <a:cs typeface="Calibri" pitchFamily="34" charset="-120"/>
              </a:rPr>
              <a:t>Rule: promote a tier only when the one below is green. Anything a cheap tier could have caught is a process failure on the expensive 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Perplexity deltas were noise; KL divergence is not</a:t>
            </a:r>
            <a:endParaRPr lang="en-US" sz="2800" dirty="0"/>
          </a:p>
        </p:txBody>
      </p:sp>
      <p:graphicFrame>
        <p:nvGraphicFramePr>
          <p:cNvPr id="3" name="Chart 0"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metric bullets"/>
          <p:cNvSpPr txBox="1"/>
          <p:nvPr/>
        </p:nvSpPr>
        <p:spPr>
          <a:xfrm>
            <a:off x="6400800" y="1463040"/>
            <a:ext cx="5212080" cy="3383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penalties from perplexity came out negative (quantizing a block "improved" the model)</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sums disagreed with the uniform genome, and two backends' profiles did not correlate (Spearman -0.33 / -0.24)</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KL divergence to the original model's logits: ~5% relative error, noise floor 1e-5 nats</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The same Q8_0 effect: PPL ratio 1.0038 +/- 0.0023 vs KLD 0.00165 +/- 0.00009</a:t>
            </a:r>
            <a:endParaRPr lang="en-US" sz="1600" dirty="0"/>
          </a:p>
        </p:txBody>
      </p:sp>
      <p:sp>
        <p:nvSpPr>
          <p:cNvPr id="5" name="metric callout"/>
          <p:cNvSpPr/>
          <p:nvPr/>
        </p:nvSpPr>
        <p:spPr>
          <a:xfrm>
            <a:off x="6400800" y="4892040"/>
            <a:ext cx="5212080" cy="1188720"/>
          </a:xfrm>
          <a:prstGeom prst="roundRect">
            <a:avLst>
              <a:gd name="adj" fmla="val 6154"/>
            </a:avLst>
          </a:prstGeom>
          <a:solidFill>
            <a:schemeClr val="tx2"/>
          </a:solidFill>
          <a:ln w="12700">
            <a:solidFill>
              <a:schemeClr val="tx2"/>
            </a:solidFill>
            <a:prstDash val="solid"/>
          </a:ln>
        </p:spPr>
      </p:sp>
      <p:sp>
        <p:nvSpPr>
          <p:cNvPr id="6" name="metric callout text"/>
          <p:cNvSpPr txBox="1"/>
          <p:nvPr/>
        </p:nvSpPr>
        <p:spPr>
          <a:xfrm>
            <a:off x="6583680" y="4937760"/>
            <a:ext cx="4846320" cy="10972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Any conclusion drawn from small perplexity differences on one fixed slice carries this noise, and a search can fit it.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4-bit sensitivity is quantizer-independent; 8-bit is not</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spearman value"/>
          <p:cNvSpPr txBox="1"/>
          <p:nvPr/>
        </p:nvSpPr>
        <p:spPr>
          <a:xfrm>
            <a:off x="7863840" y="1417320"/>
            <a:ext cx="37490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0.976</a:t>
            </a:r>
            <a:endParaRPr lang="en-US" sz="4000" dirty="0"/>
          </a:p>
        </p:txBody>
      </p:sp>
      <p:sp>
        <p:nvSpPr>
          <p:cNvPr id="5" name="stat spearman label"/>
          <p:cNvSpPr txBox="1"/>
          <p:nvPr/>
        </p:nvSpPr>
        <p:spPr>
          <a:xfrm>
            <a:off x="7863840" y="213055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correlation of the Q4_0 and NF4 per-block profiles; the last block costs the most in both</a:t>
            </a:r>
            <a:endParaRPr lang="en-US" sz="1400" dirty="0"/>
          </a:p>
        </p:txBody>
      </p:sp>
      <p:sp>
        <p:nvSpPr>
          <p:cNvPr id="6" name="stat int8 spearman value"/>
          <p:cNvSpPr txBox="1"/>
          <p:nvPr/>
        </p:nvSpPr>
        <p:spPr>
          <a:xfrm>
            <a:off x="7863840" y="2926080"/>
            <a:ext cx="374904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0.35</a:t>
            </a:r>
            <a:endParaRPr lang="en-US" sz="4000" dirty="0"/>
          </a:p>
        </p:txBody>
      </p:sp>
      <p:sp>
        <p:nvSpPr>
          <p:cNvPr id="7" name="stat int8 spearman label"/>
          <p:cNvSpPr txBox="1"/>
          <p:nvPr/>
        </p:nvSpPr>
        <p:spPr>
          <a:xfrm>
            <a:off x="7863840" y="363931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for 8-bit: bitsandbytes INT8 is front-loaded, Q8_0 is flat and ~16x cheaper in total</a:t>
            </a:r>
            <a:endParaRPr lang="en-US" sz="1400" dirty="0"/>
          </a:p>
        </p:txBody>
      </p:sp>
      <p:sp>
        <p:nvSpPr>
          <p:cNvPr id="8" name="readme card"/>
          <p:cNvSpPr/>
          <p:nvPr/>
        </p:nvSpPr>
        <p:spPr>
          <a:xfrm>
            <a:off x="7863840" y="4526280"/>
            <a:ext cx="3749040" cy="1554480"/>
          </a:xfrm>
          <a:prstGeom prst="roundRect">
            <a:avLst>
              <a:gd name="adj" fmla="val 4706"/>
            </a:avLst>
          </a:prstGeom>
          <a:solidFill>
            <a:schemeClr val="tx2"/>
          </a:solidFill>
          <a:ln w="12700">
            <a:solidFill>
              <a:schemeClr val="tx2"/>
            </a:solidFill>
            <a:prstDash val="solid"/>
          </a:ln>
        </p:spPr>
      </p:sp>
      <p:sp>
        <p:nvSpPr>
          <p:cNvPr id="9" name="readme text"/>
          <p:cNvSpPr txBox="1"/>
          <p:nvPr/>
        </p:nvSpPr>
        <p:spPr>
          <a:xfrm>
            <a:off x="8046720" y="4572000"/>
            <a:ext cx="3383280" cy="146304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README finding 3 revised: block 0 carries about 33% of bnb INT8 cost (3-5x an interior block), not 70% (30x).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Across models the structure generalizes only partly</a:t>
            </a:r>
            <a:endParaRPr lang="en-US" sz="2800" dirty="0"/>
          </a:p>
        </p:txBody>
      </p:sp>
      <p:graphicFrame>
        <p:nvGraphicFramePr>
          <p:cNvPr id="3" name="Chart 0" descr=""/>
          <p:cNvGraphicFramePr/>
          <p:nvPr/>
        </p:nvGraphicFramePr>
        <p:xfrm>
          <a:off x="548640" y="1371600"/>
          <a:ext cx="65836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model table"/>
          <p:cNvGraphicFramePr>
            <a:graphicFrameLocks noGrp="1"/>
          </p:cNvGraphicFramePr>
          <p:nvPr>
            <p:extLst>
              <p:ext uri="{D42A27DB-BD31-4B8C-83A1-F6EECF244321}">
                <p14:modId xmlns:p14="http://schemas.microsoft.com/office/powerpoint/2010/main" val="1579011935"/>
              </p:ext>
            </p:extLst>
          </p:nvPr>
        </p:nvGraphicFramePr>
        <p:xfrm>
          <a:off x="548640" y="4709160"/>
          <a:ext cx="6583680" cy="914400"/>
        </p:xfrm>
        <a:graphic>
          <a:graphicData uri="http://schemas.openxmlformats.org/drawingml/2006/table">
            <a:tbl>
              <a:tblPr/>
              <a:tblGrid>
                <a:gridCol w="1554480"/>
                <a:gridCol w="731520"/>
                <a:gridCol w="2011680"/>
                <a:gridCol w="2286000"/>
              </a:tblGrid>
              <a:tr h="27432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Layers</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Gene alphabet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Phi-3-mini</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search target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Llama-3.1-8B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scale test (F16 will not fit)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SmolLM2-360M</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emulation proxy</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Llama-3.2-3B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pending licence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second 3B-class 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5" name="stat model spearman value"/>
          <p:cNvSpPr txBox="1"/>
          <p:nvPr/>
        </p:nvSpPr>
        <p:spPr>
          <a:xfrm>
            <a:off x="7498080" y="1417320"/>
            <a:ext cx="411480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0.55</a:t>
            </a:r>
            <a:endParaRPr lang="en-US" sz="4000" dirty="0"/>
          </a:p>
        </p:txBody>
      </p:sp>
      <p:sp>
        <p:nvSpPr>
          <p:cNvPr id="6" name="stat model spearman label"/>
          <p:cNvSpPr txBox="1"/>
          <p:nvPr/>
        </p:nvSpPr>
        <p:spPr>
          <a:xfrm>
            <a:off x="7498080" y="2130552"/>
            <a:ext cx="41148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between the two Q4_0 profiles: moderate agreement, not high</a:t>
            </a:r>
            <a:endParaRPr lang="en-US" sz="1400" dirty="0"/>
          </a:p>
        </p:txBody>
      </p:sp>
      <p:sp>
        <p:nvSpPr>
          <p:cNvPr id="7" name="model bullets"/>
          <p:cNvSpPr txBox="1"/>
          <p:nvPr/>
        </p:nvSpPr>
        <p:spPr>
          <a:xfrm>
            <a:off x="7498080" y="2971800"/>
            <a:ext cx="4114800" cy="310896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Last block is top-2 in both models</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Block 0 is the most sensitive in Llama-3.1-8B (26%) but 6th of 8 in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Edge-to-interior ratio: 2.4x (8B), 1.5x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So "protect the last block" generalizes; "protect the first" is model dependent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GA recovers the true front, and so does a greedy rule</a:t>
            </a:r>
            <a:endParaRPr lang="en-US" sz="2800" dirty="0"/>
          </a:p>
        </p:txBody>
      </p:sp>
      <p:graphicFrame>
        <p:nvGraphicFramePr>
          <p:cNvPr id="3"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4" name="stat hv value"/>
          <p:cNvSpPr txBox="1"/>
          <p:nvPr/>
        </p:nvSpPr>
        <p:spPr>
          <a:xfrm>
            <a:off x="6949440" y="1371600"/>
            <a:ext cx="228600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0.9999</a:t>
            </a:r>
            <a:endParaRPr lang="en-US" sz="4000" dirty="0"/>
          </a:p>
        </p:txBody>
      </p:sp>
      <p:sp>
        <p:nvSpPr>
          <p:cNvPr id="5" name="stat hv label"/>
          <p:cNvSpPr txBox="1"/>
          <p:nvPr/>
        </p:nvSpPr>
        <p:spPr>
          <a:xfrm>
            <a:off x="6949440" y="2084832"/>
            <a:ext cx="22860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GA hypervolume ratio vs the exhaustive front (8 of 9 points)</a:t>
            </a:r>
            <a:endParaRPr lang="en-US" sz="1400" dirty="0"/>
          </a:p>
        </p:txBody>
      </p:sp>
      <p:sp>
        <p:nvSpPr>
          <p:cNvPr id="6" name="stat greedy value"/>
          <p:cNvSpPr txBox="1"/>
          <p:nvPr/>
        </p:nvSpPr>
        <p:spPr>
          <a:xfrm>
            <a:off x="9418320" y="1371600"/>
            <a:ext cx="21945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17</a:t>
            </a:r>
            <a:endParaRPr lang="en-US" sz="4000" dirty="0"/>
          </a:p>
        </p:txBody>
      </p:sp>
      <p:sp>
        <p:nvSpPr>
          <p:cNvPr id="7" name="stat greedy label"/>
          <p:cNvSpPr txBox="1"/>
          <p:nvPr/>
        </p:nvSpPr>
        <p:spPr>
          <a:xfrm>
            <a:off x="9418320" y="2084832"/>
            <a:ext cx="21945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measurements: the greedy rule gives the same front</a:t>
            </a:r>
            <a:endParaRPr lang="en-US" sz="1400" dirty="0"/>
          </a:p>
        </p:txBody>
      </p:sp>
      <p:sp>
        <p:nvSpPr>
          <p:cNvPr id="8" name="search honesty card"/>
          <p:cNvSpPr/>
          <p:nvPr/>
        </p:nvSpPr>
        <p:spPr>
          <a:xfrm>
            <a:off x="6949440" y="3200400"/>
            <a:ext cx="4663440" cy="2880360"/>
          </a:xfrm>
          <a:prstGeom prst="roundRect">
            <a:avLst>
              <a:gd name="adj" fmla="val 2540"/>
            </a:avLst>
          </a:prstGeom>
          <a:solidFill>
            <a:schemeClr val="bg2"/>
          </a:solidFill>
          <a:ln w="12700">
            <a:solidFill>
              <a:schemeClr val="bg2"/>
            </a:solidFill>
            <a:prstDash val="solid"/>
          </a:ln>
        </p:spPr>
      </p:sp>
      <p:sp>
        <p:nvSpPr>
          <p:cNvPr id="9" name="honesty head"/>
          <p:cNvSpPr txBox="1"/>
          <p:nvPr/>
        </p:nvSpPr>
        <p:spPr>
          <a:xfrm>
            <a:off x="7132320" y="3291840"/>
            <a:ext cx="42976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What this does and does not show</a:t>
            </a:r>
            <a:endParaRPr lang="en-US" sz="1800" dirty="0"/>
          </a:p>
        </p:txBody>
      </p:sp>
      <p:sp>
        <p:nvSpPr>
          <p:cNvPr id="10" name="honesty bullets"/>
          <p:cNvSpPr txBox="1"/>
          <p:nvPr/>
        </p:nvSpPr>
        <p:spPr>
          <a:xfrm>
            <a:off x="7132320" y="3749040"/>
            <a:ext cx="4297680" cy="2286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With additive objectives the front is the sensitivity ordering, so the GA is not needed for this model</a:t>
            </a:r>
            <a:endParaRPr lang="en-US" sz="1400" dirty="0"/>
          </a:p>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Scalarized weights collapse: every weighting returns uniform Q4_0; pick points from the front by accuracy budget</a:t>
            </a:r>
            <a:endParaRPr lang="en-US" sz="1400" dirty="0"/>
          </a:p>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GA's value must come from interactions the table cannot see: next, on measured Arm data</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Arm, KleidiAI's Q8_0 path costs about 8x the accuracy</a:t>
            </a:r>
            <a:endParaRPr lang="en-US" sz="2800" dirty="0"/>
          </a:p>
        </p:txBody>
      </p:sp>
      <p:graphicFrame>
        <p:nvGraphicFramePr>
          <p:cNvPr id="3"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4" name="cause text"/>
          <p:cNvSpPr txBox="1"/>
          <p:nvPr/>
        </p:nvSpPr>
        <p:spPr>
          <a:xfrm>
            <a:off x="6949440" y="1417320"/>
            <a:ext cx="46634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Cause (from the source): KleidiAI re-quantizes each Q8_0 weight row from block-wise scales to one per-row scale. Q4_0 is unaffected.</a:t>
            </a:r>
            <a:endParaRPr lang="en-US" sz="1500" dirty="0"/>
          </a:p>
        </p:txBody>
      </p:sp>
      <p:sp>
        <p:nvSpPr>
          <p:cNvPr id="5" name="t2 bullets"/>
          <p:cNvSpPr txBox="1"/>
          <p:nvPr/>
        </p:nvSpPr>
        <p:spPr>
          <a:xfrm>
            <a:off x="6949440" y="2560320"/>
            <a:ext cx="4663440" cy="219456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Identical 0.0327 on the DOTPROD and I8MM kernels: algorithmic, not an emulator artifact</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Q4_0 gives 0.3069 on ggml I8MM, KleidiAI I8MM and KleidiAI SVE alike</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F16 matches x86 to 1e-6 on every build</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Runtime A/B without rebuilding: --no-repack</a:t>
            </a:r>
            <a:endParaRPr lang="en-US" sz="1400" dirty="0"/>
          </a:p>
        </p:txBody>
      </p:sp>
      <p:sp>
        <p:nvSpPr>
          <p:cNvPr id="6" name="sme card"/>
          <p:cNvSpPr/>
          <p:nvPr/>
        </p:nvSpPr>
        <p:spPr>
          <a:xfrm>
            <a:off x="6949440" y="4846320"/>
            <a:ext cx="4663440" cy="1234440"/>
          </a:xfrm>
          <a:prstGeom prst="roundRect">
            <a:avLst>
              <a:gd name="adj" fmla="val 5926"/>
            </a:avLst>
          </a:prstGeom>
          <a:solidFill>
            <a:schemeClr val="tx2"/>
          </a:solidFill>
          <a:ln w="12700">
            <a:solidFill>
              <a:schemeClr val="tx2"/>
            </a:solidFill>
            <a:prstDash val="solid"/>
          </a:ln>
        </p:spPr>
      </p:sp>
      <p:sp>
        <p:nvSpPr>
          <p:cNvPr id="7" name="sme warn circle"/>
          <p:cNvSpPr/>
          <p:nvPr/>
        </p:nvSpPr>
        <p:spPr>
          <a:xfrm>
            <a:off x="7086600" y="5074920"/>
            <a:ext cx="685800" cy="685800"/>
          </a:xfrm>
          <a:prstGeom prst="ellipse">
            <a:avLst/>
          </a:prstGeom>
          <a:solidFill>
            <a:srgbClr val="D1495B"/>
          </a:solidFill>
          <a:ln w="12700">
            <a:solidFill>
              <a:srgbClr val="D1495B"/>
            </a:solidFill>
            <a:prstDash val="solid"/>
          </a:ln>
        </p:spPr>
      </p:sp>
      <p:pic>
        <p:nvPicPr>
          <p:cNvPr id="8" name="sme warn icon" descr="preencoded.png">    </p:cNvPr>
          <p:cNvPicPr>
            <a:picLocks noChangeAspect="1"/>
          </p:cNvPicPr>
          <p:nvPr/>
        </p:nvPicPr>
        <p:blipFill>
          <a:blip r:embed="rId2"/>
          <a:stretch>
            <a:fillRect/>
          </a:stretch>
        </p:blipFill>
        <p:spPr>
          <a:xfrm>
            <a:off x="7258050" y="5246370"/>
            <a:ext cx="342900" cy="342900"/>
          </a:xfrm>
          <a:prstGeom prst="rect">
            <a:avLst/>
          </a:prstGeom>
        </p:spPr>
      </p:pic>
      <p:sp>
        <p:nvSpPr>
          <p:cNvPr id="9" name="sme text"/>
          <p:cNvSpPr txBox="1"/>
          <p:nvPr/>
        </p:nvSpPr>
        <p:spPr>
          <a:xfrm>
            <a:off x="7909560" y="4892040"/>
            <a:ext cx="3611880" cy="114300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SME kernels give garbage under QEMU 8.2.2 (KLD 23-27). It becomes a selftest gate before any Mac run.</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Kernels: NEON SDOT and SMMLA, bit-exact to a reference</a:t>
            </a:r>
            <a:endParaRPr lang="en-US" sz="2800" dirty="0"/>
          </a:p>
        </p:txBody>
      </p:sp>
      <p:sp>
        <p:nvSpPr>
          <p:cNvPr id="3" name="kernel card"/>
          <p:cNvSpPr/>
          <p:nvPr/>
        </p:nvSpPr>
        <p:spPr>
          <a:xfrm>
            <a:off x="548640" y="1417320"/>
            <a:ext cx="5760720" cy="4663440"/>
          </a:xfrm>
          <a:prstGeom prst="roundRect">
            <a:avLst>
              <a:gd name="adj" fmla="val 1569"/>
            </a:avLst>
          </a:prstGeom>
          <a:solidFill>
            <a:schemeClr val="bg2"/>
          </a:solidFill>
          <a:ln w="12700">
            <a:solidFill>
              <a:schemeClr val="bg2"/>
            </a:solidFill>
            <a:prstDash val="solid"/>
          </a:ln>
        </p:spPr>
      </p:sp>
      <p:sp>
        <p:nvSpPr>
          <p:cNvPr id="4" name="kernel head"/>
          <p:cNvSpPr txBox="1"/>
          <p:nvPr/>
        </p:nvSpPr>
        <p:spPr>
          <a:xfrm>
            <a:off x="777240" y="1554480"/>
            <a:ext cx="5303520" cy="41148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kernels/arm/qdot</a:t>
            </a:r>
            <a:endParaRPr lang="en-US" sz="1800" dirty="0"/>
          </a:p>
        </p:txBody>
      </p:sp>
      <p:sp>
        <p:nvSpPr>
          <p:cNvPr id="5" name="kernel bullets"/>
          <p:cNvSpPr txBox="1"/>
          <p:nvPr/>
        </p:nvSpPr>
        <p:spPr>
          <a:xfrm>
            <a:off x="777240" y="2057400"/>
            <a:ext cx="5303520" cy="393192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Formats the genome selects: Q8_0 x Q8_0 and Q4_0 x Q8_0, in ggml's block layouts</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Scalar reference, portable (runs on x86 too)</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NEON + SDOT GEMV for decode</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NEON + SMMLA 2x2 tile for prefill</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Per-function target attributes and runtime dispatch, so one binary carries every path</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Float accumulation in a fixed block order with contraction off, so results match bit for bit</a:t>
            </a:r>
            <a:endParaRPr lang="en-US" sz="1500" dirty="0"/>
          </a:p>
        </p:txBody>
      </p:sp>
      <p:sp>
        <p:nvSpPr>
          <p:cNvPr id="6" name="stat cases value"/>
          <p:cNvSpPr txBox="1"/>
          <p:nvPr/>
        </p:nvSpPr>
        <p:spPr>
          <a:xfrm>
            <a:off x="6675120" y="1417320"/>
            <a:ext cx="23774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108</a:t>
            </a:r>
            <a:endParaRPr lang="en-US" sz="4000" dirty="0"/>
          </a:p>
        </p:txBody>
      </p:sp>
      <p:sp>
        <p:nvSpPr>
          <p:cNvPr id="7" name="stat cases label"/>
          <p:cNvSpPr txBox="1"/>
          <p:nvPr/>
        </p:nvSpPr>
        <p:spPr>
          <a:xfrm>
            <a:off x="6675120" y="2130552"/>
            <a:ext cx="23774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shape and data cases bit-identical to the reference</a:t>
            </a:r>
            <a:endParaRPr lang="en-US" sz="1400" dirty="0"/>
          </a:p>
        </p:txBody>
      </p:sp>
      <p:sp>
        <p:nvSpPr>
          <p:cNvPr id="8" name="stat cpus value"/>
          <p:cNvSpPr txBox="1"/>
          <p:nvPr/>
        </p:nvSpPr>
        <p:spPr>
          <a:xfrm>
            <a:off x="9235440" y="1417320"/>
            <a:ext cx="23774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3</a:t>
            </a:r>
            <a:endParaRPr lang="en-US" sz="4000" dirty="0"/>
          </a:p>
        </p:txBody>
      </p:sp>
      <p:sp>
        <p:nvSpPr>
          <p:cNvPr id="9" name="stat cpus label"/>
          <p:cNvSpPr txBox="1"/>
          <p:nvPr/>
        </p:nvSpPr>
        <p:spPr>
          <a:xfrm>
            <a:off x="9235440" y="2130552"/>
            <a:ext cx="23774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emulated CPUs: Neoverse-N1, Neoverse-V1, max</a:t>
            </a:r>
            <a:endParaRPr lang="en-US" sz="1400" dirty="0"/>
          </a:p>
        </p:txBody>
      </p:sp>
      <p:sp>
        <p:nvSpPr>
          <p:cNvPr id="10" name="stat mutation value"/>
          <p:cNvSpPr txBox="1"/>
          <p:nvPr/>
        </p:nvSpPr>
        <p:spPr>
          <a:xfrm>
            <a:off x="6675120" y="3063240"/>
            <a:ext cx="237744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1,710</a:t>
            </a:r>
            <a:endParaRPr lang="en-US" sz="4000" dirty="0"/>
          </a:p>
        </p:txBody>
      </p:sp>
      <p:sp>
        <p:nvSpPr>
          <p:cNvPr id="11" name="stat mutation label"/>
          <p:cNvSpPr txBox="1"/>
          <p:nvPr/>
        </p:nvSpPr>
        <p:spPr>
          <a:xfrm>
            <a:off x="6675120" y="3776472"/>
            <a:ext cx="23774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failures caught when the nibble offset is deliberately broken</a:t>
            </a:r>
            <a:endParaRPr lang="en-US" sz="1400" dirty="0"/>
          </a:p>
        </p:txBody>
      </p:sp>
      <p:sp>
        <p:nvSpPr>
          <p:cNvPr id="12" name="stat fp16 value"/>
          <p:cNvSpPr txBox="1"/>
          <p:nvPr/>
        </p:nvSpPr>
        <p:spPr>
          <a:xfrm>
            <a:off x="9235440" y="3063240"/>
            <a:ext cx="237744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65,536</a:t>
            </a:r>
            <a:endParaRPr lang="en-US" sz="4000" dirty="0"/>
          </a:p>
        </p:txBody>
      </p:sp>
      <p:sp>
        <p:nvSpPr>
          <p:cNvPr id="13" name="stat fp16 label"/>
          <p:cNvSpPr txBox="1"/>
          <p:nvPr/>
        </p:nvSpPr>
        <p:spPr>
          <a:xfrm>
            <a:off x="9235440" y="3776472"/>
            <a:ext cx="23774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fp16 values checked against the hardware conversion</a:t>
            </a:r>
            <a:endParaRPr lang="en-US" sz="1400" dirty="0"/>
          </a:p>
        </p:txBody>
      </p:sp>
      <p:sp>
        <p:nvSpPr>
          <p:cNvPr id="14" name="kernel next"/>
          <p:cNvSpPr/>
          <p:nvPr/>
        </p:nvSpPr>
        <p:spPr>
          <a:xfrm>
            <a:off x="6675120" y="4754880"/>
            <a:ext cx="4937760" cy="1325880"/>
          </a:xfrm>
          <a:prstGeom prst="roundRect">
            <a:avLst>
              <a:gd name="adj" fmla="val 5517"/>
            </a:avLst>
          </a:prstGeom>
          <a:solidFill>
            <a:schemeClr val="tx2"/>
          </a:solidFill>
          <a:ln w="12700">
            <a:solidFill>
              <a:schemeClr val="tx2"/>
            </a:solidFill>
            <a:prstDash val="solid"/>
          </a:ln>
        </p:spPr>
      </p:sp>
      <p:sp>
        <p:nvSpPr>
          <p:cNvPr id="15" name="kernel next text"/>
          <p:cNvSpPr txBox="1"/>
          <p:nvPr/>
        </p:nvSpPr>
        <p:spPr>
          <a:xfrm>
            <a:off x="6858000" y="4800600"/>
            <a:ext cx="4572000" cy="123444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Next on hardware: GB/s against STREAM on Graviton and M4 (roofline), SVE variant, SME2 variant, and a Triton/CUDA counterpart on the 3080.</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latin typeface="+mj-lt" pitchFamily="34" charset="0"/>
                <a:ea typeface="+mj-lt" pitchFamily="34" charset="-122"/>
                <a:cs typeface="+mj-lt" pitchFamily="34" charset="-120"/>
              </a:rPr>
              <a:t>Lessons learned, and what comes next</a:t>
            </a:r>
            <a:endParaRPr lang="en-US" sz="2800" dirty="0"/>
          </a:p>
        </p:txBody>
      </p:sp>
      <p:sp>
        <p:nvSpPr>
          <p:cNvPr id="3" name="lesson badge 1"/>
          <p:cNvSpPr/>
          <p:nvPr/>
        </p:nvSpPr>
        <p:spPr>
          <a:xfrm>
            <a:off x="548640" y="1481328"/>
            <a:ext cx="548640" cy="548640"/>
          </a:xfrm>
          <a:prstGeom prst="ellipse">
            <a:avLst/>
          </a:prstGeom>
          <a:solidFill>
            <a:schemeClr val="accent2"/>
          </a:solidFill>
          <a:ln w="12700">
            <a:solidFill>
              <a:schemeClr val="accent2"/>
            </a:solidFill>
            <a:prstDash val="solid"/>
          </a:ln>
        </p:spPr>
      </p:sp>
      <p:sp>
        <p:nvSpPr>
          <p:cNvPr id="4" name="lesson number 1"/>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5" name="lesson head 1"/>
          <p:cNvSpPr txBox="1"/>
          <p:nvPr/>
        </p:nvSpPr>
        <p:spPr>
          <a:xfrm>
            <a:off x="1280160" y="137160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Validate the cost model on the target</a:t>
            </a:r>
            <a:endParaRPr lang="en-US" sz="1700" dirty="0"/>
          </a:p>
        </p:txBody>
      </p:sp>
      <p:sp>
        <p:nvSpPr>
          <p:cNvPr id="6" name="lesson text 1"/>
          <p:cNvSpPr txBox="1"/>
          <p:nvPr/>
        </p:nvSpPr>
        <p:spPr>
          <a:xfrm>
            <a:off x="1280160" y="178308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Bytes did not predict latency, and perplexity did not resolve sensitivity. The metric is part of the result.</a:t>
            </a:r>
            <a:endParaRPr lang="en-US" sz="1300" dirty="0"/>
          </a:p>
        </p:txBody>
      </p:sp>
      <p:sp>
        <p:nvSpPr>
          <p:cNvPr id="7" name="lesson badge 2"/>
          <p:cNvSpPr/>
          <p:nvPr/>
        </p:nvSpPr>
        <p:spPr>
          <a:xfrm>
            <a:off x="548640" y="2670048"/>
            <a:ext cx="548640" cy="548640"/>
          </a:xfrm>
          <a:prstGeom prst="ellipse">
            <a:avLst/>
          </a:prstGeom>
          <a:solidFill>
            <a:schemeClr val="accent2"/>
          </a:solidFill>
          <a:ln w="12700">
            <a:solidFill>
              <a:schemeClr val="accent2"/>
            </a:solidFill>
            <a:prstDash val="solid"/>
          </a:ln>
        </p:spPr>
      </p:sp>
      <p:sp>
        <p:nvSpPr>
          <p:cNvPr id="8" name="lesson number 2"/>
          <p:cNvSpPr txBox="1"/>
          <p:nvPr/>
        </p:nvSpPr>
        <p:spPr>
          <a:xfrm>
            <a:off x="548640" y="267004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9" name="lesson head 2"/>
          <p:cNvSpPr txBox="1"/>
          <p:nvPr/>
        </p:nvSpPr>
        <p:spPr>
          <a:xfrm>
            <a:off x="1280160" y="256032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Report revised and null results</a:t>
            </a:r>
            <a:endParaRPr lang="en-US" sz="1700" dirty="0"/>
          </a:p>
        </p:txBody>
      </p:sp>
      <p:sp>
        <p:nvSpPr>
          <p:cNvPr id="10" name="lesson text 2"/>
          <p:cNvSpPr txBox="1"/>
          <p:nvPr/>
        </p:nvSpPr>
        <p:spPr>
          <a:xfrm>
            <a:off x="1280160" y="297180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The GA ties a greedy rule under additive objectives; an earlier per-block claim shrank from 70% to 33%.</a:t>
            </a:r>
            <a:endParaRPr lang="en-US" sz="1300" dirty="0"/>
          </a:p>
        </p:txBody>
      </p:sp>
      <p:sp>
        <p:nvSpPr>
          <p:cNvPr id="11" name="lesson badge 3"/>
          <p:cNvSpPr/>
          <p:nvPr/>
        </p:nvSpPr>
        <p:spPr>
          <a:xfrm>
            <a:off x="548640" y="3858768"/>
            <a:ext cx="548640" cy="548640"/>
          </a:xfrm>
          <a:prstGeom prst="ellipse">
            <a:avLst/>
          </a:prstGeom>
          <a:solidFill>
            <a:schemeClr val="accent2"/>
          </a:solidFill>
          <a:ln w="12700">
            <a:solidFill>
              <a:schemeClr val="accent2"/>
            </a:solidFill>
            <a:prstDash val="solid"/>
          </a:ln>
        </p:spPr>
      </p:sp>
      <p:sp>
        <p:nvSpPr>
          <p:cNvPr id="12" name="lesson number 3"/>
          <p:cNvSpPr txBox="1"/>
          <p:nvPr/>
        </p:nvSpPr>
        <p:spPr>
          <a:xfrm>
            <a:off x="548640" y="385876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3" name="lesson head 3"/>
          <p:cNvSpPr txBox="1"/>
          <p:nvPr/>
        </p:nvSpPr>
        <p:spPr>
          <a:xfrm>
            <a:off x="1280160" y="374904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Hardware decides accuracy, not just speed</a:t>
            </a:r>
            <a:endParaRPr lang="en-US" sz="1700" dirty="0"/>
          </a:p>
        </p:txBody>
      </p:sp>
      <p:sp>
        <p:nvSpPr>
          <p:cNvPr id="14" name="lesson text 3"/>
          <p:cNvSpPr txBox="1"/>
          <p:nvPr/>
        </p:nvSpPr>
        <p:spPr>
          <a:xfrm>
            <a:off x="1280160" y="416052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KleidiAI's Q8_0 re-quantization and the kernel path change the numbers; measure on the target.</a:t>
            </a:r>
            <a:endParaRPr lang="en-US" sz="1300" dirty="0"/>
          </a:p>
        </p:txBody>
      </p:sp>
      <p:sp>
        <p:nvSpPr>
          <p:cNvPr id="15" name="lesson badge 4"/>
          <p:cNvSpPr/>
          <p:nvPr/>
        </p:nvSpPr>
        <p:spPr>
          <a:xfrm>
            <a:off x="548640" y="5047488"/>
            <a:ext cx="548640" cy="548640"/>
          </a:xfrm>
          <a:prstGeom prst="ellipse">
            <a:avLst/>
          </a:prstGeom>
          <a:solidFill>
            <a:schemeClr val="accent2"/>
          </a:solidFill>
          <a:ln w="12700">
            <a:solidFill>
              <a:schemeClr val="accent2"/>
            </a:solidFill>
            <a:prstDash val="solid"/>
          </a:ln>
        </p:spPr>
      </p:sp>
      <p:sp>
        <p:nvSpPr>
          <p:cNvPr id="16" name="lesson number 4"/>
          <p:cNvSpPr txBox="1"/>
          <p:nvPr/>
        </p:nvSpPr>
        <p:spPr>
          <a:xfrm>
            <a:off x="548640" y="504748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17" name="lesson head 4"/>
          <p:cNvSpPr txBox="1"/>
          <p:nvPr/>
        </p:nvSpPr>
        <p:spPr>
          <a:xfrm>
            <a:off x="1280160" y="493776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Build cheap tiers and gates</a:t>
            </a:r>
            <a:endParaRPr lang="en-US" sz="1700" dirty="0"/>
          </a:p>
        </p:txBody>
      </p:sp>
      <p:sp>
        <p:nvSpPr>
          <p:cNvPr id="18" name="lesson text 4"/>
          <p:cNvSpPr txBox="1"/>
          <p:nvPr/>
        </p:nvSpPr>
        <p:spPr>
          <a:xfrm>
            <a:off x="1280160" y="534924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Emulation and a Graviton dry run keep the 24-hour Mac block for questions only it can answer.</a:t>
            </a:r>
            <a:endParaRPr lang="en-US" sz="1300" dirty="0"/>
          </a:p>
        </p:txBody>
      </p:sp>
      <p:sp>
        <p:nvSpPr>
          <p:cNvPr id="19" name="next card"/>
          <p:cNvSpPr/>
          <p:nvPr/>
        </p:nvSpPr>
        <p:spPr>
          <a:xfrm>
            <a:off x="6492240" y="1371600"/>
            <a:ext cx="5120640" cy="4709160"/>
          </a:xfrm>
          <a:prstGeom prst="roundRect">
            <a:avLst>
              <a:gd name="adj" fmla="val 1553"/>
            </a:avLst>
          </a:prstGeom>
          <a:solidFill>
            <a:schemeClr val="tx1"/>
          </a:solidFill>
          <a:ln w="12700">
            <a:solidFill>
              <a:schemeClr val="tx1"/>
            </a:solidFill>
            <a:prstDash val="solid"/>
          </a:ln>
        </p:spPr>
      </p:sp>
      <p:sp>
        <p:nvSpPr>
          <p:cNvPr id="20" name="next head"/>
          <p:cNvSpPr txBox="1"/>
          <p:nvPr/>
        </p:nvSpPr>
        <p:spPr>
          <a:xfrm>
            <a:off x="6720840" y="1508760"/>
            <a:ext cx="466344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Next steps</a:t>
            </a:r>
            <a:endParaRPr lang="en-US" sz="2200" dirty="0"/>
          </a:p>
        </p:txBody>
      </p:sp>
      <p:sp>
        <p:nvSpPr>
          <p:cNvPr id="21" name="next bullets"/>
          <p:cNvSpPr txBox="1"/>
          <p:nvPr/>
        </p:nvSpPr>
        <p:spPr>
          <a:xfrm>
            <a:off x="6720840" y="2057400"/>
            <a:ext cx="4663440" cy="393192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chemeClr val="bg1"/>
                </a:solidFill>
                <a:latin typeface="Calibri" pitchFamily="34" charset="0"/>
                <a:ea typeface="Calibri" pitchFamily="34" charset="-122"/>
                <a:cs typeface="Calibri" pitchFamily="34" charset="-120"/>
              </a:rPr>
              <a:t>T3, Graviton (c7g): KleidiAI on/off accuracy and speed on Phi-3, qdot GB/s, perf counters</a:t>
            </a:r>
            <a:endParaRPr lang="en-US" sz="1400" dirty="0"/>
          </a:p>
          <a:p>
            <a:pPr marL="203200" indent="-203200">
              <a:spcAft>
                <a:spcPts val="1000"/>
              </a:spcAft>
              <a:buSzPct val="100000"/>
              <a:buChar char="•"/>
            </a:pPr>
            <a:r>
              <a:rPr lang="en-US" sz="1400" dirty="0">
                <a:solidFill>
                  <a:schemeClr val="bg1"/>
                </a:solidFill>
                <a:latin typeface="Calibri" pitchFamily="34" charset="0"/>
                <a:ea typeface="Calibri" pitchFamily="34" charset="-122"/>
                <a:cs typeface="Calibri" pitchFamily="34" charset="-120"/>
              </a:rPr>
              <a:t>T4, Apple M4: selftest gates (SME path vs --no-repack), thread-count scan, Pareto runs on two models</a:t>
            </a:r>
            <a:endParaRPr lang="en-US" sz="1400" dirty="0"/>
          </a:p>
          <a:p>
            <a:pPr marL="203200" indent="-203200">
              <a:spcAft>
                <a:spcPts val="1000"/>
              </a:spcAft>
              <a:buSzPct val="100000"/>
              <a:buChar char="•"/>
            </a:pPr>
            <a:r>
              <a:rPr lang="en-US" sz="1400" dirty="0">
                <a:solidFill>
                  <a:schemeClr val="bg1"/>
                </a:solidFill>
                <a:latin typeface="Calibri" pitchFamily="34" charset="0"/>
                <a:ea typeface="Calibri" pitchFamily="34" charset="-122"/>
                <a:cs typeface="Calibri" pitchFamily="34" charset="-120"/>
              </a:rPr>
              <a:t>Replace simulated speed and energy with measurements; compare the GA with the sensitivity-greedy baseline</a:t>
            </a:r>
            <a:endParaRPr lang="en-US" sz="1400" dirty="0"/>
          </a:p>
          <a:p>
            <a:pPr marL="203200" indent="-203200">
              <a:spcAft>
                <a:spcPts val="1000"/>
              </a:spcAft>
              <a:buSzPct val="100000"/>
              <a:buChar char="•"/>
            </a:pPr>
            <a:r>
              <a:rPr lang="en-US" sz="1400" dirty="0">
                <a:solidFill>
                  <a:schemeClr val="bg1"/>
                </a:solidFill>
                <a:latin typeface="Calibri" pitchFamily="34" charset="0"/>
                <a:ea typeface="Calibri" pitchFamily="34" charset="-122"/>
                <a:cs typeface="Calibri" pitchFamily="34" charset="-120"/>
              </a:rPr>
              <a:t>Third model once licence access is granted; SME2 and Triton/CUDA kernel variants</a:t>
            </a:r>
            <a:endParaRPr lang="en-US" sz="1400" dirty="0"/>
          </a:p>
          <a:p>
            <a:pPr marL="203200" indent="-203200">
              <a:spcAft>
                <a:spcPts val="1000"/>
              </a:spcAft>
              <a:buSzPct val="100000"/>
              <a:buChar char="•"/>
            </a:pPr>
            <a:r>
              <a:rPr lang="en-US" sz="1400" dirty="0">
                <a:solidFill>
                  <a:schemeClr val="bg1"/>
                </a:solidFill>
                <a:latin typeface="Calibri" pitchFamily="34" charset="0"/>
                <a:ea typeface="Calibri" pitchFamily="34" charset="-122"/>
                <a:cs typeface="Calibri" pitchFamily="34" charset="-120"/>
              </a:rPr>
              <a:t>Honest limits today: speed and energy in the searches are simulated; SME2 is untested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ArmPerf">
  <a:themeElements>
    <a:clrScheme name="ArmPerf">
      <a:dk1>
        <a:srgbClr val="10212B"/>
      </a:dk1>
      <a:lt1>
        <a:srgbClr val="FFFFFF"/>
      </a:lt1>
      <a:dk2>
        <a:srgbClr val="0B3C4F"/>
      </a:dk2>
      <a:lt2>
        <a:srgbClr val="EDF2F5"/>
      </a:lt2>
      <a:accent1>
        <a:srgbClr val="0A7EA4"/>
      </a:accent1>
      <a:accent2>
        <a:srgbClr val="F2A541"/>
      </a:accent2>
      <a:accent3>
        <a:srgbClr val="2E9E8A"/>
      </a:accent3>
      <a:accent4>
        <a:srgbClr val="D1495B"/>
      </a:accent4>
      <a:accent5>
        <a:srgbClr val="6C7A89"/>
      </a:accent5>
      <a:accent6>
        <a:srgbClr val="7B6FB5"/>
      </a:accent6>
      <a:hlink>
        <a:srgbClr val="0A7EA4"/>
      </a:hlink>
      <a:folHlink>
        <a:srgbClr val="6C7A89"/>
      </a:folHlink>
    </a:clrScheme>
    <a:fontScheme name="ArmPer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Evol_inference on Arm (mac-m4)</dc:title>
  <dc:subject>PptxGenJS Presentation</dc:subject>
  <dc:creator>Nikolaus Almassy</dc:creator>
  <cp:lastModifiedBy>Nikolaus Almassy</cp:lastModifiedBy>
  <cp:revision>1</cp:revision>
  <dcterms:created xsi:type="dcterms:W3CDTF">2026-10-02T05:18:34Z</dcterms:created>
  <dcterms:modified xsi:type="dcterms:W3CDTF">2026-10-02T05:18:34Z</dcterms:modified>
</cp:coreProperties>
</file>